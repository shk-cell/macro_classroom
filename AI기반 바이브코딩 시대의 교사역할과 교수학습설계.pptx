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257" r:id="rId4"/>
    <p:sldId id="276" r:id="rId5"/>
    <p:sldId id="259" r:id="rId6"/>
    <p:sldId id="27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8" r:id="rId16"/>
    <p:sldId id="268" r:id="rId17"/>
    <p:sldId id="280" r:id="rId18"/>
    <p:sldId id="281" r:id="rId19"/>
    <p:sldId id="282" r:id="rId20"/>
    <p:sldId id="283" r:id="rId21"/>
    <p:sldId id="284" r:id="rId22"/>
    <p:sldId id="269" r:id="rId23"/>
    <p:sldId id="285" r:id="rId24"/>
    <p:sldId id="270" r:id="rId25"/>
    <p:sldId id="271" r:id="rId26"/>
    <p:sldId id="272" r:id="rId27"/>
    <p:sldId id="273" r:id="rId28"/>
    <p:sldId id="274" r:id="rId29"/>
    <p:sldId id="286" r:id="rId30"/>
    <p:sldId id="287" r:id="rId31"/>
    <p:sldId id="279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B5C"/>
    <a:srgbClr val="698F73"/>
    <a:srgbClr val="49423D"/>
    <a:srgbClr val="6E9679"/>
    <a:srgbClr val="5A7B63"/>
    <a:srgbClr val="F33858"/>
    <a:srgbClr val="14A432"/>
    <a:srgbClr val="070D08"/>
    <a:srgbClr val="107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9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98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350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235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941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241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564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899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337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651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3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3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9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0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7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2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acro-classroom.shk-8b6.workers.dev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6609805" y="1166948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AI를 활용한 바이브코딩 시대,</a:t>
            </a:r>
            <a:endParaRPr lang="en-US" sz="4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교사의 역할과 교수학습설계</a:t>
            </a:r>
            <a:endParaRPr lang="en-US" sz="4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</a:t>
            </a:r>
            <a:r>
              <a:rPr lang="ko-KR" altLang="en-US" sz="15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들은 선생님이 만든 수업 플랫폼을 </a:t>
            </a:r>
            <a:r>
              <a:rPr lang="en-US" altLang="ko-KR" sz="15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15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로 공략하고 </a:t>
            </a:r>
            <a:endParaRPr lang="en-US" altLang="ko-KR" sz="1500" dirty="0">
              <a:solidFill>
                <a:srgbClr val="6E9679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선생님은 그런 학생들을 방어하는 사이버 공방전 수업 사례</a:t>
            </a:r>
            <a:endParaRPr lang="en-US" sz="15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4167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수업</a:t>
            </a:r>
            <a:r>
              <a:rPr lang="en-US"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설계</a:t>
            </a:r>
            <a:endParaRPr lang="en-US" sz="3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17C93B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수업 설계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/>
                <a:cs typeface="Cambria" pitchFamily="34" charset="-120"/>
              </a:rPr>
              <a:t>초기에 기획했던 수업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466262"/>
            <a:ext cx="82296" cy="82296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5" name="Text 3"/>
          <p:cNvSpPr/>
          <p:nvPr/>
        </p:nvSpPr>
        <p:spPr>
          <a:xfrm>
            <a:off x="932687" y="2383966"/>
            <a:ext cx="7984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바이브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코딩을 이용해서 학생들이 자동화 프로그램 만들도록 하는 것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124630"/>
            <a:ext cx="82296" cy="82296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04233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파이썬의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pyautogui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selenium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실습정도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782998"/>
            <a:ext cx="82296" cy="82296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" name="Text 7"/>
          <p:cNvSpPr/>
          <p:nvPr/>
        </p:nvSpPr>
        <p:spPr>
          <a:xfrm>
            <a:off x="932687" y="3700702"/>
            <a:ext cx="7828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에게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“ ~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이런 수업을 할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꺼니까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적당한 사이트 만들어줘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131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수업 설계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Booking 1000 Seats Competition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20624" cy="42062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2157801"/>
            <a:ext cx="311262" cy="311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214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빈 좌석을 클릭하면 이름 입력창이 뜬다</a:t>
            </a:r>
            <a:endParaRPr lang="en-US" sz="14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2724912"/>
            <a:ext cx="420624" cy="42062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2779593"/>
            <a:ext cx="311262" cy="3112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743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이름을 입력하면 그 </a:t>
            </a:r>
            <a:r>
              <a:rPr lang="en-US" sz="145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자리가</a:t>
            </a: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예매된다</a:t>
            </a:r>
            <a:endParaRPr lang="en-US" sz="14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346704"/>
            <a:ext cx="420624" cy="42062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3401385"/>
            <a:ext cx="311262" cy="3112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3649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누가 가장 많이 예매했는지 리더보드로 실시간 경쟁</a:t>
            </a:r>
            <a:endParaRPr lang="en-US" sz="14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420624" cy="42062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4023177"/>
            <a:ext cx="311262" cy="3112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986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야 만들어줘</a:t>
            </a:r>
            <a:r>
              <a:rPr lang="en-US" altLang="ko-KR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바이브코딩</a:t>
            </a:r>
            <a:r>
              <a:rPr 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145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딸깍으로</a:t>
            </a:r>
            <a:r>
              <a:rPr lang="ko-KR" altLang="en-US" sz="145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제작</a:t>
            </a:r>
            <a:endParaRPr lang="en-US" sz="14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355080" y="1463040"/>
            <a:ext cx="5586984" cy="3694176"/>
          </a:xfrm>
          <a:prstGeom prst="roundRect">
            <a:avLst>
              <a:gd name="adj" fmla="val 1980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BOOKING 1000 SEATS</a:t>
            </a:r>
            <a:endParaRPr lang="en-US" sz="1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67512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05916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4321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827264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211312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59536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97940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6345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747504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>
            <a:solidFill>
              <a:srgbClr val="48DBF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131552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51560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89964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>
            <a:solidFill>
              <a:srgbClr val="54A0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28369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67512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05916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44321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827264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>
            <a:solidFill>
              <a:srgbClr val="A55EE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211312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59536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97940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>
            <a:solidFill>
              <a:srgbClr val="FD79A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36345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747504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0131552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51560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>
            <a:solidFill>
              <a:srgbClr val="26DE81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89964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128369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67512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>
            <a:solidFill>
              <a:srgbClr val="F9CA24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05916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>
            <a:solidFill>
              <a:srgbClr val="FF4757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44321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827264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211312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59536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897940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>
            <a:solidFill>
              <a:srgbClr val="48DBFB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936345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9747504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0131552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051560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>
            <a:solidFill>
              <a:srgbClr val="54A0FF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089964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>
            <a:solidFill>
              <a:srgbClr val="A55EEA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128369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>
            <a:solidFill>
              <a:srgbClr val="FD79A8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667512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05916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>
            <a:solidFill>
              <a:srgbClr val="26DE81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44321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7827264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211312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>
            <a:solidFill>
              <a:srgbClr val="F9CA24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859536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897940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936345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9747504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>
            <a:solidFill>
              <a:srgbClr val="FF4757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0131552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051560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089964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>
            <a:solidFill>
              <a:srgbClr val="48DBFB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128369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>
            <a:solidFill>
              <a:srgbClr val="54A0FF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667512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705916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>
            <a:solidFill>
              <a:srgbClr val="A55EEA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744321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7827264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>
            <a:solidFill>
              <a:srgbClr val="FD79A8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8211312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59536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897940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936345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9747504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10131552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1051560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1089964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>
            <a:solidFill>
              <a:srgbClr val="26DE81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1128369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667512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>
            <a:solidFill>
              <a:srgbClr val="F9CA24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705916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744321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>
            <a:solidFill>
              <a:srgbClr val="FF4757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7827264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8211312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>
            <a:solidFill>
              <a:srgbClr val="48DBFB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859536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>
            <a:solidFill>
              <a:srgbClr val="54A0FF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897940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936345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9747504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>
            <a:solidFill>
              <a:srgbClr val="A55EEA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10131552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1051560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1089964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1128369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667512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705916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744321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7827264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8211312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859536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897940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936345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>
            <a:solidFill>
              <a:srgbClr val="FD79A8"/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9747504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10131552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1051560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1089964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>
            <a:solidFill>
              <a:srgbClr val="26DE81"/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1128369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>
            <a:solidFill>
              <a:srgbClr val="00CC33"/>
            </a:solidFill>
            <a:prstDash val="solid"/>
          </a:ln>
        </p:spPr>
      </p:sp>
      <p:sp>
        <p:nvSpPr>
          <p:cNvPr id="111" name="Shape 8">
            <a:extLst>
              <a:ext uri="{FF2B5EF4-FFF2-40B4-BE49-F238E27FC236}">
                <a16:creationId xmlns:a16="http://schemas.microsoft.com/office/drawing/2014/main" id="{6F51864B-0EF5-AF69-21BD-6BCEDF69B9E9}"/>
              </a:ext>
            </a:extLst>
          </p:cNvPr>
          <p:cNvSpPr/>
          <p:nvPr/>
        </p:nvSpPr>
        <p:spPr>
          <a:xfrm>
            <a:off x="640080" y="4591594"/>
            <a:ext cx="420624" cy="42062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12" name="Image 3" descr="preencoded.png">
            <a:extLst>
              <a:ext uri="{FF2B5EF4-FFF2-40B4-BE49-F238E27FC236}">
                <a16:creationId xmlns:a16="http://schemas.microsoft.com/office/drawing/2014/main" id="{2AFB3833-BAB4-5C35-2790-D7CB52BC2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4646275"/>
            <a:ext cx="311262" cy="311262"/>
          </a:xfrm>
          <a:prstGeom prst="rect">
            <a:avLst/>
          </a:prstGeom>
        </p:spPr>
      </p:pic>
      <p:sp>
        <p:nvSpPr>
          <p:cNvPr id="113" name="Text 9">
            <a:extLst>
              <a:ext uri="{FF2B5EF4-FFF2-40B4-BE49-F238E27FC236}">
                <a16:creationId xmlns:a16="http://schemas.microsoft.com/office/drawing/2014/main" id="{43363734-78EE-3D32-4327-8665D38FC824}"/>
              </a:ext>
            </a:extLst>
          </p:cNvPr>
          <p:cNvSpPr/>
          <p:nvPr/>
        </p:nvSpPr>
        <p:spPr>
          <a:xfrm>
            <a:off x="1234440" y="460988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  <a:hlinkClick r:id="rId4"/>
              </a:rPr>
              <a:t>https://macro-classroom.shk-8b6.workers.dev/</a:t>
            </a:r>
            <a:endParaRPr lang="en-US" sz="1450" b="1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17C93B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수업 설계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Booking 1000 Seats Competition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수업 진행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79" y="2174747"/>
            <a:ext cx="9592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미리 준비해 놓은 파이썬 자동화 프로그램을 학생들에게 공개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50DBE56-CA05-C7D8-A7E7-82F9E4ED3AA8}"/>
              </a:ext>
            </a:extLst>
          </p:cNvPr>
          <p:cNvSpPr/>
          <p:nvPr/>
        </p:nvSpPr>
        <p:spPr>
          <a:xfrm>
            <a:off x="640080" y="2739190"/>
            <a:ext cx="10362895" cy="951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자 이제 너희들이 이걸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에게 학습시켜서 알아서 빠른 자동화 프로그램을 만들어보거라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~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4AEF1B3-2E5E-7C4F-A815-4A6C79F08C82}"/>
              </a:ext>
            </a:extLst>
          </p:cNvPr>
          <p:cNvSpPr/>
          <p:nvPr/>
        </p:nvSpPr>
        <p:spPr>
          <a:xfrm>
            <a:off x="640079" y="3792706"/>
            <a:ext cx="903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이따가 누가 더 예매 빠르게 많이 하는지 시합해보자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~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A51EA6C-61DA-9B91-291F-4E3C55892B44}"/>
              </a:ext>
            </a:extLst>
          </p:cNvPr>
          <p:cNvSpPr/>
          <p:nvPr/>
        </p:nvSpPr>
        <p:spPr>
          <a:xfrm>
            <a:off x="640080" y="3905612"/>
            <a:ext cx="903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3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초반 풍경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초반에는 의도대로 흘러감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26037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383280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너무 짧은 대기시간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2688" y="3931920"/>
            <a:ext cx="28081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이름을 입력할 시간도 없이 예매 실패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99178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9218" y="2514600"/>
            <a:ext cx="685800" cy="68580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72" y="260375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1786" y="3383280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엉뚱한 곳 클릭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91786" y="3931920"/>
            <a:ext cx="28081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빈 좌석이 아닌 곳을 눌러 계속 실패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58277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1"/>
          <p:cNvSpPr/>
          <p:nvPr/>
        </p:nvSpPr>
        <p:spPr>
          <a:xfrm>
            <a:off x="8478317" y="2514600"/>
            <a:ext cx="685800" cy="68580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471" y="26037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0885" y="3383280"/>
            <a:ext cx="2808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브라우저</a:t>
            </a: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100개 동시 실행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0885" y="3931920"/>
            <a:ext cx="28081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여는 건 자동, 닫는 건 하루 종일 수동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26C40296-BFD5-266D-CB24-56904D48DE57}"/>
              </a:ext>
            </a:extLst>
          </p:cNvPr>
          <p:cNvSpPr/>
          <p:nvPr/>
        </p:nvSpPr>
        <p:spPr>
          <a:xfrm>
            <a:off x="640080" y="134416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초반에는 학생들이 할만한 실수들이 많이 나왔음</a:t>
            </a:r>
            <a:endParaRPr lang="en-US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공방전</a:t>
            </a: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시작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슬슬</a:t>
            </a: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다른 방법을 찾는</a:t>
            </a: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학생들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23160"/>
            <a:ext cx="658368" cy="658368"/>
          </a:xfrm>
          <a:prstGeom prst="ellipse">
            <a:avLst/>
          </a:prstGeom>
          <a:solidFill>
            <a:srgbClr val="3A0F17"/>
          </a:solidFill>
          <a:ln w="12700">
            <a:solidFill>
              <a:srgbClr val="3A0F1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28" y="2508748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87168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어느 순간부터 </a:t>
            </a:r>
            <a:r>
              <a:rPr lang="en-US" sz="16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STOP을</a:t>
            </a:r>
            <a:r>
              <a:rPr lang="en-US" sz="16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눌</a:t>
            </a:r>
            <a:r>
              <a:rPr lang="ko-KR" altLang="en-US" sz="16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렀는데</a:t>
            </a:r>
            <a:r>
              <a:rPr lang="ko-KR" altLang="en-US" sz="16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예매가 시작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449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분명 예매를 잠가놨는데, 그걸 뚫고 예매를 계속하는 학생 등장</a:t>
            </a:r>
            <a:endParaRPr lang="en-US" sz="12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24448" y="20574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0208" y="2423160"/>
            <a:ext cx="658368" cy="658368"/>
          </a:xfrm>
          <a:prstGeom prst="ellipse">
            <a:avLst/>
          </a:prstGeom>
          <a:solidFill>
            <a:srgbClr val="3A0F17"/>
          </a:solidFill>
          <a:ln w="12700">
            <a:solidFill>
              <a:srgbClr val="3A0F1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95" y="2508748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2573073"/>
            <a:ext cx="376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남의 좌석을 덮어쓴다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690208" y="3200400"/>
            <a:ext cx="449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이미 다른 학생이 예매한 자리를 자신의 이름으로 덮어써 버림</a:t>
            </a:r>
            <a:endParaRPr lang="en-US" sz="12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232" y="5146147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05839" y="5331674"/>
            <a:ext cx="8555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i="1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정보쌤</a:t>
            </a:r>
            <a:r>
              <a:rPr lang="ko-KR" altLang="en-US" sz="240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altLang="ko-KR" sz="240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: </a:t>
            </a:r>
            <a:r>
              <a:rPr lang="en-US" sz="240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“ 야 이거 뭐냐, 이거 어떻게 했냐? ”</a:t>
            </a:r>
            <a:endParaRPr lang="en-US" sz="2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05840" y="585456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 </a:t>
            </a:r>
            <a:r>
              <a:rPr lang="en-US" altLang="ko-KR" sz="24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: </a:t>
            </a:r>
            <a:r>
              <a:rPr lang="en-US" sz="24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“ </a:t>
            </a:r>
            <a:r>
              <a:rPr lang="en-US" sz="2400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선생님</a:t>
            </a:r>
            <a:r>
              <a:rPr lang="en-US" sz="24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사이트 </a:t>
            </a:r>
            <a:r>
              <a:rPr lang="en-US" sz="2400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해킹했다</a:t>
            </a:r>
            <a:r>
              <a:rPr lang="en-US" sz="24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~ ”</a:t>
            </a:r>
            <a:endParaRPr lang="en-US" sz="2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84D0925B-5B03-1690-AFE3-E0100E352891}"/>
              </a:ext>
            </a:extLst>
          </p:cNvPr>
          <p:cNvSpPr/>
          <p:nvPr/>
        </p:nvSpPr>
        <p:spPr>
          <a:xfrm>
            <a:off x="670407" y="4459866"/>
            <a:ext cx="10881360" cy="620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-&gt;</a:t>
            </a:r>
            <a:r>
              <a:rPr lang="ko-KR" altLang="en-US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학생들이 </a:t>
            </a:r>
            <a:r>
              <a:rPr lang="en-US" altLang="ko-KR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AI</a:t>
            </a:r>
            <a:r>
              <a:rPr lang="ko-KR" altLang="en-US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로  사이트의 취약점을 분석하기 시작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5" grpId="0" animBg="1"/>
      <p:bldP spid="16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4167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공방전</a:t>
            </a:r>
            <a:r>
              <a:rPr lang="en-US"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ko-KR" altLang="en-US"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시작</a:t>
            </a:r>
            <a:endParaRPr lang="en-US" sz="3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1라운드 · 원인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원인 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: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사이트 제작을 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AI </a:t>
            </a:r>
            <a:r>
              <a:rPr lang="ko-KR" altLang="en-US" sz="30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딸깍으로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만들고 검토 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X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97480"/>
            <a:ext cx="640080" cy="64008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10" y="27806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F12 개발자 도구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네트워크 탭에 요청이 그대로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26664" y="3429000"/>
            <a:ext cx="418490" cy="9144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00018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5838" y="2697480"/>
            <a:ext cx="640080" cy="64008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049" y="278069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7178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API 키·DB URL 노출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37178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Firebase 설정이 코드에 그대로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886602" y="3429000"/>
            <a:ext cx="418490" cy="9144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359957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5777" y="2697480"/>
            <a:ext cx="640080" cy="64008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987" y="278069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7117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Rules 전면 개방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497117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누구나 읽고 쓸 수 있는 상태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746541" y="3429000"/>
            <a:ext cx="418490" cy="9144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219895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3A0F17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65715" y="2697480"/>
            <a:ext cx="640080" cy="640080"/>
          </a:xfrm>
          <a:prstGeom prst="ellipse">
            <a:avLst/>
          </a:prstGeom>
          <a:solidFill>
            <a:srgbClr val="3A0F17"/>
          </a:solidFill>
          <a:ln w="12700">
            <a:solidFill>
              <a:srgbClr val="3A0F1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8926" y="278069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57055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DB 직접 접근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9357055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학생이 Firebase에 곧장 기록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40080" y="5120640"/>
            <a:ext cx="1100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키값과</a:t>
            </a: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</a:t>
            </a:r>
            <a:r>
              <a:rPr lang="en-US" altLang="ko-KR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rules</a:t>
            </a: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가 </a:t>
            </a:r>
            <a:r>
              <a:rPr lang="ko-KR" altLang="en-US" sz="2000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열려있다는</a:t>
            </a: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걸 알았지만</a:t>
            </a:r>
            <a:r>
              <a:rPr lang="en-US" altLang="ko-KR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학생들이 중학생이라서 이걸 이용할  수 있을 거라고 생각하지 못함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B2ABD2EB-45E1-4999-8040-041ED61881A5}"/>
              </a:ext>
            </a:extLst>
          </p:cNvPr>
          <p:cNvSpPr/>
          <p:nvPr/>
        </p:nvSpPr>
        <p:spPr>
          <a:xfrm>
            <a:off x="640080" y="133502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Firebase API Key, </a:t>
            </a:r>
            <a:r>
              <a:rPr lang="ko-KR" altLang="en-US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데이터베이스 </a:t>
            </a:r>
            <a:r>
              <a:rPr lang="en-US" altLang="ko-KR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URL </a:t>
            </a:r>
            <a:r>
              <a:rPr lang="ko-KR" altLang="en-US" sz="2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이 그대로 노출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CCEEF16C-53A1-3182-17A9-39D157E85939}"/>
              </a:ext>
            </a:extLst>
          </p:cNvPr>
          <p:cNvSpPr/>
          <p:nvPr/>
        </p:nvSpPr>
        <p:spPr>
          <a:xfrm>
            <a:off x="640080" y="5641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상대는 나와 마찬가지로 </a:t>
            </a:r>
            <a:r>
              <a:rPr lang="en-US" altLang="ko-KR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2000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를 돌리고 있는데  학생들을 너무 과소평가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1라운드 · 방어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1차 </a:t>
            </a:r>
            <a:r>
              <a:rPr lang="en-US" sz="30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방어</a:t>
            </a: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- 문을 두 개 달다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713232" cy="713232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60" y="2515880"/>
            <a:ext cx="527792" cy="527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68880"/>
            <a:ext cx="367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Firebase Rules 강화</a:t>
            </a:r>
            <a:endParaRPr lang="en-US" sz="16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0120" y="3429000"/>
            <a:ext cx="4587088" cy="1737360"/>
          </a:xfrm>
          <a:prstGeom prst="roundRect">
            <a:avLst>
              <a:gd name="adj" fmla="val 4211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43000" y="3538728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AI 프롬프트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63139" y="4433398"/>
            <a:ext cx="4221328" cy="46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Rules 수정해서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인증된</a:t>
            </a: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계정만</a:t>
            </a:r>
            <a:r>
              <a:rPr lang="en-US" sz="1400" dirty="0">
                <a:latin typeface="maplestory" panose="02000300000000000000" pitchFamily="2" charset="-127"/>
                <a:ea typeface="maplestory" panose="02000300000000000000" pitchFamily="2" charset="-127"/>
              </a:rPr>
              <a:t>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쓰기</a:t>
            </a: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허용하세요.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24448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90208" y="2423160"/>
            <a:ext cx="713232" cy="713232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928" y="2515880"/>
            <a:ext cx="527792" cy="5277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58888" y="2468880"/>
            <a:ext cx="367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Cloudflare Worker 중계서버</a:t>
            </a:r>
            <a:endParaRPr lang="en-US" sz="16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644488" y="3429000"/>
            <a:ext cx="4587088" cy="1737360"/>
          </a:xfrm>
          <a:prstGeom prst="roundRect">
            <a:avLst>
              <a:gd name="adj" fmla="val 4211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27368" y="3538728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AI 프롬프트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827368" y="4434200"/>
            <a:ext cx="4221328" cy="622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START 여부·중복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예매</a:t>
            </a: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여부를</a:t>
            </a:r>
            <a:r>
              <a:rPr lang="en-US" sz="1400" dirty="0">
                <a:latin typeface="maplestory" panose="02000300000000000000" pitchFamily="2" charset="-127"/>
                <a:ea typeface="maplestory" panose="02000300000000000000" pitchFamily="2" charset="-127"/>
              </a:rPr>
              <a:t> </a:t>
            </a:r>
            <a:r>
              <a:rPr lang="en-US" sz="14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점검한</a:t>
            </a:r>
            <a:r>
              <a:rPr lang="en-US" sz="14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뒤 DB에 요청하세요.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6FA455-98AD-5F20-0A15-FC869B1CAD90}"/>
              </a:ext>
            </a:extLst>
          </p:cNvPr>
          <p:cNvSpPr/>
          <p:nvPr/>
        </p:nvSpPr>
        <p:spPr>
          <a:xfrm>
            <a:off x="1163139" y="3953739"/>
            <a:ext cx="4176888" cy="338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야</a:t>
            </a:r>
            <a:r>
              <a:rPr lang="en-US" altLang="ko-KR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</a:t>
            </a:r>
            <a:r>
              <a:rPr lang="ko-KR" alt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altLang="ko-KR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STOP </a:t>
            </a:r>
            <a:r>
              <a:rPr lang="ko-KR" alt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눌렀는데도 마음대로 바꾸는 학생들을 방어해줘</a:t>
            </a:r>
            <a:r>
              <a:rPr lang="en-US" altLang="ko-KR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.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379A9225-2ED3-EE18-1B22-EB3065DB9013}"/>
              </a:ext>
            </a:extLst>
          </p:cNvPr>
          <p:cNvSpPr/>
          <p:nvPr/>
        </p:nvSpPr>
        <p:spPr>
          <a:xfrm>
            <a:off x="6827368" y="3837592"/>
            <a:ext cx="440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야</a:t>
            </a:r>
            <a:r>
              <a:rPr lang="en-US" altLang="ko-KR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ko-KR" altLang="en-US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다른 학생이 예매한 자리를 마음대로 덮어쓰는 학생을 방어해줘</a:t>
            </a:r>
            <a:r>
              <a:rPr lang="en-US" altLang="ko-KR" sz="12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.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87311"/>
            <a:ext cx="1005840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lang="ko-KR" alt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애들아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lang="en-US" sz="3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다시</a:t>
            </a:r>
            <a:r>
              <a:rPr 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해</a:t>
            </a:r>
            <a:r>
              <a:rPr lang="ko-KR" altLang="en-US" sz="3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보렴</a:t>
            </a:r>
            <a:r>
              <a:rPr 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</a:t>
            </a:r>
            <a:r>
              <a:rPr lang="en-US" sz="3000" dirty="0">
                <a:latin typeface="maplestory" panose="02000300000000000000" pitchFamily="2" charset="-127"/>
                <a:ea typeface="maplestory" panose="02000300000000000000" pitchFamily="2" charset="-127"/>
              </a:rPr>
              <a:t> </a:t>
            </a:r>
            <a:r>
              <a:rPr lang="en-US" sz="3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내가</a:t>
            </a:r>
            <a:r>
              <a:rPr 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다 막아놨다. ”(</a:t>
            </a:r>
            <a:r>
              <a:rPr lang="ko-KR" alt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의기양양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)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7065" y="2566392"/>
            <a:ext cx="9716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또 </a:t>
            </a:r>
            <a:r>
              <a:rPr lang="en-US" sz="2800" b="1" dirty="0" err="1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뚫림</a:t>
            </a:r>
            <a:r>
              <a:rPr lang="en-US" sz="28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lang="ko-KR" altLang="en-US" sz="28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학생들은 여전히 마음대로 예매하고 예매 </a:t>
            </a:r>
            <a:r>
              <a:rPr lang="ko-KR" altLang="en-US" sz="2800" b="1" dirty="0" err="1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덮어쓰기중</a:t>
            </a:r>
            <a:r>
              <a:rPr lang="en-US" altLang="ko-KR" sz="28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…</a:t>
            </a:r>
            <a:endParaRPr lang="en-US" sz="28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7065" y="41565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의기양양했던 것도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잠시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– AI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가 준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방어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방법에는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허점이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존재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2라운드 · 원인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사실 아까 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에게 받은 해결책에는 허점이 존재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D218C54-B88C-44AB-1913-244AADEE1232}"/>
              </a:ext>
            </a:extLst>
          </p:cNvPr>
          <p:cNvSpPr/>
          <p:nvPr/>
        </p:nvSpPr>
        <p:spPr>
          <a:xfrm>
            <a:off x="640080" y="1610307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전에 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가 제시했던 해결책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1 : Firebase rules 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수정해서 인증된 계정만 쓰기 허용하세요 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2BB3750-74BB-FC41-D576-323E14CB1EE5}"/>
              </a:ext>
            </a:extLst>
          </p:cNvPr>
          <p:cNvSpPr/>
          <p:nvPr/>
        </p:nvSpPr>
        <p:spPr>
          <a:xfrm>
            <a:off x="640080" y="2567631"/>
            <a:ext cx="10881360" cy="60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학생이 찾은 </a:t>
            </a:r>
            <a:r>
              <a:rPr lang="ko-KR" altLang="en-US" sz="2000" b="1" dirty="0" err="1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파훼법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 </a:t>
            </a:r>
            <a:b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</a:b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Firebase </a:t>
            </a: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새로운 계정 만들고 그 계정으로 요청하면 통과가능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b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</a:b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아직 신규 가입이 차단되지 않음</a:t>
            </a:r>
            <a:endParaRPr lang="en-US" altLang="ko-KR" sz="2000" b="1" dirty="0">
              <a:solidFill>
                <a:srgbClr val="107825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EEF012E7-A611-C075-B67A-83C6CA74351B}"/>
              </a:ext>
            </a:extLst>
          </p:cNvPr>
          <p:cNvSpPr/>
          <p:nvPr/>
        </p:nvSpPr>
        <p:spPr>
          <a:xfrm>
            <a:off x="640080" y="36831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전에 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가 제시했던 해결책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2 : </a:t>
            </a:r>
            <a:r>
              <a:rPr lang="en-US" altLang="ko-KR" sz="2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cloudfare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worker 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중계서버를 두세요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568D4E4E-6465-8C38-B0C9-BFDA1337FAD4}"/>
              </a:ext>
            </a:extLst>
          </p:cNvPr>
          <p:cNvSpPr/>
          <p:nvPr/>
        </p:nvSpPr>
        <p:spPr>
          <a:xfrm>
            <a:off x="640080" y="4792441"/>
            <a:ext cx="10881360" cy="60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학생이 찾은 </a:t>
            </a:r>
            <a:r>
              <a:rPr lang="ko-KR" altLang="en-US" sz="2000" b="1" dirty="0" err="1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파훼법</a:t>
            </a:r>
            <a:endParaRPr lang="en-US" altLang="ko-KR" sz="2000" b="1" dirty="0">
              <a:solidFill>
                <a:srgbClr val="107825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어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!? </a:t>
            </a: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기존 경로를 막지 않고 그냥 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worker </a:t>
            </a: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중계서버 경로만 추가했네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그럼 그냥 </a:t>
            </a:r>
            <a:r>
              <a:rPr lang="en-US" altLang="ko-KR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worker </a:t>
            </a:r>
            <a:r>
              <a:rPr lang="ko-KR" altLang="en-US" sz="2000" b="1" dirty="0">
                <a:solidFill>
                  <a:srgbClr val="107825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서버 안거치면 통과가능</a:t>
            </a:r>
            <a:endParaRPr lang="en-US" altLang="ko-KR" sz="2000" b="1" dirty="0">
              <a:solidFill>
                <a:srgbClr val="107825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altLang="ko-KR" sz="2000" b="1" dirty="0">
              <a:solidFill>
                <a:srgbClr val="107825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2라운드 · 방어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2차 방어 — 경로를 하나로 좁히다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1508760"/>
          </a:xfrm>
          <a:prstGeom prst="roundRect">
            <a:avLst>
              <a:gd name="adj" fmla="val 4848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5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AI 프롬프트</a:t>
            </a:r>
            <a:endParaRPr lang="en-US" sz="9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2944368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AI : Firebase 신규 가입을 완전 차단하고, DB 접근 경로를 Worker 하나로만 가능하게 하세요.</a:t>
            </a:r>
            <a:endParaRPr lang="en-US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A0F1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A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✕  신규 회원가입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2040" y="4233672"/>
            <a:ext cx="594360" cy="182880"/>
          </a:xfrm>
          <a:prstGeom prst="line">
            <a:avLst/>
          </a:prstGeom>
          <a:noFill/>
          <a:ln w="15875">
            <a:solidFill>
              <a:srgbClr val="FF3B5C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46634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A0F17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A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✕  기존 비-admin 계정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 flipV="1">
            <a:off x="4892040" y="4416552"/>
            <a:ext cx="594360" cy="502920"/>
          </a:xfrm>
          <a:prstGeom prst="line">
            <a:avLst/>
          </a:prstGeom>
          <a:noFill/>
          <a:ln w="15875">
            <a:solidFill>
              <a:srgbClr val="FF3B5C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53492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0E4419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49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✓  Worker (admin 시크릿)</a:t>
            </a:r>
            <a:endParaRPr lang="en-US" sz="13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 flipV="1">
            <a:off x="4892040" y="4160520"/>
            <a:ext cx="2971800" cy="1444752"/>
          </a:xfrm>
          <a:prstGeom prst="line">
            <a:avLst/>
          </a:prstGeom>
          <a:noFill/>
          <a:ln w="22225">
            <a:solidFill>
              <a:srgbClr val="00FF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37033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3886200"/>
            <a:ext cx="548640" cy="5486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3" y="3957523"/>
            <a:ext cx="405994" cy="4059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86968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Firebase DB</a:t>
            </a:r>
            <a:endParaRPr lang="en-US" sz="1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22D272E-8DBE-0C44-9D9D-E5649AFD9BFF}"/>
              </a:ext>
            </a:extLst>
          </p:cNvPr>
          <p:cNvSpPr/>
          <p:nvPr/>
        </p:nvSpPr>
        <p:spPr>
          <a:xfrm>
            <a:off x="945032" y="2502825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ko-KR" altLang="en-US" dirty="0" err="1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정보쌤</a:t>
            </a:r>
            <a:r>
              <a:rPr lang="ko-KR" altLang="en-US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야 이거 아까 너가 </a:t>
            </a:r>
            <a:r>
              <a:rPr lang="ko-KR" altLang="en-US" dirty="0" err="1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하란대로</a:t>
            </a:r>
            <a:r>
              <a:rPr lang="ko-KR" altLang="en-US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 하라고 해서 했는데 다 뚫린다</a:t>
            </a:r>
            <a:r>
              <a:rPr lang="en-US" altLang="ko-KR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해결책 다시 알려줘</a:t>
            </a:r>
            <a:r>
              <a:rPr lang="en-US" altLang="ko-KR" dirty="0">
                <a:solidFill>
                  <a:schemeClr val="bg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.</a:t>
            </a:r>
            <a:endParaRPr lang="en-US" dirty="0">
              <a:solidFill>
                <a:schemeClr val="bg1"/>
              </a:solidFill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2"/>
            <a:ext cx="10058400" cy="849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야 </a:t>
            </a:r>
            <a:r>
              <a:rPr lang="ko-KR" alt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다시 해봐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lang="ko-KR" alt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이제 너네 절대 </a:t>
            </a:r>
            <a:r>
              <a:rPr lang="ko-KR" altLang="en-US" sz="3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못뚫어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 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4605" y="2081808"/>
            <a:ext cx="87220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3B5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3B5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네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3B5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3B5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뚫을게요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3B5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24605" y="31442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예매 덮어쓰기와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START/STOP </a:t>
            </a:r>
            <a:r>
              <a:rPr lang="ko-KR" altLang="en-US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를 마음대로  제어는 성공적으로 방어에 성공</a:t>
            </a:r>
            <a:endParaRPr lang="en-US" altLang="ko-KR" dirty="0">
              <a:solidFill>
                <a:srgbClr val="E9F7EC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1EB44A3-0D8B-0A0E-0B62-E5EA15E078F7}"/>
              </a:ext>
            </a:extLst>
          </p:cNvPr>
          <p:cNvSpPr/>
          <p:nvPr/>
        </p:nvSpPr>
        <p:spPr>
          <a:xfrm>
            <a:off x="724605" y="36580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정보쌤</a:t>
            </a:r>
            <a:r>
              <a:rPr lang="ko-KR" altLang="en-US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승리인 줄 알았으나 다른 문제 발생</a:t>
            </a:r>
            <a:r>
              <a:rPr lang="en-US" altLang="ko-KR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7574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3라운드 · 공략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3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라운드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.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학생들의 예매 속도가 너무나도 빠르다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…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88738" y="2514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463077" y="2514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30755024-5928-F573-622E-51DE318C0792}"/>
              </a:ext>
            </a:extLst>
          </p:cNvPr>
          <p:cNvSpPr/>
          <p:nvPr/>
        </p:nvSpPr>
        <p:spPr>
          <a:xfrm>
            <a:off x="640080" y="226033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학생 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: 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어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!?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진짜로 이전 방법들은 다 막혔네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? 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그럼 다른 방법 쓰면 돼</a:t>
            </a:r>
            <a:r>
              <a:rPr lang="en-US" altLang="ko-KR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            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한번에 예매 요청 천개 동시에 해버리면 그만이야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.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0978616-3C3C-FBD4-4CD3-9A1BAD7C209B}"/>
              </a:ext>
            </a:extLst>
          </p:cNvPr>
          <p:cNvSpPr/>
          <p:nvPr/>
        </p:nvSpPr>
        <p:spPr>
          <a:xfrm>
            <a:off x="640080" y="3383281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altLang="ko-KR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-&gt; Start  </a:t>
            </a:r>
            <a:r>
              <a:rPr lang="ko-KR" altLang="en-US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누르자마자 한명이 </a:t>
            </a:r>
            <a:r>
              <a:rPr lang="en-US" altLang="ko-KR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1</a:t>
            </a:r>
            <a:r>
              <a:rPr lang="ko-KR" altLang="en-US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천개 동시에 순식간에 예매</a:t>
            </a:r>
            <a:r>
              <a:rPr lang="en-US" altLang="ko-KR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…</a:t>
            </a:r>
            <a:r>
              <a:rPr lang="ko-KR" altLang="en-US" sz="2400" b="1" dirty="0">
                <a:solidFill>
                  <a:srgbClr val="14A432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</a:t>
            </a:r>
            <a:endParaRPr lang="en-US" altLang="ko-KR" sz="2400" b="1" dirty="0">
              <a:solidFill>
                <a:srgbClr val="14A432"/>
              </a:solidFill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22395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kumimoji="0" lang="ko-KR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kumimoji="0" lang="en-US" altLang="ko-KR" sz="28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너 이거 어떻게 </a:t>
            </a:r>
            <a:r>
              <a:rPr lang="ko-KR" altLang="en-US" sz="28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한번에  동시에 예매하냐</a:t>
            </a:r>
            <a:r>
              <a:rPr lang="en-US" altLang="ko-KR" sz="28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?”(</a:t>
            </a:r>
            <a:r>
              <a:rPr lang="ko-KR" altLang="en-US" sz="28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진짜 방법 모름</a:t>
            </a:r>
            <a:r>
              <a:rPr lang="en-US" altLang="ko-KR" sz="28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256AD3-6E0C-0992-6F5E-CCE4AA5CA42F}"/>
              </a:ext>
            </a:extLst>
          </p:cNvPr>
          <p:cNvSpPr/>
          <p:nvPr/>
        </p:nvSpPr>
        <p:spPr>
          <a:xfrm>
            <a:off x="640081" y="219927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 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3000" b="0" i="1" u="none" strike="noStrike" kern="1200" cap="none" spc="0" normalizeH="0" baseline="0" noProof="0" dirty="0" err="1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멀티쓰레드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kumimoji="0" lang="ko-KR" altLang="en-US" sz="3000" b="0" i="1" u="none" strike="noStrike" kern="1200" cap="none" spc="0" normalizeH="0" baseline="0" noProof="0" dirty="0" err="1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썻는데요</a:t>
            </a:r>
            <a:r>
              <a:rPr lang="en-US" altLang="ko-KR" sz="3000" i="1" dirty="0">
                <a:solidFill>
                  <a:srgbClr val="F33858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33858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336FD09-930E-B5F0-9A1A-259F4325B014}"/>
              </a:ext>
            </a:extLst>
          </p:cNvPr>
          <p:cNvSpPr/>
          <p:nvPr/>
        </p:nvSpPr>
        <p:spPr>
          <a:xfrm>
            <a:off x="640081" y="297361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 err="1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너 그런 것도 할 줄 아니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A55312D6-17BB-8952-BDB9-F86B5F9697C7}"/>
              </a:ext>
            </a:extLst>
          </p:cNvPr>
          <p:cNvSpPr/>
          <p:nvPr/>
        </p:nvSpPr>
        <p:spPr>
          <a:xfrm>
            <a:off x="640080" y="375085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 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가 알려주는데요</a:t>
            </a:r>
            <a:r>
              <a:rPr lang="en-US" altLang="ko-KR" sz="3000" i="1" dirty="0">
                <a:solidFill>
                  <a:srgbClr val="F33858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33858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68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17C93B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3라운드 · 공략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255" y="1086920"/>
            <a:ext cx="10881360" cy="675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학생들의 공략법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 :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cloudfare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 worker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에서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/claim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을 최대한 빠르게 호출 </a:t>
            </a:r>
          </a:p>
        </p:txBody>
      </p:sp>
      <p:sp>
        <p:nvSpPr>
          <p:cNvPr id="4" name="Shape 2"/>
          <p:cNvSpPr/>
          <p:nvPr/>
        </p:nvSpPr>
        <p:spPr>
          <a:xfrm>
            <a:off x="1608870" y="2384819"/>
            <a:ext cx="8821249" cy="3108960"/>
          </a:xfrm>
          <a:prstGeom prst="roundRect">
            <a:avLst>
              <a:gd name="adj" fmla="val 2353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3462" y="2772261"/>
            <a:ext cx="694944" cy="69494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805" y="2848555"/>
            <a:ext cx="514259" cy="514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4809" y="4011247"/>
            <a:ext cx="8669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Python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멀티스레드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로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/claim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동시다발 요청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30755024-5928-F573-622E-51DE318C0792}"/>
              </a:ext>
            </a:extLst>
          </p:cNvPr>
          <p:cNvSpPr/>
          <p:nvPr/>
        </p:nvSpPr>
        <p:spPr>
          <a:xfrm>
            <a:off x="578815" y="1561859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C71D2891-0340-E4DB-1D48-B03530C4FE61}"/>
              </a:ext>
            </a:extLst>
          </p:cNvPr>
          <p:cNvSpPr/>
          <p:nvPr/>
        </p:nvSpPr>
        <p:spPr>
          <a:xfrm>
            <a:off x="1684809" y="4629319"/>
            <a:ext cx="8669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좌석을 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1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천개 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5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천개 늘려도 순식간에 </a:t>
            </a:r>
            <a:r>
              <a:rPr kumimoji="0" lang="ko-KR" alt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예매되는건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동일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… 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좌석수를 늘려도 의미가 없다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E9F7EC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…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7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22395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 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 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야 이거 별거 없네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 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내가 일등임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256AD3-6E0C-0992-6F5E-CCE4AA5CA42F}"/>
              </a:ext>
            </a:extLst>
          </p:cNvPr>
          <p:cNvSpPr/>
          <p:nvPr/>
        </p:nvSpPr>
        <p:spPr>
          <a:xfrm>
            <a:off x="640081" y="24358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lang="ko-KR" altLang="en-US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3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그러네 너가 </a:t>
            </a:r>
            <a:r>
              <a:rPr kumimoji="0" lang="ko-KR" altLang="en-US" sz="3000" b="0" i="1" u="none" strike="noStrike" kern="1200" cap="none" spc="0" normalizeH="0" baseline="0" noProof="0" dirty="0" err="1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일등하겠다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6E9679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336FD09-930E-B5F0-9A1A-259F4325B014}"/>
              </a:ext>
            </a:extLst>
          </p:cNvPr>
          <p:cNvSpPr/>
          <p:nvPr/>
        </p:nvSpPr>
        <p:spPr>
          <a:xfrm>
            <a:off x="640079" y="3349254"/>
            <a:ext cx="10362895" cy="608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B 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선생님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제가 더 빠릅니다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B8FF5DD-7692-3406-0F9E-1F1C55A78CB9}"/>
              </a:ext>
            </a:extLst>
          </p:cNvPr>
          <p:cNvSpPr/>
          <p:nvPr/>
        </p:nvSpPr>
        <p:spPr>
          <a:xfrm>
            <a:off x="640081" y="4254223"/>
            <a:ext cx="10362895" cy="608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파이썬 </a:t>
            </a:r>
            <a:r>
              <a:rPr kumimoji="0" lang="ko-KR" altLang="en-US" sz="30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멀티쓰레드보다</a:t>
            </a: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더 빠른 학생 등장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104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702" y="24789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i="1" dirty="0" err="1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와 진짜 너가 더 빠르네 어떻게 했냐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?”(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진짜 모름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256AD3-6E0C-0992-6F5E-CCE4AA5CA42F}"/>
              </a:ext>
            </a:extLst>
          </p:cNvPr>
          <p:cNvSpPr/>
          <p:nvPr/>
        </p:nvSpPr>
        <p:spPr>
          <a:xfrm>
            <a:off x="561702" y="1142521"/>
            <a:ext cx="11277295" cy="185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</a:t>
            </a:r>
            <a:r>
              <a:rPr lang="en-US" altLang="ko-KR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B : 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파이썬 쓰는 친구들은 처음에 예매 시작할 때 프로그램 켜지고 </a:t>
            </a:r>
            <a:r>
              <a:rPr kumimoji="0" lang="ko-KR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셀레니움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켜질 때까지 </a:t>
            </a:r>
            <a:r>
              <a:rPr kumimoji="0" lang="ko-KR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선딜레이가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ko-KR" altLang="en-US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있습니다</a:t>
            </a:r>
            <a:r>
              <a:rPr lang="en-US" altLang="ko-KR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 </a:t>
            </a:r>
            <a:r>
              <a:rPr lang="ko-KR" altLang="en-US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하지만 브라우저 콘솔에서 </a:t>
            </a:r>
            <a:r>
              <a:rPr lang="ko-KR" altLang="en-US" sz="2400" i="1" dirty="0" err="1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막바로</a:t>
            </a:r>
            <a:r>
              <a:rPr lang="ko-KR" altLang="en-US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자바스크립트로 요청하면 </a:t>
            </a:r>
            <a:r>
              <a:rPr lang="ko-KR" altLang="en-US" sz="2400" i="1" dirty="0" err="1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선딜레이가</a:t>
            </a:r>
            <a:r>
              <a:rPr lang="ko-KR" altLang="en-US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없어서 이 방법이 더 빠릅니다</a:t>
            </a:r>
            <a:r>
              <a:rPr lang="en-US" altLang="ko-KR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.”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1B8F71E-B27B-45CD-441F-66FA27F59661}"/>
              </a:ext>
            </a:extLst>
          </p:cNvPr>
          <p:cNvSpPr/>
          <p:nvPr/>
        </p:nvSpPr>
        <p:spPr>
          <a:xfrm>
            <a:off x="561701" y="2948926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i="1" dirty="0" err="1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와 그걸 어떻게 알았냐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?”(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진짜 모름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5F74718-4806-053E-148D-1A61FC03D629}"/>
              </a:ext>
            </a:extLst>
          </p:cNvPr>
          <p:cNvSpPr/>
          <p:nvPr/>
        </p:nvSpPr>
        <p:spPr>
          <a:xfrm>
            <a:off x="561702" y="3863414"/>
            <a:ext cx="11277295" cy="49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B : “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아 </a:t>
            </a:r>
            <a:r>
              <a:rPr kumimoji="0" lang="ko-KR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그거요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 AI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가 알려줍니다</a:t>
            </a:r>
            <a:r>
              <a:rPr lang="en-US" altLang="ko-KR" sz="2400" i="1" dirty="0">
                <a:solidFill>
                  <a:schemeClr val="accent2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.”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2F5CE327-B9FA-858F-68C4-86FB8D2069F1}"/>
              </a:ext>
            </a:extLst>
          </p:cNvPr>
          <p:cNvSpPr/>
          <p:nvPr/>
        </p:nvSpPr>
        <p:spPr>
          <a:xfrm>
            <a:off x="640077" y="5306995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성능 엔지니어링 </a:t>
            </a:r>
            <a:r>
              <a:rPr kumimoji="0" lang="ko-KR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콜드 스타트  중요성을 </a:t>
            </a:r>
            <a:r>
              <a:rPr kumimoji="0" lang="ko-KR" alt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간접적으로 체험</a:t>
            </a: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!</a:t>
            </a:r>
            <a:endParaRPr lang="en-US" altLang="ko-KR" sz="2400" b="1" i="1" dirty="0">
              <a:solidFill>
                <a:schemeClr val="bg1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42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429" y="798128"/>
            <a:ext cx="1127760" cy="606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i="1" dirty="0" err="1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정보쌤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106F256-8B7B-13DE-22DF-37E4F2463057}"/>
              </a:ext>
            </a:extLst>
          </p:cNvPr>
          <p:cNvSpPr/>
          <p:nvPr/>
        </p:nvSpPr>
        <p:spPr>
          <a:xfrm>
            <a:off x="435428" y="2506791"/>
            <a:ext cx="10749815" cy="629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이거 뭐 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START 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누르자 마자 천개 </a:t>
            </a:r>
            <a:r>
              <a:rPr kumimoji="0" lang="ko-KR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오천개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 한번에 예매해버리니까 시합을 할 수 가 없네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6A01D88-FA00-77EE-B5A7-D10C8D5134D6}"/>
              </a:ext>
            </a:extLst>
          </p:cNvPr>
          <p:cNvSpPr/>
          <p:nvPr/>
        </p:nvSpPr>
        <p:spPr>
          <a:xfrm>
            <a:off x="435427" y="3132461"/>
            <a:ext cx="10749815" cy="606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AI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야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, </a:t>
            </a: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현재 상황이 이러한데 방어방법 좀 알려줘</a:t>
            </a:r>
            <a:r>
              <a:rPr lang="en-US" altLang="ko-KR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 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842B5E4-37E9-5F0D-8E3B-8AB8302673FE}"/>
              </a:ext>
            </a:extLst>
          </p:cNvPr>
          <p:cNvSpPr/>
          <p:nvPr/>
        </p:nvSpPr>
        <p:spPr>
          <a:xfrm>
            <a:off x="435427" y="4106217"/>
            <a:ext cx="1127760" cy="47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AI 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09642AA-4063-20B6-DF13-35D7BA221A1D}"/>
              </a:ext>
            </a:extLst>
          </p:cNvPr>
          <p:cNvSpPr/>
          <p:nvPr/>
        </p:nvSpPr>
        <p:spPr>
          <a:xfrm>
            <a:off x="435429" y="1542596"/>
            <a:ext cx="10749815" cy="835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아 이게 우리 </a:t>
            </a:r>
            <a:r>
              <a:rPr lang="en-US" altLang="ko-KR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1</a:t>
            </a: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학년 친구들은 정석대로 하나하나 예매하는데 </a:t>
            </a:r>
            <a:r>
              <a:rPr lang="en-US" altLang="ko-KR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3</a:t>
            </a:r>
            <a:r>
              <a:rPr lang="ko-KR" altLang="en-US" sz="2400" i="1" dirty="0">
                <a:solidFill>
                  <a:srgbClr val="698F73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학년 친구들이 자꾸 이상한 기술 써서 공략하네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5F4657E-F611-BCF8-A460-99392B7B7C91}"/>
              </a:ext>
            </a:extLst>
          </p:cNvPr>
          <p:cNvSpPr/>
          <p:nvPr/>
        </p:nvSpPr>
        <p:spPr>
          <a:xfrm>
            <a:off x="435429" y="4621732"/>
            <a:ext cx="10749815" cy="69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CloudFare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 KV 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로 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IP</a:t>
            </a:r>
            <a:r>
              <a:rPr kumimoji="0" lang="ko-KR" alt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당 초당 요청횟수를 제한하세요</a:t>
            </a:r>
            <a:r>
              <a:rPr kumimoji="0" lang="en-US" altLang="ko-K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!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411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3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3라운드 · 방어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3차 방어 — 속도 자체를 제한하다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11535" cy="2468880"/>
          </a:xfrm>
          <a:prstGeom prst="roundRect">
            <a:avLst>
              <a:gd name="adj" fmla="val 2963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97480"/>
            <a:ext cx="1234440" cy="12344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77" y="2857957"/>
            <a:ext cx="913486" cy="9134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2606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Cloudflare KV Rate Limit</a:t>
            </a:r>
            <a:endParaRPr lang="en-US" sz="3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43200" y="3360420"/>
            <a:ext cx="830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한 </a:t>
            </a:r>
            <a:r>
              <a:rPr lang="en-US" altLang="ko-KR" sz="3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IP</a:t>
            </a:r>
            <a:r>
              <a:rPr lang="ko-KR" altLang="en-US" sz="3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의 초당 요청 횟수를 </a:t>
            </a:r>
            <a:r>
              <a:rPr lang="en-US" sz="3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100</a:t>
            </a:r>
            <a:r>
              <a:rPr lang="ko-KR" altLang="en-US" sz="3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회로 제한</a:t>
            </a:r>
            <a:endParaRPr lang="en-US" sz="3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214C3822-95C2-A3C6-57B1-6039B83DC674}"/>
              </a:ext>
            </a:extLst>
          </p:cNvPr>
          <p:cNvSpPr/>
          <p:nvPr/>
        </p:nvSpPr>
        <p:spPr>
          <a:xfrm>
            <a:off x="720939" y="4943834"/>
            <a:ext cx="10749815" cy="93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이제야 시합을 제대로 해볼 수 있겠네</a:t>
            </a:r>
            <a:r>
              <a:rPr kumimoji="0" lang="en-US" altLang="ko-KR" sz="3000" b="0" i="1" u="none" strike="noStrike" kern="1200" cap="none" spc="0" normalizeH="0" baseline="0" noProof="0" dirty="0">
                <a:ln>
                  <a:noFill/>
                </a:ln>
                <a:solidFill>
                  <a:srgbClr val="698F73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…</a:t>
            </a:r>
            <a:endParaRPr kumimoji="0" lang="en-US" sz="3000" b="0" i="1" u="none" strike="noStrike" kern="1200" cap="none" spc="0" normalizeH="0" baseline="0" noProof="0" dirty="0">
              <a:ln>
                <a:noFill/>
              </a:ln>
              <a:solidFill>
                <a:srgbClr val="698F73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1" y="745155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lang="ko-KR" altLang="en-US" sz="2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2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야 너네 다시 예매해봐라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이제 한번에 천개씩 여러 개 예매  못할 </a:t>
            </a:r>
            <a:r>
              <a:rPr kumimoji="0" lang="ko-KR" alt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껄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256AD3-6E0C-0992-6F5E-CCE4AA5CA42F}"/>
              </a:ext>
            </a:extLst>
          </p:cNvPr>
          <p:cNvSpPr/>
          <p:nvPr/>
        </p:nvSpPr>
        <p:spPr>
          <a:xfrm>
            <a:off x="640080" y="154054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 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어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!?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진짜 안되네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…”(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근데 뚫으려고 계속 시도 중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)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33858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336FD09-930E-B5F0-9A1A-259F4325B014}"/>
              </a:ext>
            </a:extLst>
          </p:cNvPr>
          <p:cNvSpPr/>
          <p:nvPr/>
        </p:nvSpPr>
        <p:spPr>
          <a:xfrm>
            <a:off x="640081" y="3890415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갑자기 예매 기능이 정지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.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</a:rPr>
              <a:t>다른 학들도 예매가 다같이 안되는 상황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C25F8A0-C559-A445-69BF-07A00A6721FD}"/>
              </a:ext>
            </a:extLst>
          </p:cNvPr>
          <p:cNvSpPr/>
          <p:nvPr/>
        </p:nvSpPr>
        <p:spPr>
          <a:xfrm>
            <a:off x="640080" y="2317785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정보쌤</a:t>
            </a:r>
            <a:r>
              <a:rPr lang="ko-KR" altLang="en-US" sz="2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en-US" altLang="ko-KR" sz="2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E9679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드디어 내가 이겼다</a:t>
            </a:r>
            <a:r>
              <a:rPr lang="en-US" altLang="ko-KR" sz="2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1FD369B-5A4F-460D-9E55-57689632A5B1}"/>
              </a:ext>
            </a:extLst>
          </p:cNvPr>
          <p:cNvSpPr/>
          <p:nvPr/>
        </p:nvSpPr>
        <p:spPr>
          <a:xfrm>
            <a:off x="640080" y="3040380"/>
            <a:ext cx="103628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 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: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“ </a:t>
            </a:r>
            <a:r>
              <a:rPr kumimoji="0" lang="ko-KR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선생님 근데 이제 예매 기능 자체가 잘 안되는 것 같은데요</a:t>
            </a:r>
            <a:r>
              <a:rPr kumimoji="0" lang="en-US" altLang="ko-KR" sz="2000" b="0" i="1" u="none" strike="noStrike" kern="1200" cap="none" spc="0" normalizeH="0" baseline="0" noProof="0" dirty="0">
                <a:ln>
                  <a:noFill/>
                </a:ln>
                <a:solidFill>
                  <a:srgbClr val="F33858"/>
                </a:solidFill>
                <a:effectLst/>
                <a:uLnTx/>
                <a:uFillTx/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?”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33858"/>
              </a:solidFill>
              <a:effectLst/>
              <a:uLnTx/>
              <a:uFillTx/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08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결말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무료플랜에는 일일한도가 있었다</a:t>
            </a:r>
            <a:r>
              <a:rPr lang="en-US" altLang="ko-KR" sz="27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.</a:t>
            </a:r>
            <a:endParaRPr lang="en-US" sz="27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292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5</a:t>
            </a:r>
            <a:endParaRPr lang="en-US" sz="1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45920" y="2830629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분</a:t>
            </a:r>
            <a:r>
              <a:rPr lang="ko-KR" altLang="en-US" sz="44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도 </a:t>
            </a:r>
            <a:r>
              <a:rPr lang="ko-KR" altLang="en-US" sz="4400" b="1" dirty="0" err="1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안걸림</a:t>
            </a:r>
            <a:r>
              <a:rPr lang="en-US" altLang="ko-KR" sz="44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</a:t>
            </a:r>
            <a:endParaRPr lang="en-US" sz="4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6734" y="3968496"/>
            <a:ext cx="5451508" cy="1372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Cloudflare KV 무료 플랜의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일일 쓰기 한도를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전부</a:t>
            </a: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소진</a:t>
            </a:r>
            <a:endParaRPr lang="en-US" sz="2000" dirty="0">
              <a:solidFill>
                <a:srgbClr val="E9F7EC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수업진행을 위해서 어쩔 수 없이 </a:t>
            </a:r>
            <a:r>
              <a:rPr lang="en-US" altLang="ko-KR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Rate Limit 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제거</a:t>
            </a:r>
            <a:endParaRPr lang="en-US" sz="2000" dirty="0">
              <a:solidFill>
                <a:srgbClr val="E9F7EC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다시 한꺼번에 </a:t>
            </a:r>
            <a:r>
              <a:rPr lang="en-US" altLang="ko-KR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1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천개 동시 예매 엔딩</a:t>
            </a:r>
            <a:r>
              <a:rPr lang="en-US" altLang="ko-KR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…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66560" y="182880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>
            <a:solidFill>
              <a:srgbClr val="174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8288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학생들이 계속 1000개씩 </a:t>
            </a:r>
            <a:r>
              <a:rPr lang="ko-KR" alt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대량 </a:t>
            </a:r>
            <a:r>
              <a:rPr lang="en-US" sz="20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요청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006840" y="2395728"/>
            <a:ext cx="9144" cy="219456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2615184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>
            <a:solidFill>
              <a:srgbClr val="174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61518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KV 일일 한도 소진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06840" y="3182112"/>
            <a:ext cx="9144" cy="219456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3401568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>
            <a:solidFill>
              <a:srgbClr val="1743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4015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Rate Limit 강제 제거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06840" y="3968496"/>
            <a:ext cx="9144" cy="219456"/>
          </a:xfrm>
          <a:prstGeom prst="line">
            <a:avLst/>
          </a:prstGeom>
          <a:noFill/>
          <a:ln w="19050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4187952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4419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1879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 승리</a:t>
            </a:r>
            <a:endParaRPr lang="en-US" sz="2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5907024"/>
            <a:ext cx="9851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0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더 이상 막을 방법이 없다</a:t>
            </a:r>
            <a:endParaRPr lang="en-US" sz="4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EA66A28-92D1-BA6E-E02D-D5D20BEDA8C9}"/>
              </a:ext>
            </a:extLst>
          </p:cNvPr>
          <p:cNvSpPr/>
          <p:nvPr/>
        </p:nvSpPr>
        <p:spPr>
          <a:xfrm>
            <a:off x="640080" y="1696212"/>
            <a:ext cx="46024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</a:rPr>
              <a:t>한도 다 쓸 때까지 걸리는 시간</a:t>
            </a:r>
            <a:endParaRPr lang="en-US" sz="2700" dirty="0">
              <a:solidFill>
                <a:srgbClr val="FF3B5C"/>
              </a:solidFill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4167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느낀점</a:t>
            </a:r>
            <a:endParaRPr lang="en-US" sz="3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되짚어보기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학생들이 </a:t>
            </a:r>
            <a:r>
              <a:rPr lang="en-US" sz="30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스스로</a:t>
            </a: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탐구하면서 알아낸 지식들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7286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68" y="2451324"/>
            <a:ext cx="446593" cy="446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웹 사이트의 취약점 발견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68698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24730" y="237286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186" y="2451324"/>
            <a:ext cx="446593" cy="446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4538" y="196596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DB REST</a:t>
            </a: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API</a:t>
            </a: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97317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53349" y="237286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804" y="2451324"/>
            <a:ext cx="446593" cy="446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03157" y="196596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Race Condition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406450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68" y="4142964"/>
            <a:ext cx="446593" cy="4465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65760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Auth Bypass</a:t>
            </a:r>
            <a:endParaRPr lang="en-US" altLang="ko-KR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368698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24730" y="406450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186" y="4142964"/>
            <a:ext cx="446593" cy="4465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4538" y="365760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Python</a:t>
            </a: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altLang="ko-KR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Threading</a:t>
            </a:r>
            <a:r>
              <a:rPr lang="ko-KR" altLang="en-US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8097317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53349" y="4064508"/>
            <a:ext cx="603504" cy="603504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804" y="4142964"/>
            <a:ext cx="446593" cy="4465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3157" y="3657600"/>
            <a:ext cx="2265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JS Event Loop 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 중에서 선생님이 알려준 것은 하나도 </a:t>
            </a:r>
            <a:r>
              <a:rPr lang="en-US" sz="2400" b="1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없다</a:t>
            </a:r>
            <a:r>
              <a:rPr lang="en-US" sz="2400" b="1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- </a:t>
            </a:r>
            <a:r>
              <a:rPr lang="en-US" sz="2400" b="1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전부</a:t>
            </a:r>
            <a:r>
              <a:rPr lang="en-US" sz="2400" b="1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AI와의 대화에서 </a:t>
            </a:r>
            <a:r>
              <a:rPr lang="en-US" sz="2400" b="1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스스로</a:t>
            </a:r>
            <a:r>
              <a:rPr lang="en-US" sz="2400" b="1" i="1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발견</a:t>
            </a:r>
            <a:endParaRPr lang="en-US" sz="24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9" grpId="0" animBg="1"/>
      <p:bldP spid="23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교육적 의미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공방전이 만든 자기효능감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69177" y="2346959"/>
            <a:ext cx="1508760" cy="1508760"/>
          </a:xfrm>
          <a:prstGeom prst="line">
            <a:avLst/>
          </a:prstGeom>
          <a:noFill/>
          <a:ln w="15875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669177" y="3855719"/>
            <a:ext cx="1508760" cy="1508760"/>
          </a:xfrm>
          <a:prstGeom prst="line">
            <a:avLst/>
          </a:prstGeom>
          <a:noFill/>
          <a:ln w="15875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160417" y="3855719"/>
            <a:ext cx="1508760" cy="1508760"/>
          </a:xfrm>
          <a:prstGeom prst="line">
            <a:avLst/>
          </a:prstGeom>
          <a:noFill/>
          <a:ln w="15875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160417" y="2346959"/>
            <a:ext cx="1508760" cy="1508760"/>
          </a:xfrm>
          <a:prstGeom prst="line">
            <a:avLst/>
          </a:prstGeom>
          <a:noFill/>
          <a:ln w="15875">
            <a:solidFill>
              <a:srgbClr val="17C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03417" y="1981199"/>
            <a:ext cx="731520" cy="73152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515" y="2076297"/>
            <a:ext cx="541325" cy="5413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7617" y="2731007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선생님이 막는다</a:t>
            </a:r>
            <a:endParaRPr lang="en-US" sz="11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12177" y="3489959"/>
            <a:ext cx="731520" cy="73152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275" y="3585057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26377" y="4239767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학생이 뚫는다</a:t>
            </a:r>
            <a:endParaRPr lang="en-US" sz="11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303417" y="4998719"/>
            <a:ext cx="731520" cy="73152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515" y="5093817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17617" y="5748527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성취감·의욕 ↑</a:t>
            </a:r>
            <a:endParaRPr lang="en-US" sz="11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794657" y="3489959"/>
            <a:ext cx="731520" cy="73152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55" y="3585057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857" y="4239767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다른 방법 탐색</a:t>
            </a:r>
            <a:endParaRPr lang="en-US" sz="11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229498" y="1698171"/>
            <a:ext cx="6322118" cy="4016829"/>
          </a:xfrm>
          <a:prstGeom prst="roundRect">
            <a:avLst>
              <a:gd name="adj" fmla="val 2051"/>
            </a:avLst>
          </a:prstGeom>
          <a:solidFill>
            <a:srgbClr val="0B1510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5"/>
          <p:cNvSpPr/>
          <p:nvPr/>
        </p:nvSpPr>
        <p:spPr>
          <a:xfrm>
            <a:off x="5440680" y="1810512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선생님</a:t>
            </a:r>
            <a:r>
              <a:rPr lang="en-US" sz="16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: </a:t>
            </a:r>
            <a:r>
              <a:rPr lang="en-US" sz="1600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어쭈</a:t>
            </a:r>
            <a:r>
              <a:rPr lang="en-US" sz="16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, 이걸 이렇게 하네? 막아야지.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440679" y="2151887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학생: 어? 이걸 막네? 응, 다른 방법.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40678" y="2528316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선생님: 아 또 뚫었네, 그럼 또 막아.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40677" y="2928693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학생: 어? 이걸 막아? 응, 다른 방법.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440676" y="3145536"/>
            <a:ext cx="50136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학생들은 </a:t>
            </a:r>
            <a:r>
              <a:rPr lang="en-US" sz="16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실패해도</a:t>
            </a:r>
            <a:r>
              <a:rPr 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포기하지 않고, 스스로 </a:t>
            </a:r>
            <a:r>
              <a:rPr lang="en-US" sz="16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해결책을</a:t>
            </a:r>
            <a:r>
              <a:rPr 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탐색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82D5A87-8DBD-0C9F-17AB-D833DDCD2B62}"/>
              </a:ext>
            </a:extLst>
          </p:cNvPr>
          <p:cNvSpPr/>
          <p:nvPr/>
        </p:nvSpPr>
        <p:spPr>
          <a:xfrm>
            <a:off x="5440675" y="3758619"/>
            <a:ext cx="5013657" cy="1771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선생님이 만든 수업을 자신이 공략했다는 성취감</a:t>
            </a:r>
            <a:endParaRPr lang="en-US" altLang="ko-KR" sz="1600" i="1" dirty="0">
              <a:solidFill>
                <a:srgbClr val="6E9679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선생님이 막을수록 더 의욕이 생김</a:t>
            </a:r>
            <a:endParaRPr lang="en-US" altLang="ko-KR" sz="1600" i="1" dirty="0">
              <a:solidFill>
                <a:srgbClr val="6E9679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실패해도 포기하지 않고 다른 루트를 탐색</a:t>
            </a:r>
            <a:endParaRPr lang="en-US" altLang="ko-KR" sz="1600" i="1" dirty="0">
              <a:solidFill>
                <a:srgbClr val="6E9679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에게 물어보며 스스로 해결법을 연구</a:t>
            </a:r>
            <a:endParaRPr lang="en-US" sz="1600" i="1" dirty="0">
              <a:solidFill>
                <a:srgbClr val="6E9679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600" i="1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학생들도 선생님도 재밌던 경험</a:t>
            </a:r>
            <a:endParaRPr lang="en-US" sz="16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관찰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원리는</a:t>
            </a:r>
            <a:r>
              <a:rPr 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자세하게 몰라도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lang="ko-KR" altLang="en-US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직관적으로 이해하고 있다</a:t>
            </a:r>
            <a:r>
              <a:rPr lang="en-US" altLang="ko-KR" sz="30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.</a:t>
            </a:r>
            <a:endParaRPr lang="en-US" sz="3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24030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175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STOP</a:t>
            </a:r>
            <a:r>
              <a:rPr lang="ko-KR" altLang="en-US" sz="125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을 뚫고 </a:t>
            </a:r>
            <a:r>
              <a:rPr lang="en-US" sz="1250" i="1" dirty="0" err="1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어떻게</a:t>
            </a:r>
            <a:r>
              <a:rPr lang="en-US" sz="125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예매했냐?</a:t>
            </a:r>
            <a:endParaRPr lang="en-US" sz="12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14400" y="3886200"/>
            <a:ext cx="2844698" cy="0"/>
          </a:xfrm>
          <a:prstGeom prst="line">
            <a:avLst/>
          </a:prstGeom>
          <a:noFill/>
          <a:ln w="12700">
            <a:solidFill>
              <a:srgbClr val="1743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9959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학생</a:t>
            </a:r>
            <a:endParaRPr lang="en-US" sz="1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4270248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예매사이트에서 직접 데이터베이스에 접근한다고 하면 되던데요?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4400" y="53035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API 요청의 원리는 </a:t>
            </a:r>
            <a:r>
              <a:rPr lang="en-US" sz="12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몰라도</a:t>
            </a:r>
            <a:r>
              <a:rPr 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12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디비에</a:t>
            </a:r>
            <a:r>
              <a:rPr lang="ko-KR" alt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직접 요청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99178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hape 11"/>
          <p:cNvSpPr/>
          <p:nvPr/>
        </p:nvSpPr>
        <p:spPr>
          <a:xfrm>
            <a:off x="4673498" y="2331720"/>
            <a:ext cx="548640" cy="5486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822" y="2403043"/>
            <a:ext cx="405994" cy="4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73498" y="30175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어떻게 천 개씩 한꺼번에 예매했냐?</a:t>
            </a:r>
            <a:endParaRPr lang="en-US" sz="12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673498" y="3886200"/>
            <a:ext cx="2844698" cy="0"/>
          </a:xfrm>
          <a:prstGeom prst="line">
            <a:avLst/>
          </a:prstGeom>
          <a:noFill/>
          <a:ln w="12700">
            <a:solidFill>
              <a:srgbClr val="17431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73498" y="39959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학생</a:t>
            </a:r>
            <a:endParaRPr lang="en-US" sz="1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73498" y="4270248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이거 잘 모르는데요, 쓰레딩? 그거 쓰면 빠르다고 하더라고요.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673498" y="53035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쓰레딩</a:t>
            </a:r>
            <a:r>
              <a:rPr lang="ko-KR" alt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12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뭔진</a:t>
            </a:r>
            <a:r>
              <a:rPr lang="ko-KR" alt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모르지만</a:t>
            </a:r>
            <a:r>
              <a:rPr lang="en-US" altLang="ko-KR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ko-KR" alt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동시에 요청하는 건 이해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58277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>
            <a:solidFill>
              <a:srgbClr val="17431F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2597" y="2331720"/>
            <a:ext cx="548640" cy="548640"/>
          </a:xfrm>
          <a:prstGeom prst="ellipse">
            <a:avLst/>
          </a:prstGeom>
          <a:solidFill>
            <a:srgbClr val="0E4419"/>
          </a:solidFill>
          <a:ln w="12700">
            <a:solidFill>
              <a:srgbClr val="17431F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03043"/>
            <a:ext cx="405994" cy="40599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32597" y="30175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9F7E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쟤보다 어떻게 더 빠르게 했냐?</a:t>
            </a:r>
            <a:endParaRPr lang="en-US" sz="125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8432597" y="3886200"/>
            <a:ext cx="2844698" cy="0"/>
          </a:xfrm>
          <a:prstGeom prst="line">
            <a:avLst/>
          </a:prstGeom>
          <a:noFill/>
          <a:ln w="12700">
            <a:solidFill>
              <a:srgbClr val="17431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32597" y="399592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ourier New" pitchFamily="34" charset="-120"/>
              </a:rPr>
              <a:t>학생</a:t>
            </a:r>
            <a:endParaRPr lang="en-US" sz="10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432597" y="4270248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파이썬으로 창 여는 것보다, 바로 </a:t>
            </a:r>
            <a:r>
              <a:rPr lang="en-US" sz="12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여기서</a:t>
            </a:r>
            <a:r>
              <a:rPr lang="en-US" sz="1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</a:t>
            </a:r>
            <a:r>
              <a:rPr lang="en-US" sz="1200" dirty="0" err="1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JS로</a:t>
            </a:r>
            <a:r>
              <a:rPr lang="en-US" sz="1200" dirty="0">
                <a:solidFill>
                  <a:srgbClr val="17C93B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하는 게 더 빨라요.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432597" y="53035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콜드 스타트의 중요성을 직관적으로 이해</a:t>
            </a:r>
            <a:endParaRPr lang="en-US" sz="1200" dirty="0">
              <a:latin typeface="maplestory" panose="02000300000000000000" pitchFamily="2" charset="-127"/>
              <a:ea typeface="maplestory" panose="020003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0" grpId="0" animBg="1"/>
      <p:bldP spid="21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7348" y="1371601"/>
            <a:ext cx="11430000" cy="2057400"/>
          </a:xfrm>
          <a:prstGeom prst="rect">
            <a:avLst/>
          </a:prstGeom>
          <a:solidFill>
            <a:srgbClr val="0E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0228" y="1554480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코딩</a:t>
            </a:r>
            <a:r>
              <a:rPr lang="ko-KR" altLang="en-US"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이나 전문적 지식이 부족한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학생도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AI에</a:t>
            </a:r>
            <a:r>
              <a:rPr lang="ko-KR" altLang="en-US"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게 질문하며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시스템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구조를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분석</a:t>
            </a:r>
            <a:endParaRPr sz="21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0228" y="2103120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어떻게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하면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더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빠르게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할 수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있어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?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라고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AI에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질문하며 다양한 방법 조사</a:t>
            </a:r>
            <a:endParaRPr sz="21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0228" y="2651760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와 </a:t>
            </a:r>
            <a:r>
              <a:rPr lang="ko-KR" altLang="en-US"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함께라면</a:t>
            </a:r>
            <a:r>
              <a:rPr lang="ko-KR" altLang="en-US"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중학생</a:t>
            </a:r>
            <a:r>
              <a:rPr lang="ko-KR" altLang="en-US"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들도 높은 수준의 접근 가능</a:t>
            </a:r>
            <a:endParaRPr sz="2100" dirty="0">
              <a:solidFill>
                <a:srgbClr val="FFC000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7348" y="4104379"/>
            <a:ext cx="11430000" cy="1199141"/>
          </a:xfrm>
          <a:prstGeom prst="rect">
            <a:avLst/>
          </a:prstGeom>
          <a:solidFill>
            <a:srgbClr val="0E4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3107" y="4213239"/>
            <a:ext cx="107011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sz="3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3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를 활용하면 디지털역량의 격차를 줄일 수 있고 훨씬 다양한 </a:t>
            </a:r>
            <a:endParaRPr lang="en-US" altLang="ko-KR" sz="3200" b="1" i="1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algn="ctr" defTabSz="457200"/>
            <a:r>
              <a:rPr lang="ko-KR" altLang="en-US" sz="3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수업이 가능하다</a:t>
            </a:r>
            <a:endParaRPr sz="3200" b="1" i="1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7F14A-9140-D7E8-66EB-5082EB9D6AF5}"/>
              </a:ext>
            </a:extLst>
          </p:cNvPr>
          <p:cNvSpPr txBox="1"/>
          <p:nvPr/>
        </p:nvSpPr>
        <p:spPr>
          <a:xfrm>
            <a:off x="458788" y="588926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기술관련 분야에서 </a:t>
            </a:r>
            <a:r>
              <a:rPr 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</a:t>
            </a:r>
            <a:r>
              <a:rPr lang="ko-KR" altLang="en-US" sz="2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와 함께 학습 했을 때 강력한 학습효과 발생</a:t>
            </a:r>
            <a:endParaRPr sz="2400" b="1" dirty="0">
              <a:solidFill>
                <a:srgbClr val="FFFFFF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8788" y="397429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32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동기의</a:t>
            </a:r>
            <a:r>
              <a:rPr sz="32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힘</a:t>
            </a:r>
            <a:r>
              <a:rPr lang="en-US" sz="32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– </a:t>
            </a:r>
            <a:r>
              <a:rPr lang="ko-KR" altLang="en-US" sz="32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내가 해냈다는 성취감</a:t>
            </a:r>
            <a:endParaRPr sz="3200" b="1" dirty="0">
              <a:solidFill>
                <a:srgbClr val="FFFFFF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788" y="1463040"/>
            <a:ext cx="11247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학생들이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평소보다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훨씬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높은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집중력과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창의력을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발휘</a:t>
            </a:r>
            <a:endParaRPr sz="21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88" y="2011680"/>
            <a:ext cx="11247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실패해도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포기하지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않고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다른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방법을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스스로</a:t>
            </a:r>
            <a:r>
              <a:rPr sz="21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탐색</a:t>
            </a:r>
            <a:endParaRPr sz="21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788" y="2560320"/>
            <a:ext cx="112471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내가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해냈다는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뿌듯함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→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강력한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학습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동기로</a:t>
            </a:r>
            <a:r>
              <a:rPr sz="21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1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연결</a:t>
            </a:r>
            <a:endParaRPr sz="2100" dirty="0">
              <a:solidFill>
                <a:srgbClr val="FFC000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1886" y="3882183"/>
            <a:ext cx="113140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sz="2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"</a:t>
            </a:r>
            <a:r>
              <a:rPr lang="en-US" sz="2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2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를 활용하더라도 학생들이 자유롭게 탐구할 수 있고</a:t>
            </a:r>
            <a:endParaRPr lang="en-US" altLang="ko-KR" sz="2200" b="1" i="1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algn="ctr" defTabSz="457200"/>
            <a:r>
              <a:rPr lang="ko-KR" altLang="en-US" sz="2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그 과정에서 성취감을 느낄 수 있는 교수학습과정 설계가 필요하다</a:t>
            </a:r>
            <a:r>
              <a:rPr sz="2200" b="1" i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8788" y="444259"/>
            <a:ext cx="1143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AI </a:t>
            </a:r>
            <a:r>
              <a:rPr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시대</a:t>
            </a:r>
            <a:r>
              <a:rPr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, </a:t>
            </a:r>
            <a:r>
              <a:rPr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교사의</a:t>
            </a:r>
            <a:r>
              <a:rPr sz="3400" b="1" dirty="0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mbria" pitchFamily="34" charset="-120"/>
              </a:rPr>
              <a:t>역할</a:t>
            </a:r>
            <a:endParaRPr sz="3400" b="1" dirty="0">
              <a:solidFill>
                <a:srgbClr val="FFFFFF"/>
              </a:solidFill>
              <a:latin typeface="maplestory" panose="02000300000000000000" pitchFamily="2" charset="-127"/>
              <a:ea typeface="maplestory" panose="02000300000000000000" pitchFamily="2" charset="-127"/>
              <a:cs typeface="Cambria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788" y="1463041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AI를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활용하면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학생들이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생각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이상의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성과</a:t>
            </a:r>
            <a:endParaRPr sz="22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88" y="2084833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배경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지식의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차이보다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동기</a:t>
            </a:r>
            <a:r>
              <a:rPr lang="ko-KR" altLang="en-US"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부여가 더 강력함</a:t>
            </a:r>
            <a:endParaRPr sz="22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788" y="2706625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스스로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문제를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찾고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해결하게</a:t>
            </a:r>
            <a:r>
              <a:rPr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만</a:t>
            </a:r>
            <a:r>
              <a:rPr lang="ko-KR" altLang="en-US" sz="2200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들 수 있는 운동장 필요</a:t>
            </a:r>
            <a:endParaRPr sz="2200" dirty="0">
              <a:solidFill>
                <a:srgbClr val="00FF41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788" y="3328417"/>
            <a:ext cx="112471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▸  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모두가 </a:t>
            </a:r>
            <a:r>
              <a:rPr lang="en-US" altLang="ko-KR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를 활용하고 </a:t>
            </a:r>
            <a:r>
              <a:rPr lang="ko-KR" altLang="en-US" sz="22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바이브코딩을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하는 지금 시대에서 </a:t>
            </a:r>
            <a:endParaRPr lang="en-US" altLang="ko-KR" sz="2200" dirty="0">
              <a:solidFill>
                <a:srgbClr val="FFC000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defTabSz="457200"/>
            <a:r>
              <a:rPr 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 </a:t>
            </a:r>
            <a:r>
              <a:rPr sz="22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교사의</a:t>
            </a:r>
            <a:r>
              <a:rPr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2200" dirty="0" err="1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역할은</a:t>
            </a:r>
            <a:r>
              <a:rPr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지식 전달 뿐만 아니라 학생들이 자유롭게 기술을 탐구하고 </a:t>
            </a:r>
            <a:endParaRPr lang="en-US" altLang="ko-KR" sz="2200" dirty="0">
              <a:solidFill>
                <a:srgbClr val="FFC000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  <a:p>
            <a:pPr defTabSz="457200"/>
            <a:r>
              <a:rPr 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  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적용하며</a:t>
            </a:r>
            <a:r>
              <a:rPr lang="en-US" altLang="ko-KR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도전할 수 있는 교수학습설계</a:t>
            </a:r>
            <a:r>
              <a:rPr lang="en-US" altLang="ko-KR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lang="ko-KR" altLang="en-US" sz="2200" dirty="0">
                <a:solidFill>
                  <a:srgbClr val="FFC000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운동장을 설계 하는 것이 중요</a:t>
            </a:r>
            <a:endParaRPr sz="2200" dirty="0">
              <a:solidFill>
                <a:srgbClr val="FFC000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8788" y="5390145"/>
            <a:ext cx="11247120" cy="36576"/>
          </a:xfrm>
          <a:prstGeom prst="rect">
            <a:avLst/>
          </a:prstGeom>
          <a:solidFill>
            <a:srgbClr val="174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788" y="550885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선</a:t>
            </a:r>
            <a:r>
              <a:rPr lang="ko-KR" altLang="en-US"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생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님이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직접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가르친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7988" y="550885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학생들이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AI로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스스로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dirty="0" err="1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발견한</a:t>
            </a:r>
            <a:r>
              <a:rPr sz="16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17" y="5900104"/>
            <a:ext cx="4148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ko-KR" altLang="en-US" sz="1600" b="1" dirty="0">
                <a:solidFill>
                  <a:srgbClr val="FF3B5C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파이썬 매크로 프로그램 기초 및 사용법만 설명</a:t>
            </a:r>
            <a:endParaRPr sz="1600" b="1" dirty="0">
              <a:solidFill>
                <a:srgbClr val="FF3B5C"/>
              </a:solidFill>
              <a:latin typeface="maplestory" panose="02000300000000000000" pitchFamily="2" charset="-127"/>
              <a:ea typeface="maplestory" panose="02000300000000000000" pitchFamily="2" charset="-127"/>
              <a:cs typeface="Calibri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03263" y="542667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sz="2400" dirty="0">
                <a:solidFill>
                  <a:srgbClr val="6E9679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7988" y="5900104"/>
            <a:ext cx="3680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sz="16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REST API, </a:t>
            </a:r>
            <a:r>
              <a:rPr sz="1600" b="1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멀티스레드</a:t>
            </a:r>
            <a:r>
              <a:rPr sz="16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, </a:t>
            </a:r>
            <a:r>
              <a:rPr sz="1600" b="1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비동기</a:t>
            </a:r>
            <a:r>
              <a:rPr sz="16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 </a:t>
            </a:r>
            <a:r>
              <a:rPr sz="1600" b="1" dirty="0" err="1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병렬처리</a:t>
            </a:r>
            <a:r>
              <a:rPr sz="1600" b="1" dirty="0">
                <a:solidFill>
                  <a:srgbClr val="00FF41"/>
                </a:solidFill>
                <a:latin typeface="maplestory" panose="02000300000000000000" pitchFamily="2" charset="-127"/>
                <a:ea typeface="maplestory" panose="02000300000000000000" pitchFamily="2" charset="-127"/>
                <a:cs typeface="Calibri" pitchFamily="34" charset="-12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25D4C4-7661-E4E0-46DA-417EDEEE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0" y="583110"/>
            <a:ext cx="3597973" cy="269784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0DFD579-C48E-A655-D75B-6656CD93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286" y="583109"/>
            <a:ext cx="3597973" cy="269784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18DFFFF-8D92-6ADD-15E0-4AA7341E6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498" y="583111"/>
            <a:ext cx="3597970" cy="26978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5DF7D09-38C6-E256-F105-A71359BFE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490" y="3423982"/>
            <a:ext cx="3597969" cy="269784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DBAFB41-D9B8-FD34-3FDF-24A13E781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432" y="3429000"/>
            <a:ext cx="3591277" cy="269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3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1496</Words>
  <Application>Microsoft Office PowerPoint</Application>
  <PresentationFormat>와이드스크린</PresentationFormat>
  <Paragraphs>232</Paragraphs>
  <Slides>31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maplestory</vt:lpstr>
      <vt:lpstr>맑은 고딕</vt:lpstr>
      <vt:lpstr>Arial</vt:lpstr>
      <vt:lpstr>Calibri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tgr0612@naver.com</cp:lastModifiedBy>
  <cp:revision>152</cp:revision>
  <dcterms:created xsi:type="dcterms:W3CDTF">2026-08-21T18:13:14Z</dcterms:created>
  <dcterms:modified xsi:type="dcterms:W3CDTF">2026-08-25T23:21:46Z</dcterms:modified>
</cp:coreProperties>
</file>