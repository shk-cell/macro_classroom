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</p:sldMasterIdLst>
  <p:notesMasterIdLst>
    <p:notesMasterId r:id="rId34"/>
  </p:notesMasterIdLst>
  <p:sldIdLst>
    <p:sldId id="256" r:id="rId3"/>
    <p:sldId id="257" r:id="rId4"/>
    <p:sldId id="258" r:id="rId5"/>
    <p:sldId id="276" r:id="rId6"/>
    <p:sldId id="259" r:id="rId7"/>
    <p:sldId id="277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78" r:id="rId17"/>
    <p:sldId id="268" r:id="rId18"/>
    <p:sldId id="280" r:id="rId19"/>
    <p:sldId id="281" r:id="rId20"/>
    <p:sldId id="282" r:id="rId21"/>
    <p:sldId id="283" r:id="rId22"/>
    <p:sldId id="284" r:id="rId23"/>
    <p:sldId id="269" r:id="rId24"/>
    <p:sldId id="285" r:id="rId25"/>
    <p:sldId id="270" r:id="rId26"/>
    <p:sldId id="271" r:id="rId27"/>
    <p:sldId id="272" r:id="rId28"/>
    <p:sldId id="273" r:id="rId29"/>
    <p:sldId id="274" r:id="rId30"/>
    <p:sldId id="286" r:id="rId31"/>
    <p:sldId id="287" r:id="rId32"/>
    <p:sldId id="279" r:id="rId3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B5C"/>
    <a:srgbClr val="698F73"/>
    <a:srgbClr val="49423D"/>
    <a:srgbClr val="6E9679"/>
    <a:srgbClr val="5A7B63"/>
    <a:srgbClr val="F33858"/>
    <a:srgbClr val="14A432"/>
    <a:srgbClr val="070D08"/>
    <a:srgbClr val="1078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0" d="100"/>
          <a:sy n="60" d="100"/>
        </p:scale>
        <p:origin x="78" y="11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presProps" Target="presProp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0911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00984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013503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4923511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094124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5724116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425643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289992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8633727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2065177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978" y="2130426"/>
            <a:ext cx="7774425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957" y="3886200"/>
            <a:ext cx="6402467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776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1353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501" y="4406901"/>
            <a:ext cx="7774425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501" y="2906713"/>
            <a:ext cx="7774425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1331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319" y="1600201"/>
            <a:ext cx="4039652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9411" y="1600201"/>
            <a:ext cx="4039652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8997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319" y="1535113"/>
            <a:ext cx="404124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319" y="2174875"/>
            <a:ext cx="404124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6235" y="1535113"/>
            <a:ext cx="404282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6235" y="2174875"/>
            <a:ext cx="404282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697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69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9932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319" y="273050"/>
            <a:ext cx="3009097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981" y="273051"/>
            <a:ext cx="511308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319" y="1435101"/>
            <a:ext cx="3009097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80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755" y="4800600"/>
            <a:ext cx="548782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755" y="612775"/>
            <a:ext cx="548782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755" y="5367338"/>
            <a:ext cx="548782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15043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0786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31127" y="274639"/>
            <a:ext cx="2057936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319" y="274639"/>
            <a:ext cx="6021368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9217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319" y="274638"/>
            <a:ext cx="8231744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319" y="1600201"/>
            <a:ext cx="823174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319" y="6356351"/>
            <a:ext cx="21341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5014" y="6356351"/>
            <a:ext cx="2896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4907" y="6356351"/>
            <a:ext cx="21341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10263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macro-classroom.shk-8b6.workers.dev/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3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1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>
            <a:alphaModFix amt="22000"/>
          </a:blip>
          <a:stretch>
            <a:fillRect/>
          </a:stretch>
        </p:blipFill>
        <p:spPr>
          <a:xfrm>
            <a:off x="7863840" y="1097280"/>
            <a:ext cx="4846320" cy="4846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874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 STUDY · 코딩동아리 실전 기록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2286000"/>
            <a:ext cx="9692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AI를 활용한 바이브코딩 시대,</a:t>
            </a:r>
            <a:endParaRPr lang="en-US" sz="40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교사의 역할과 교수학습설계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434340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학생들과 함께 만든 예매 사이트를 학생들이 직접 공략하고,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선생님은 AI에게 방어법을 물었던 공방전의 기록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64008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2E6B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 1000 SEATS COMPETITION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/ 20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2286000"/>
            <a:ext cx="1005840" cy="10058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3687" y="2416759"/>
            <a:ext cx="744322" cy="74432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35204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kern="0" spc="4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0" y="388620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수업</a:t>
            </a: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34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설계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20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들어가며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3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바이브</a:t>
            </a:r>
            <a:r>
              <a:rPr lang="ko-KR" alt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코딩을 활용했던 수업 사례 소개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466262"/>
            <a:ext cx="82296" cy="82296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5" name="Text 3"/>
          <p:cNvSpPr/>
          <p:nvPr/>
        </p:nvSpPr>
        <p:spPr>
          <a:xfrm>
            <a:off x="932688" y="2383966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바이브코딩으로</a:t>
            </a: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수업</a:t>
            </a:r>
            <a:r>
              <a:rPr lang="ko-KR" alt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 사용할</a:t>
            </a: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사이트를</a:t>
            </a: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제작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3124630"/>
            <a:ext cx="82296" cy="82296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3042334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학생들이</a:t>
            </a: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그 사이트의 </a:t>
            </a:r>
            <a:r>
              <a:rPr lang="en-US" sz="160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취약점을</a:t>
            </a: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</a:t>
            </a:r>
            <a:r>
              <a:rPr lang="ko-KR" alt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 </a:t>
            </a:r>
            <a:r>
              <a:rPr lang="en-US" sz="160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분석해</a:t>
            </a: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공략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3782998"/>
            <a:ext cx="82296" cy="82296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9" name="Text 7"/>
          <p:cNvSpPr/>
          <p:nvPr/>
        </p:nvSpPr>
        <p:spPr>
          <a:xfrm>
            <a:off x="932688" y="3700702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선생임은 </a:t>
            </a: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AI에게 </a:t>
            </a:r>
            <a:r>
              <a:rPr lang="en-US" sz="160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방어</a:t>
            </a: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방법을</a:t>
            </a: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알려달라고 해서 </a:t>
            </a:r>
            <a:r>
              <a:rPr lang="ko-KR" altLang="en-US" sz="160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핫픽스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4441366"/>
            <a:ext cx="82296" cy="82296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11" name="Text 9"/>
          <p:cNvSpPr/>
          <p:nvPr/>
        </p:nvSpPr>
        <p:spPr>
          <a:xfrm>
            <a:off x="932688" y="4359070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학생은 또  </a:t>
            </a:r>
            <a:r>
              <a:rPr lang="en-US" sz="160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AI로</a:t>
            </a: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ko-KR" alt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활용해 </a:t>
            </a: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</a:t>
            </a:r>
            <a:r>
              <a:rPr lang="ko-KR" alt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로운</a:t>
            </a: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취약점을 찾아 재공략 — 반복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869680" y="2743200"/>
            <a:ext cx="1227435" cy="2125980"/>
          </a:xfrm>
          <a:prstGeom prst="line">
            <a:avLst/>
          </a:prstGeom>
          <a:noFill/>
          <a:ln w="15875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 flipH="1">
            <a:off x="7642245" y="4869180"/>
            <a:ext cx="2454870" cy="9144"/>
          </a:xfrm>
          <a:prstGeom prst="line">
            <a:avLst/>
          </a:prstGeom>
          <a:noFill/>
          <a:ln w="15875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 flipV="1">
            <a:off x="7642245" y="2743200"/>
            <a:ext cx="1227435" cy="2125980"/>
          </a:xfrm>
          <a:prstGeom prst="line">
            <a:avLst/>
          </a:prstGeom>
          <a:noFill/>
          <a:ln w="15875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503920" y="2377440"/>
            <a:ext cx="731520" cy="73152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472538"/>
            <a:ext cx="541325" cy="541325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7863840" y="312724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 공략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9731355" y="4503420"/>
            <a:ext cx="731520" cy="73152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6453" y="4598518"/>
            <a:ext cx="541325" cy="541325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9091275" y="525322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방어 자문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7276485" y="4503420"/>
            <a:ext cx="731520" cy="73152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71582" y="4598518"/>
            <a:ext cx="541325" cy="541325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636405" y="525322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선생님 패치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7406640" y="17830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kern="0" spc="1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반복되는 공방의 사이클</a:t>
            </a:r>
            <a:endParaRPr lang="en-US" sz="1050" dirty="0"/>
          </a:p>
        </p:txBody>
      </p:sp>
      <p:sp>
        <p:nvSpPr>
          <p:cNvPr id="25" name="Text 20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20</a:t>
            </a:r>
            <a:endParaRPr lang="en-US" sz="900" dirty="0"/>
          </a:p>
        </p:txBody>
      </p:sp>
      <p:sp>
        <p:nvSpPr>
          <p:cNvPr id="26" name="Shape 8">
            <a:extLst>
              <a:ext uri="{FF2B5EF4-FFF2-40B4-BE49-F238E27FC236}">
                <a16:creationId xmlns:a16="http://schemas.microsoft.com/office/drawing/2014/main" id="{7263F947-7172-B975-91DB-B21C715C4338}"/>
              </a:ext>
            </a:extLst>
          </p:cNvPr>
          <p:cNvSpPr/>
          <p:nvPr/>
        </p:nvSpPr>
        <p:spPr>
          <a:xfrm>
            <a:off x="640080" y="5105939"/>
            <a:ext cx="82296" cy="82296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27" name="Text 9">
            <a:extLst>
              <a:ext uri="{FF2B5EF4-FFF2-40B4-BE49-F238E27FC236}">
                <a16:creationId xmlns:a16="http://schemas.microsoft.com/office/drawing/2014/main" id="{6D760C29-5C43-3FF1-3485-4B243535C734}"/>
              </a:ext>
            </a:extLst>
          </p:cNvPr>
          <p:cNvSpPr/>
          <p:nvPr/>
        </p:nvSpPr>
        <p:spPr>
          <a:xfrm>
            <a:off x="932688" y="5023643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학생들과 선생님 사이의 </a:t>
            </a:r>
            <a:r>
              <a:rPr lang="en-US" altLang="ko-KR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r>
              <a:rPr lang="ko-KR" alt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공방전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1" i="0" u="none" strike="noStrike" kern="0" cap="none" spc="300" normalizeH="0" baseline="0" noProof="0" dirty="0">
                <a:ln>
                  <a:noFill/>
                </a:ln>
                <a:solidFill>
                  <a:srgbClr val="17C93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수업 설계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초기에 기획했던 수업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2466262"/>
            <a:ext cx="82296" cy="82296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5" name="Text 3"/>
          <p:cNvSpPr/>
          <p:nvPr/>
        </p:nvSpPr>
        <p:spPr>
          <a:xfrm>
            <a:off x="932687" y="2383966"/>
            <a:ext cx="77781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바이브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코딩을 이용해서 학생들이 자동화 프로그램 만들도록 하는 것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40080" y="3124630"/>
            <a:ext cx="82296" cy="82296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3042334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파이썬의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kumimoji="0" lang="en-US" altLang="ko-K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pyautogui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나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selenium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실습정도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40080" y="3782998"/>
            <a:ext cx="82296" cy="82296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9" name="Text 7"/>
          <p:cNvSpPr/>
          <p:nvPr/>
        </p:nvSpPr>
        <p:spPr>
          <a:xfrm>
            <a:off x="932688" y="3700702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에게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“ ~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이런 수업을 할 </a:t>
            </a: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꺼니까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적당한 사이트 만들어줘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”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5" name="Text 20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20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613177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수업 설계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Booking 1000 Seats Competition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420624" cy="42062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761" y="2157801"/>
            <a:ext cx="311262" cy="31126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2121408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빈 좌석을 클릭하면 이름 입력창이 뜬다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640080" y="2724912"/>
            <a:ext cx="420624" cy="42062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761" y="2779593"/>
            <a:ext cx="311262" cy="31126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34440" y="27432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이름을 입력하면 그 </a:t>
            </a:r>
            <a:r>
              <a:rPr lang="en-US" sz="145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자리가</a:t>
            </a:r>
            <a:r>
              <a:rPr lang="en-US" sz="145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예매된다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640080" y="3346704"/>
            <a:ext cx="420624" cy="42062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761" y="3401385"/>
            <a:ext cx="311262" cy="31126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34440" y="336499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누가 가장 많이 예매했는지 리더보드로 실시간 경쟁</a:t>
            </a:r>
            <a:endParaRPr lang="en-US" sz="1450" dirty="0"/>
          </a:p>
        </p:txBody>
      </p:sp>
      <p:sp>
        <p:nvSpPr>
          <p:cNvPr id="13" name="Shape 8"/>
          <p:cNvSpPr/>
          <p:nvPr/>
        </p:nvSpPr>
        <p:spPr>
          <a:xfrm>
            <a:off x="640080" y="3968496"/>
            <a:ext cx="420624" cy="42062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761" y="4023177"/>
            <a:ext cx="311262" cy="31126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34440" y="398678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r>
              <a:rPr lang="ko-KR" altLang="en-US" sz="145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야 만들어줘</a:t>
            </a:r>
            <a:r>
              <a:rPr lang="en-US" altLang="ko-KR" sz="145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45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바이브코딩</a:t>
            </a:r>
            <a:r>
              <a:rPr lang="en-US" sz="145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45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딸깍으로</a:t>
            </a:r>
            <a:r>
              <a:rPr lang="ko-KR" altLang="en-US" sz="145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제작</a:t>
            </a:r>
            <a:endParaRPr lang="en-US" sz="1450" dirty="0"/>
          </a:p>
        </p:txBody>
      </p:sp>
      <p:sp>
        <p:nvSpPr>
          <p:cNvPr id="17" name="Shape 11"/>
          <p:cNvSpPr/>
          <p:nvPr/>
        </p:nvSpPr>
        <p:spPr>
          <a:xfrm>
            <a:off x="6355080" y="1463040"/>
            <a:ext cx="5586984" cy="3694176"/>
          </a:xfrm>
          <a:prstGeom prst="roundRect">
            <a:avLst>
              <a:gd name="adj" fmla="val 1980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8" name="Text 12"/>
          <p:cNvSpPr/>
          <p:nvPr/>
        </p:nvSpPr>
        <p:spPr>
          <a:xfrm>
            <a:off x="6675120" y="1600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 1000 SEATS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6675120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7059168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4757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443216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7827264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8211312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8595360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8979408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9363456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9747504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9F43"/>
          </a:solidFill>
          <a:ln w="9525">
            <a:solidFill>
              <a:srgbClr val="48DBFB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10131552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10515600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10899648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48DBFB"/>
          </a:solidFill>
          <a:ln w="9525">
            <a:solidFill>
              <a:srgbClr val="54A0FF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283696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6675120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7059168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7443216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7827264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54A0FF"/>
          </a:solidFill>
          <a:ln w="9525">
            <a:solidFill>
              <a:srgbClr val="A55EEA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8211312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37" name="Shape 31"/>
          <p:cNvSpPr/>
          <p:nvPr/>
        </p:nvSpPr>
        <p:spPr>
          <a:xfrm>
            <a:off x="8595360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>
            <a:off x="8979408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A55EEA"/>
          </a:solidFill>
          <a:ln w="9525">
            <a:solidFill>
              <a:srgbClr val="FD79A8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9363456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40" name="Shape 34"/>
          <p:cNvSpPr/>
          <p:nvPr/>
        </p:nvSpPr>
        <p:spPr>
          <a:xfrm>
            <a:off x="9747504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41" name="Shape 35"/>
          <p:cNvSpPr/>
          <p:nvPr/>
        </p:nvSpPr>
        <p:spPr>
          <a:xfrm>
            <a:off x="10131552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42" name="Shape 36"/>
          <p:cNvSpPr/>
          <p:nvPr/>
        </p:nvSpPr>
        <p:spPr>
          <a:xfrm>
            <a:off x="10515600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D79A8"/>
          </a:solidFill>
          <a:ln w="9525">
            <a:solidFill>
              <a:srgbClr val="26DE81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10899648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44" name="Shape 38"/>
          <p:cNvSpPr/>
          <p:nvPr/>
        </p:nvSpPr>
        <p:spPr>
          <a:xfrm>
            <a:off x="11283696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45" name="Shape 39"/>
          <p:cNvSpPr/>
          <p:nvPr/>
        </p:nvSpPr>
        <p:spPr>
          <a:xfrm>
            <a:off x="6675120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26DE81"/>
          </a:solidFill>
          <a:ln w="9525">
            <a:solidFill>
              <a:srgbClr val="F9CA24"/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7059168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9CA24"/>
          </a:solidFill>
          <a:ln w="9525">
            <a:solidFill>
              <a:srgbClr val="FF4757"/>
            </a:solidFill>
            <a:prstDash val="solid"/>
          </a:ln>
        </p:spPr>
      </p:sp>
      <p:sp>
        <p:nvSpPr>
          <p:cNvPr id="47" name="Shape 41"/>
          <p:cNvSpPr/>
          <p:nvPr/>
        </p:nvSpPr>
        <p:spPr>
          <a:xfrm>
            <a:off x="7443216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4757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48" name="Shape 42"/>
          <p:cNvSpPr/>
          <p:nvPr/>
        </p:nvSpPr>
        <p:spPr>
          <a:xfrm>
            <a:off x="7827264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49" name="Shape 43"/>
          <p:cNvSpPr/>
          <p:nvPr/>
        </p:nvSpPr>
        <p:spPr>
          <a:xfrm>
            <a:off x="8211312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50" name="Shape 44"/>
          <p:cNvSpPr/>
          <p:nvPr/>
        </p:nvSpPr>
        <p:spPr>
          <a:xfrm>
            <a:off x="8595360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51" name="Shape 45"/>
          <p:cNvSpPr/>
          <p:nvPr/>
        </p:nvSpPr>
        <p:spPr>
          <a:xfrm>
            <a:off x="8979408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9F43"/>
          </a:solidFill>
          <a:ln w="9525">
            <a:solidFill>
              <a:srgbClr val="48DBFB"/>
            </a:solidFill>
            <a:prstDash val="solid"/>
          </a:ln>
        </p:spPr>
      </p:sp>
      <p:sp>
        <p:nvSpPr>
          <p:cNvPr id="52" name="Shape 46"/>
          <p:cNvSpPr/>
          <p:nvPr/>
        </p:nvSpPr>
        <p:spPr>
          <a:xfrm>
            <a:off x="9363456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53" name="Shape 47"/>
          <p:cNvSpPr/>
          <p:nvPr/>
        </p:nvSpPr>
        <p:spPr>
          <a:xfrm>
            <a:off x="9747504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54" name="Shape 48"/>
          <p:cNvSpPr/>
          <p:nvPr/>
        </p:nvSpPr>
        <p:spPr>
          <a:xfrm>
            <a:off x="10131552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55" name="Shape 49"/>
          <p:cNvSpPr/>
          <p:nvPr/>
        </p:nvSpPr>
        <p:spPr>
          <a:xfrm>
            <a:off x="10515600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48DBFB"/>
          </a:solidFill>
          <a:ln w="9525">
            <a:solidFill>
              <a:srgbClr val="54A0FF"/>
            </a:solidFill>
            <a:prstDash val="solid"/>
          </a:ln>
        </p:spPr>
      </p:sp>
      <p:sp>
        <p:nvSpPr>
          <p:cNvPr id="56" name="Shape 50"/>
          <p:cNvSpPr/>
          <p:nvPr/>
        </p:nvSpPr>
        <p:spPr>
          <a:xfrm>
            <a:off x="10899648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54A0FF"/>
          </a:solidFill>
          <a:ln w="9525">
            <a:solidFill>
              <a:srgbClr val="A55EEA"/>
            </a:solidFill>
            <a:prstDash val="solid"/>
          </a:ln>
        </p:spPr>
      </p:sp>
      <p:sp>
        <p:nvSpPr>
          <p:cNvPr id="57" name="Shape 51"/>
          <p:cNvSpPr/>
          <p:nvPr/>
        </p:nvSpPr>
        <p:spPr>
          <a:xfrm>
            <a:off x="11283696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A55EEA"/>
          </a:solidFill>
          <a:ln w="9525">
            <a:solidFill>
              <a:srgbClr val="FD79A8"/>
            </a:solidFill>
            <a:prstDash val="solid"/>
          </a:ln>
        </p:spPr>
      </p:sp>
      <p:sp>
        <p:nvSpPr>
          <p:cNvPr id="58" name="Shape 52"/>
          <p:cNvSpPr/>
          <p:nvPr/>
        </p:nvSpPr>
        <p:spPr>
          <a:xfrm>
            <a:off x="6675120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59" name="Shape 53"/>
          <p:cNvSpPr/>
          <p:nvPr/>
        </p:nvSpPr>
        <p:spPr>
          <a:xfrm>
            <a:off x="7059168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D79A8"/>
          </a:solidFill>
          <a:ln w="9525">
            <a:solidFill>
              <a:srgbClr val="26DE81"/>
            </a:solidFill>
            <a:prstDash val="solid"/>
          </a:ln>
        </p:spPr>
      </p:sp>
      <p:sp>
        <p:nvSpPr>
          <p:cNvPr id="60" name="Shape 54"/>
          <p:cNvSpPr/>
          <p:nvPr/>
        </p:nvSpPr>
        <p:spPr>
          <a:xfrm>
            <a:off x="7443216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61" name="Shape 55"/>
          <p:cNvSpPr/>
          <p:nvPr/>
        </p:nvSpPr>
        <p:spPr>
          <a:xfrm>
            <a:off x="7827264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62" name="Shape 56"/>
          <p:cNvSpPr/>
          <p:nvPr/>
        </p:nvSpPr>
        <p:spPr>
          <a:xfrm>
            <a:off x="8211312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26DE81"/>
          </a:solidFill>
          <a:ln w="9525">
            <a:solidFill>
              <a:srgbClr val="F9CA24"/>
            </a:solidFill>
            <a:prstDash val="solid"/>
          </a:ln>
        </p:spPr>
      </p:sp>
      <p:sp>
        <p:nvSpPr>
          <p:cNvPr id="63" name="Shape 57"/>
          <p:cNvSpPr/>
          <p:nvPr/>
        </p:nvSpPr>
        <p:spPr>
          <a:xfrm>
            <a:off x="8595360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64" name="Shape 58"/>
          <p:cNvSpPr/>
          <p:nvPr/>
        </p:nvSpPr>
        <p:spPr>
          <a:xfrm>
            <a:off x="8979408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65" name="Shape 59"/>
          <p:cNvSpPr/>
          <p:nvPr/>
        </p:nvSpPr>
        <p:spPr>
          <a:xfrm>
            <a:off x="9363456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66" name="Shape 60"/>
          <p:cNvSpPr/>
          <p:nvPr/>
        </p:nvSpPr>
        <p:spPr>
          <a:xfrm>
            <a:off x="9747504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9CA24"/>
          </a:solidFill>
          <a:ln w="9525">
            <a:solidFill>
              <a:srgbClr val="FF4757"/>
            </a:solidFill>
            <a:prstDash val="solid"/>
          </a:ln>
        </p:spPr>
      </p:sp>
      <p:sp>
        <p:nvSpPr>
          <p:cNvPr id="67" name="Shape 61"/>
          <p:cNvSpPr/>
          <p:nvPr/>
        </p:nvSpPr>
        <p:spPr>
          <a:xfrm>
            <a:off x="10131552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4757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68" name="Shape 62"/>
          <p:cNvSpPr/>
          <p:nvPr/>
        </p:nvSpPr>
        <p:spPr>
          <a:xfrm>
            <a:off x="10515600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69" name="Shape 63"/>
          <p:cNvSpPr/>
          <p:nvPr/>
        </p:nvSpPr>
        <p:spPr>
          <a:xfrm>
            <a:off x="10899648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9F43"/>
          </a:solidFill>
          <a:ln w="9525">
            <a:solidFill>
              <a:srgbClr val="48DBFB"/>
            </a:solidFill>
            <a:prstDash val="solid"/>
          </a:ln>
        </p:spPr>
      </p:sp>
      <p:sp>
        <p:nvSpPr>
          <p:cNvPr id="70" name="Shape 64"/>
          <p:cNvSpPr/>
          <p:nvPr/>
        </p:nvSpPr>
        <p:spPr>
          <a:xfrm>
            <a:off x="11283696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48DBFB"/>
          </a:solidFill>
          <a:ln w="9525">
            <a:solidFill>
              <a:srgbClr val="54A0FF"/>
            </a:solidFill>
            <a:prstDash val="solid"/>
          </a:ln>
        </p:spPr>
      </p:sp>
      <p:sp>
        <p:nvSpPr>
          <p:cNvPr id="71" name="Shape 65"/>
          <p:cNvSpPr/>
          <p:nvPr/>
        </p:nvSpPr>
        <p:spPr>
          <a:xfrm>
            <a:off x="6675120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72" name="Shape 66"/>
          <p:cNvSpPr/>
          <p:nvPr/>
        </p:nvSpPr>
        <p:spPr>
          <a:xfrm>
            <a:off x="7059168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54A0FF"/>
          </a:solidFill>
          <a:ln w="9525">
            <a:solidFill>
              <a:srgbClr val="A55EEA"/>
            </a:solidFill>
            <a:prstDash val="solid"/>
          </a:ln>
        </p:spPr>
      </p:sp>
      <p:sp>
        <p:nvSpPr>
          <p:cNvPr id="73" name="Shape 67"/>
          <p:cNvSpPr/>
          <p:nvPr/>
        </p:nvSpPr>
        <p:spPr>
          <a:xfrm>
            <a:off x="7443216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74" name="Shape 68"/>
          <p:cNvSpPr/>
          <p:nvPr/>
        </p:nvSpPr>
        <p:spPr>
          <a:xfrm>
            <a:off x="7827264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A55EEA"/>
          </a:solidFill>
          <a:ln w="9525">
            <a:solidFill>
              <a:srgbClr val="FD79A8"/>
            </a:solidFill>
            <a:prstDash val="solid"/>
          </a:ln>
        </p:spPr>
      </p:sp>
      <p:sp>
        <p:nvSpPr>
          <p:cNvPr id="75" name="Shape 69"/>
          <p:cNvSpPr/>
          <p:nvPr/>
        </p:nvSpPr>
        <p:spPr>
          <a:xfrm>
            <a:off x="8211312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76" name="Shape 70"/>
          <p:cNvSpPr/>
          <p:nvPr/>
        </p:nvSpPr>
        <p:spPr>
          <a:xfrm>
            <a:off x="8595360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77" name="Shape 71"/>
          <p:cNvSpPr/>
          <p:nvPr/>
        </p:nvSpPr>
        <p:spPr>
          <a:xfrm>
            <a:off x="8979408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78" name="Shape 72"/>
          <p:cNvSpPr/>
          <p:nvPr/>
        </p:nvSpPr>
        <p:spPr>
          <a:xfrm>
            <a:off x="9363456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79" name="Shape 73"/>
          <p:cNvSpPr/>
          <p:nvPr/>
        </p:nvSpPr>
        <p:spPr>
          <a:xfrm>
            <a:off x="9747504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80" name="Shape 74"/>
          <p:cNvSpPr/>
          <p:nvPr/>
        </p:nvSpPr>
        <p:spPr>
          <a:xfrm>
            <a:off x="10131552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81" name="Shape 75"/>
          <p:cNvSpPr/>
          <p:nvPr/>
        </p:nvSpPr>
        <p:spPr>
          <a:xfrm>
            <a:off x="10515600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82" name="Shape 76"/>
          <p:cNvSpPr/>
          <p:nvPr/>
        </p:nvSpPr>
        <p:spPr>
          <a:xfrm>
            <a:off x="10899648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D79A8"/>
          </a:solidFill>
          <a:ln w="9525">
            <a:solidFill>
              <a:srgbClr val="26DE81"/>
            </a:solidFill>
            <a:prstDash val="solid"/>
          </a:ln>
        </p:spPr>
      </p:sp>
      <p:sp>
        <p:nvSpPr>
          <p:cNvPr id="83" name="Shape 77"/>
          <p:cNvSpPr/>
          <p:nvPr/>
        </p:nvSpPr>
        <p:spPr>
          <a:xfrm>
            <a:off x="11283696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84" name="Shape 78"/>
          <p:cNvSpPr/>
          <p:nvPr/>
        </p:nvSpPr>
        <p:spPr>
          <a:xfrm>
            <a:off x="6675120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26DE81"/>
          </a:solidFill>
          <a:ln w="9525">
            <a:solidFill>
              <a:srgbClr val="F9CA24"/>
            </a:solidFill>
            <a:prstDash val="solid"/>
          </a:ln>
        </p:spPr>
      </p:sp>
      <p:sp>
        <p:nvSpPr>
          <p:cNvPr id="85" name="Shape 79"/>
          <p:cNvSpPr/>
          <p:nvPr/>
        </p:nvSpPr>
        <p:spPr>
          <a:xfrm>
            <a:off x="7059168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86" name="Shape 80"/>
          <p:cNvSpPr/>
          <p:nvPr/>
        </p:nvSpPr>
        <p:spPr>
          <a:xfrm>
            <a:off x="7443216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9CA24"/>
          </a:solidFill>
          <a:ln w="9525">
            <a:solidFill>
              <a:srgbClr val="FF4757"/>
            </a:solidFill>
            <a:prstDash val="solid"/>
          </a:ln>
        </p:spPr>
      </p:sp>
      <p:sp>
        <p:nvSpPr>
          <p:cNvPr id="87" name="Shape 81"/>
          <p:cNvSpPr/>
          <p:nvPr/>
        </p:nvSpPr>
        <p:spPr>
          <a:xfrm>
            <a:off x="7827264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4757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88" name="Shape 82"/>
          <p:cNvSpPr/>
          <p:nvPr/>
        </p:nvSpPr>
        <p:spPr>
          <a:xfrm>
            <a:off x="8211312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9F43"/>
          </a:solidFill>
          <a:ln w="9525">
            <a:solidFill>
              <a:srgbClr val="48DBFB"/>
            </a:solidFill>
            <a:prstDash val="solid"/>
          </a:ln>
        </p:spPr>
      </p:sp>
      <p:sp>
        <p:nvSpPr>
          <p:cNvPr id="89" name="Shape 83"/>
          <p:cNvSpPr/>
          <p:nvPr/>
        </p:nvSpPr>
        <p:spPr>
          <a:xfrm>
            <a:off x="8595360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48DBFB"/>
          </a:solidFill>
          <a:ln w="9525">
            <a:solidFill>
              <a:srgbClr val="54A0FF"/>
            </a:solidFill>
            <a:prstDash val="solid"/>
          </a:ln>
        </p:spPr>
      </p:sp>
      <p:sp>
        <p:nvSpPr>
          <p:cNvPr id="90" name="Shape 84"/>
          <p:cNvSpPr/>
          <p:nvPr/>
        </p:nvSpPr>
        <p:spPr>
          <a:xfrm>
            <a:off x="8979408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1" name="Shape 85"/>
          <p:cNvSpPr/>
          <p:nvPr/>
        </p:nvSpPr>
        <p:spPr>
          <a:xfrm>
            <a:off x="9363456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2" name="Shape 86"/>
          <p:cNvSpPr/>
          <p:nvPr/>
        </p:nvSpPr>
        <p:spPr>
          <a:xfrm>
            <a:off x="9747504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54A0FF"/>
          </a:solidFill>
          <a:ln w="9525">
            <a:solidFill>
              <a:srgbClr val="A55EEA"/>
            </a:solidFill>
            <a:prstDash val="solid"/>
          </a:ln>
        </p:spPr>
      </p:sp>
      <p:sp>
        <p:nvSpPr>
          <p:cNvPr id="93" name="Shape 87"/>
          <p:cNvSpPr/>
          <p:nvPr/>
        </p:nvSpPr>
        <p:spPr>
          <a:xfrm>
            <a:off x="10131552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4" name="Shape 88"/>
          <p:cNvSpPr/>
          <p:nvPr/>
        </p:nvSpPr>
        <p:spPr>
          <a:xfrm>
            <a:off x="10515600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5" name="Shape 89"/>
          <p:cNvSpPr/>
          <p:nvPr/>
        </p:nvSpPr>
        <p:spPr>
          <a:xfrm>
            <a:off x="10899648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6" name="Shape 90"/>
          <p:cNvSpPr/>
          <p:nvPr/>
        </p:nvSpPr>
        <p:spPr>
          <a:xfrm>
            <a:off x="11283696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7" name="Shape 91"/>
          <p:cNvSpPr/>
          <p:nvPr/>
        </p:nvSpPr>
        <p:spPr>
          <a:xfrm>
            <a:off x="6675120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8" name="Shape 92"/>
          <p:cNvSpPr/>
          <p:nvPr/>
        </p:nvSpPr>
        <p:spPr>
          <a:xfrm>
            <a:off x="7059168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9" name="Shape 93"/>
          <p:cNvSpPr/>
          <p:nvPr/>
        </p:nvSpPr>
        <p:spPr>
          <a:xfrm>
            <a:off x="7443216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0" name="Shape 94"/>
          <p:cNvSpPr/>
          <p:nvPr/>
        </p:nvSpPr>
        <p:spPr>
          <a:xfrm>
            <a:off x="7827264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1" name="Shape 95"/>
          <p:cNvSpPr/>
          <p:nvPr/>
        </p:nvSpPr>
        <p:spPr>
          <a:xfrm>
            <a:off x="8211312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2" name="Shape 96"/>
          <p:cNvSpPr/>
          <p:nvPr/>
        </p:nvSpPr>
        <p:spPr>
          <a:xfrm>
            <a:off x="8595360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3" name="Shape 97"/>
          <p:cNvSpPr/>
          <p:nvPr/>
        </p:nvSpPr>
        <p:spPr>
          <a:xfrm>
            <a:off x="8979408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4" name="Shape 98"/>
          <p:cNvSpPr/>
          <p:nvPr/>
        </p:nvSpPr>
        <p:spPr>
          <a:xfrm>
            <a:off x="9363456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A55EEA"/>
          </a:solidFill>
          <a:ln w="9525">
            <a:solidFill>
              <a:srgbClr val="FD79A8"/>
            </a:solidFill>
            <a:prstDash val="solid"/>
          </a:ln>
        </p:spPr>
      </p:sp>
      <p:sp>
        <p:nvSpPr>
          <p:cNvPr id="105" name="Shape 99"/>
          <p:cNvSpPr/>
          <p:nvPr/>
        </p:nvSpPr>
        <p:spPr>
          <a:xfrm>
            <a:off x="9747504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6" name="Shape 100"/>
          <p:cNvSpPr/>
          <p:nvPr/>
        </p:nvSpPr>
        <p:spPr>
          <a:xfrm>
            <a:off x="10131552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7" name="Shape 101"/>
          <p:cNvSpPr/>
          <p:nvPr/>
        </p:nvSpPr>
        <p:spPr>
          <a:xfrm>
            <a:off x="10515600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8" name="Shape 102"/>
          <p:cNvSpPr/>
          <p:nvPr/>
        </p:nvSpPr>
        <p:spPr>
          <a:xfrm>
            <a:off x="10899648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D79A8"/>
          </a:solidFill>
          <a:ln w="9525">
            <a:solidFill>
              <a:srgbClr val="26DE81"/>
            </a:solidFill>
            <a:prstDash val="solid"/>
          </a:ln>
        </p:spPr>
      </p:sp>
      <p:sp>
        <p:nvSpPr>
          <p:cNvPr id="109" name="Shape 103"/>
          <p:cNvSpPr/>
          <p:nvPr/>
        </p:nvSpPr>
        <p:spPr>
          <a:xfrm>
            <a:off x="11283696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10" name="Text 104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20</a:t>
            </a:r>
            <a:endParaRPr lang="en-US" sz="900" dirty="0"/>
          </a:p>
        </p:txBody>
      </p:sp>
      <p:sp>
        <p:nvSpPr>
          <p:cNvPr id="111" name="Shape 8">
            <a:extLst>
              <a:ext uri="{FF2B5EF4-FFF2-40B4-BE49-F238E27FC236}">
                <a16:creationId xmlns:a16="http://schemas.microsoft.com/office/drawing/2014/main" id="{6F51864B-0EF5-AF69-21BD-6BCEDF69B9E9}"/>
              </a:ext>
            </a:extLst>
          </p:cNvPr>
          <p:cNvSpPr/>
          <p:nvPr/>
        </p:nvSpPr>
        <p:spPr>
          <a:xfrm>
            <a:off x="640080" y="4591594"/>
            <a:ext cx="420624" cy="42062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12" name="Image 3" descr="preencoded.png">
            <a:extLst>
              <a:ext uri="{FF2B5EF4-FFF2-40B4-BE49-F238E27FC236}">
                <a16:creationId xmlns:a16="http://schemas.microsoft.com/office/drawing/2014/main" id="{2AFB3833-BAB4-5C35-2790-D7CB52BC21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761" y="4646275"/>
            <a:ext cx="311262" cy="311262"/>
          </a:xfrm>
          <a:prstGeom prst="rect">
            <a:avLst/>
          </a:prstGeom>
        </p:spPr>
      </p:pic>
      <p:sp>
        <p:nvSpPr>
          <p:cNvPr id="113" name="Text 9">
            <a:extLst>
              <a:ext uri="{FF2B5EF4-FFF2-40B4-BE49-F238E27FC236}">
                <a16:creationId xmlns:a16="http://schemas.microsoft.com/office/drawing/2014/main" id="{43363734-78EE-3D32-4327-8665D38FC824}"/>
              </a:ext>
            </a:extLst>
          </p:cNvPr>
          <p:cNvSpPr/>
          <p:nvPr/>
        </p:nvSpPr>
        <p:spPr>
          <a:xfrm>
            <a:off x="1234440" y="4609882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https://macro-classroom.shk-8b6.workers.dev/</a:t>
            </a:r>
            <a:endParaRPr lang="en-US" sz="1450" b="1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300" normalizeH="0" baseline="0" noProof="0" dirty="0">
                <a:ln>
                  <a:noFill/>
                </a:ln>
                <a:solidFill>
                  <a:srgbClr val="17C93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수업 설계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Booking 1000 Seats Competition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수업 진행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Text 3"/>
          <p:cNvSpPr/>
          <p:nvPr/>
        </p:nvSpPr>
        <p:spPr>
          <a:xfrm>
            <a:off x="640079" y="2174747"/>
            <a:ext cx="95924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미리 준비해 놓은 파이썬 자동화 프로그램을 학생들에게 공개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0" name="Text 104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20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850DBE56-CA05-C7D8-A7E7-82F9E4ED3AA8}"/>
              </a:ext>
            </a:extLst>
          </p:cNvPr>
          <p:cNvSpPr/>
          <p:nvPr/>
        </p:nvSpPr>
        <p:spPr>
          <a:xfrm>
            <a:off x="640080" y="2739190"/>
            <a:ext cx="10362895" cy="951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자 이제 너희들이 이걸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에게 학습시켜서 알아서 빠른 자동화 프로그램을 만들어보거라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64AEF1B3-2E5E-7C4F-A815-4A6C79F08C82}"/>
              </a:ext>
            </a:extLst>
          </p:cNvPr>
          <p:cNvSpPr/>
          <p:nvPr/>
        </p:nvSpPr>
        <p:spPr>
          <a:xfrm>
            <a:off x="640079" y="3792706"/>
            <a:ext cx="90325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이따가 누가 더 예매 빠르게 많이 하는지 시합해보자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6A51EA6C-61DA-9B91-291F-4E3C55892B44}"/>
              </a:ext>
            </a:extLst>
          </p:cNvPr>
          <p:cNvSpPr/>
          <p:nvPr/>
        </p:nvSpPr>
        <p:spPr>
          <a:xfrm>
            <a:off x="640080" y="3905612"/>
            <a:ext cx="90325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052374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초반 풍경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Cambria" pitchFamily="34" charset="0"/>
              </a:rPr>
              <a:t>초반에는 의도대로 흘러감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3393338" cy="2834640"/>
          </a:xfrm>
          <a:prstGeom prst="roundRect">
            <a:avLst>
              <a:gd name="adj" fmla="val 258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514600"/>
            <a:ext cx="685800" cy="68580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274" y="2603754"/>
            <a:ext cx="507492" cy="5074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32688" y="3383280"/>
            <a:ext cx="28081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너무 짧은 대기시간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32688" y="3931920"/>
            <a:ext cx="280812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이름을 입력할 시간도 없이 예매 실패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99178" y="2148840"/>
            <a:ext cx="3393338" cy="2834640"/>
          </a:xfrm>
          <a:prstGeom prst="roundRect">
            <a:avLst>
              <a:gd name="adj" fmla="val 258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19218" y="2514600"/>
            <a:ext cx="685800" cy="68580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8372" y="2603754"/>
            <a:ext cx="507492" cy="50749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91786" y="3383280"/>
            <a:ext cx="28081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엉뚱한 곳 클릭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691786" y="3931920"/>
            <a:ext cx="280812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빈 좌석이 아닌 곳을 눌러 계속 실패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158277" y="2148840"/>
            <a:ext cx="3393338" cy="2834640"/>
          </a:xfrm>
          <a:prstGeom prst="roundRect">
            <a:avLst>
              <a:gd name="adj" fmla="val 258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78317" y="2514600"/>
            <a:ext cx="685800" cy="68580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67471" y="2603754"/>
            <a:ext cx="507492" cy="50749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50885" y="3383280"/>
            <a:ext cx="28081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창 100개 동시 실행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450885" y="3931920"/>
            <a:ext cx="280812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여는 건 자동, 닫는 건 하루 종일 수동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640080" y="533801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i="1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이때는 귀여웠다. 근데 곧 안 귀여워졌다.</a:t>
            </a:r>
            <a:endParaRPr lang="en-US" sz="3200" dirty="0"/>
          </a:p>
        </p:txBody>
      </p:sp>
      <p:sp>
        <p:nvSpPr>
          <p:cNvPr id="20" name="Text 15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20</a:t>
            </a:r>
            <a:endParaRPr lang="en-US" sz="900" dirty="0"/>
          </a:p>
        </p:txBody>
      </p:sp>
      <p:sp>
        <p:nvSpPr>
          <p:cNvPr id="21" name="Text 1">
            <a:extLst>
              <a:ext uri="{FF2B5EF4-FFF2-40B4-BE49-F238E27FC236}">
                <a16:creationId xmlns:a16="http://schemas.microsoft.com/office/drawing/2014/main" id="{26C40296-BFD5-266D-CB24-56904D48DE57}"/>
              </a:ext>
            </a:extLst>
          </p:cNvPr>
          <p:cNvSpPr/>
          <p:nvPr/>
        </p:nvSpPr>
        <p:spPr>
          <a:xfrm>
            <a:off x="640080" y="1344168"/>
            <a:ext cx="10881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b="1" dirty="0">
                <a:solidFill>
                  <a:srgbClr val="FFFFFF"/>
                </a:solidFill>
                <a:latin typeface="Cambria" pitchFamily="34" charset="0"/>
              </a:rPr>
              <a:t>초반에는 학생들이 할만한 실수들이 많이 나왔음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공방전</a:t>
            </a: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시작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슬슬</a:t>
            </a: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ko-KR" alt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다른 방법을 찾는</a:t>
            </a: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학생들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5227168" cy="2286000"/>
          </a:xfrm>
          <a:prstGeom prst="roundRect">
            <a:avLst>
              <a:gd name="adj" fmla="val 3200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423160"/>
            <a:ext cx="658368" cy="658368"/>
          </a:xfrm>
          <a:prstGeom prst="ellipse">
            <a:avLst/>
          </a:prstGeom>
          <a:solidFill>
            <a:srgbClr val="3A0F17"/>
          </a:solidFill>
          <a:ln w="12700">
            <a:solidFill>
              <a:srgbClr val="3A0F17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428" y="2508748"/>
            <a:ext cx="487192" cy="4871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487168"/>
            <a:ext cx="3764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어느 순간부터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STOP을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눌</a:t>
            </a:r>
            <a:r>
              <a:rPr lang="ko-KR" alt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렀는데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altLang="ko-KR" sz="1600" b="1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예매가 시작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05840" y="3200400"/>
            <a:ext cx="44956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분명 예매를 잠가놨는데, 그걸 뚫고 예매를 계속하는 학생 등장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24448" y="2057400"/>
            <a:ext cx="5227168" cy="2286000"/>
          </a:xfrm>
          <a:prstGeom prst="roundRect">
            <a:avLst>
              <a:gd name="adj" fmla="val 3200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690208" y="2423160"/>
            <a:ext cx="658368" cy="658368"/>
          </a:xfrm>
          <a:prstGeom prst="ellipse">
            <a:avLst/>
          </a:prstGeom>
          <a:solidFill>
            <a:srgbClr val="3A0F17"/>
          </a:solidFill>
          <a:ln w="12700">
            <a:solidFill>
              <a:srgbClr val="3A0F17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5795" y="2508748"/>
            <a:ext cx="487192" cy="48719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513168" y="2441448"/>
            <a:ext cx="3764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남의 좌석을 덮어쓴다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690208" y="3200400"/>
            <a:ext cx="44956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 다른 학생이 예매한 자리를 자신의 이름으로 덮어써 버림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40232" y="5146147"/>
            <a:ext cx="10911535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1005839" y="5331674"/>
            <a:ext cx="85552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i="1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정보쌤</a:t>
            </a:r>
            <a:r>
              <a:rPr lang="ko-KR" altLang="en-US" sz="2400" i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2400" i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2400" i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야 이거 뭐냐, 이거 어떻게 했냐? ”</a:t>
            </a:r>
            <a:endParaRPr lang="en-US" sz="2400" dirty="0"/>
          </a:p>
        </p:txBody>
      </p:sp>
      <p:sp>
        <p:nvSpPr>
          <p:cNvPr id="16" name="Text 12"/>
          <p:cNvSpPr/>
          <p:nvPr/>
        </p:nvSpPr>
        <p:spPr>
          <a:xfrm>
            <a:off x="1005840" y="5854566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i="1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학생들 </a:t>
            </a:r>
            <a:r>
              <a:rPr lang="en-US" altLang="ko-KR" sz="2400" i="1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2400" i="1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r>
              <a:rPr lang="en-US" sz="2400" i="1" dirty="0" err="1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선생님</a:t>
            </a:r>
            <a:r>
              <a:rPr lang="en-US" sz="2400" i="1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사이트 해킹했다~ 신난다~ ”</a:t>
            </a:r>
            <a:endParaRPr lang="en-US" sz="2400" dirty="0"/>
          </a:p>
        </p:txBody>
      </p:sp>
      <p:sp>
        <p:nvSpPr>
          <p:cNvPr id="17" name="Text 13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20</a:t>
            </a:r>
            <a:endParaRPr lang="en-US" sz="900" dirty="0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84D0925B-5B03-1690-AFE3-E0100E352891}"/>
              </a:ext>
            </a:extLst>
          </p:cNvPr>
          <p:cNvSpPr/>
          <p:nvPr/>
        </p:nvSpPr>
        <p:spPr>
          <a:xfrm>
            <a:off x="670407" y="4459866"/>
            <a:ext cx="10881360" cy="6205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-&gt;</a:t>
            </a:r>
            <a:r>
              <a:rPr lang="ko-KR" alt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 학생들이 </a:t>
            </a:r>
            <a:r>
              <a:rPr lang="en-US" altLang="ko-KR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AI</a:t>
            </a:r>
            <a:r>
              <a:rPr lang="ko-KR" alt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로  사이트의 취약점을 분석하기 시작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2286000"/>
            <a:ext cx="1005840" cy="10058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3687" y="2416759"/>
            <a:ext cx="744322" cy="74432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35204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kern="0" spc="4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0" y="388620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공방전</a:t>
            </a: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ko-KR" alt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시작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20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1라운드 · 원인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Cambria" pitchFamily="34" charset="0"/>
              </a:rPr>
              <a:t>원인 </a:t>
            </a:r>
            <a:r>
              <a:rPr lang="en-US" altLang="ko-KR" sz="3000" b="1" dirty="0">
                <a:solidFill>
                  <a:srgbClr val="FFFFFF"/>
                </a:solidFill>
                <a:latin typeface="Cambria" pitchFamily="34" charset="0"/>
              </a:rPr>
              <a:t>: AI</a:t>
            </a:r>
            <a:r>
              <a:rPr lang="ko-KR" altLang="en-US" sz="3000" b="1" dirty="0" err="1">
                <a:solidFill>
                  <a:srgbClr val="FFFFFF"/>
                </a:solidFill>
                <a:latin typeface="Cambria" pitchFamily="34" charset="0"/>
              </a:rPr>
              <a:t>딸깍으로</a:t>
            </a:r>
            <a:r>
              <a:rPr lang="ko-KR" altLang="en-US" sz="3000" b="1" dirty="0">
                <a:solidFill>
                  <a:srgbClr val="FFFFFF"/>
                </a:solidFill>
                <a:latin typeface="Cambria" pitchFamily="34" charset="0"/>
              </a:rPr>
              <a:t> 만들고 검토 </a:t>
            </a:r>
            <a:r>
              <a:rPr lang="en-US" altLang="ko-KR" sz="3000" b="1" dirty="0">
                <a:solidFill>
                  <a:srgbClr val="FFFFFF"/>
                </a:solidFill>
                <a:latin typeface="Cambria" pitchFamily="34" charset="0"/>
              </a:rPr>
              <a:t>X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2331720" cy="2103120"/>
          </a:xfrm>
          <a:prstGeom prst="roundRect">
            <a:avLst>
              <a:gd name="adj" fmla="val 3478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85900" y="2697480"/>
            <a:ext cx="640080" cy="64008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9110" y="2780690"/>
            <a:ext cx="473659" cy="47365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34747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F12 개발자 도구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77240" y="39136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네트워크 탭에 요청이 그대로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026664" y="3429000"/>
            <a:ext cx="418490" cy="9144"/>
          </a:xfrm>
          <a:prstGeom prst="line">
            <a:avLst/>
          </a:prstGeom>
          <a:noFill/>
          <a:ln w="19050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3500018" y="2377440"/>
            <a:ext cx="2331720" cy="2103120"/>
          </a:xfrm>
          <a:prstGeom prst="roundRect">
            <a:avLst>
              <a:gd name="adj" fmla="val 3478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45838" y="2697480"/>
            <a:ext cx="640080" cy="64008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9049" y="2780690"/>
            <a:ext cx="473659" cy="47365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37178" y="34747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키·DB URL 노출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3637178" y="39136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설정이 코드에 그대로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5886602" y="3429000"/>
            <a:ext cx="418490" cy="9144"/>
          </a:xfrm>
          <a:prstGeom prst="line">
            <a:avLst/>
          </a:prstGeom>
          <a:noFill/>
          <a:ln w="19050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6359957" y="2377440"/>
            <a:ext cx="2331720" cy="2103120"/>
          </a:xfrm>
          <a:prstGeom prst="roundRect">
            <a:avLst>
              <a:gd name="adj" fmla="val 3478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205777" y="2697480"/>
            <a:ext cx="640080" cy="64008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8987" y="2780690"/>
            <a:ext cx="473659" cy="473659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497117" y="34747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전면 개방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97117" y="39136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누구나 읽고 쓸 수 있는 상태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8746541" y="3429000"/>
            <a:ext cx="418490" cy="9144"/>
          </a:xfrm>
          <a:prstGeom prst="line">
            <a:avLst/>
          </a:prstGeom>
          <a:noFill/>
          <a:ln w="19050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9219895" y="2377440"/>
            <a:ext cx="2331720" cy="2103120"/>
          </a:xfrm>
          <a:prstGeom prst="roundRect">
            <a:avLst>
              <a:gd name="adj" fmla="val 3478"/>
            </a:avLst>
          </a:prstGeom>
          <a:solidFill>
            <a:srgbClr val="3A0F17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10065715" y="2697480"/>
            <a:ext cx="640080" cy="640080"/>
          </a:xfrm>
          <a:prstGeom prst="ellipse">
            <a:avLst/>
          </a:prstGeom>
          <a:solidFill>
            <a:srgbClr val="3A0F17"/>
          </a:solidFill>
          <a:ln w="12700">
            <a:solidFill>
              <a:srgbClr val="3A0F17"/>
            </a:solidFill>
            <a:prstDash val="solid"/>
          </a:ln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48926" y="2780690"/>
            <a:ext cx="473659" cy="473659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9357055" y="34747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직접 접근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9357055" y="39136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학생이 Firebase에 곧장 기록</a:t>
            </a:r>
            <a:endParaRPr lang="en-US" sz="1050" dirty="0"/>
          </a:p>
        </p:txBody>
      </p:sp>
      <p:sp>
        <p:nvSpPr>
          <p:cNvPr id="27" name="Text 21"/>
          <p:cNvSpPr/>
          <p:nvPr/>
        </p:nvSpPr>
        <p:spPr>
          <a:xfrm>
            <a:off x="640080" y="5120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i="1" dirty="0" err="1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키값과</a:t>
            </a:r>
            <a:r>
              <a:rPr lang="ko-KR" altLang="en-US" sz="1500" i="1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altLang="ko-KR" sz="1500" i="1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r>
              <a:rPr lang="ko-KR" altLang="en-US" sz="1500" i="1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 </a:t>
            </a:r>
            <a:r>
              <a:rPr lang="ko-KR" altLang="en-US" sz="1500" i="1" dirty="0" err="1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열려있다는</a:t>
            </a:r>
            <a:r>
              <a:rPr lang="ko-KR" altLang="en-US" sz="1500" i="1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걸 알았지만</a:t>
            </a:r>
            <a:r>
              <a:rPr lang="en-US" altLang="ko-KR" sz="1500" i="1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ko-KR" altLang="en-US" sz="1500" i="1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학생들이 중학생이라서 이걸 이용할  수 있을 거라고 생각하지 못함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20</a:t>
            </a:r>
            <a:endParaRPr lang="en-US" sz="900" dirty="0"/>
          </a:p>
        </p:txBody>
      </p:sp>
      <p:sp>
        <p:nvSpPr>
          <p:cNvPr id="29" name="Text 1">
            <a:extLst>
              <a:ext uri="{FF2B5EF4-FFF2-40B4-BE49-F238E27FC236}">
                <a16:creationId xmlns:a16="http://schemas.microsoft.com/office/drawing/2014/main" id="{B2ABD2EB-45E1-4999-8040-041ED61881A5}"/>
              </a:ext>
            </a:extLst>
          </p:cNvPr>
          <p:cNvSpPr/>
          <p:nvPr/>
        </p:nvSpPr>
        <p:spPr>
          <a:xfrm>
            <a:off x="640080" y="1335024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altLang="ko-KR" sz="2000" b="1" dirty="0">
                <a:solidFill>
                  <a:srgbClr val="FFFFFF"/>
                </a:solidFill>
                <a:latin typeface="Cambria" pitchFamily="34" charset="0"/>
              </a:rPr>
              <a:t>Firebase API Key, </a:t>
            </a:r>
            <a:r>
              <a:rPr lang="ko-KR" altLang="en-US" sz="2000" b="1" dirty="0">
                <a:solidFill>
                  <a:srgbClr val="FFFFFF"/>
                </a:solidFill>
                <a:latin typeface="Cambria" pitchFamily="34" charset="0"/>
              </a:rPr>
              <a:t>데이터베이스 </a:t>
            </a:r>
            <a:r>
              <a:rPr lang="en-US" altLang="ko-KR" sz="2000" b="1" dirty="0">
                <a:solidFill>
                  <a:srgbClr val="FFFFFF"/>
                </a:solidFill>
                <a:latin typeface="Cambria" pitchFamily="34" charset="0"/>
              </a:rPr>
              <a:t>URL </a:t>
            </a:r>
            <a:r>
              <a:rPr lang="ko-KR" altLang="en-US" sz="2000" b="1" dirty="0">
                <a:solidFill>
                  <a:srgbClr val="FFFFFF"/>
                </a:solidFill>
                <a:latin typeface="Cambria" pitchFamily="34" charset="0"/>
              </a:rPr>
              <a:t>이 그대로 노출</a:t>
            </a:r>
            <a:endParaRPr lang="en-US" sz="2000" dirty="0"/>
          </a:p>
        </p:txBody>
      </p:sp>
      <p:sp>
        <p:nvSpPr>
          <p:cNvPr id="30" name="Text 21">
            <a:extLst>
              <a:ext uri="{FF2B5EF4-FFF2-40B4-BE49-F238E27FC236}">
                <a16:creationId xmlns:a16="http://schemas.microsoft.com/office/drawing/2014/main" id="{CCEEF16C-53A1-3182-17A9-39D157E85939}"/>
              </a:ext>
            </a:extLst>
          </p:cNvPr>
          <p:cNvSpPr/>
          <p:nvPr/>
        </p:nvSpPr>
        <p:spPr>
          <a:xfrm>
            <a:off x="640080" y="564184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i="1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상대는 나와 마찬가지로 </a:t>
            </a:r>
            <a:r>
              <a:rPr lang="en-US" altLang="ko-KR" sz="1500" i="1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r>
              <a:rPr lang="ko-KR" altLang="en-US" sz="1500" i="1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를 돌리고 있는데  학생들을 너무 과소평가했다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1라운드 · 방어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1차 방어 — 문을 두 개 달다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5227168" cy="3566160"/>
          </a:xfrm>
          <a:prstGeom prst="roundRect">
            <a:avLst>
              <a:gd name="adj" fmla="val 205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Shape 3"/>
          <p:cNvSpPr/>
          <p:nvPr/>
        </p:nvSpPr>
        <p:spPr>
          <a:xfrm>
            <a:off x="1005840" y="2423160"/>
            <a:ext cx="713232" cy="713232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8560" y="2515880"/>
            <a:ext cx="527792" cy="5277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74520" y="2468880"/>
            <a:ext cx="3672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Rules 강화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960120" y="3429000"/>
            <a:ext cx="4587088" cy="1737360"/>
          </a:xfrm>
          <a:prstGeom prst="roundRect">
            <a:avLst>
              <a:gd name="adj" fmla="val 4211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1143000" y="3538728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5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프롬프트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1163139" y="4433398"/>
            <a:ext cx="4221328" cy="461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Rules 수정해서 </a:t>
            </a:r>
            <a:r>
              <a:rPr lang="en-US" sz="1250" dirty="0" err="1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인증된</a:t>
            </a:r>
            <a:r>
              <a:rPr lang="en-US" sz="125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50" dirty="0" err="1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계정만</a:t>
            </a:r>
            <a:r>
              <a:rPr lang="en-US" sz="1250" dirty="0"/>
              <a:t> </a:t>
            </a:r>
            <a:r>
              <a:rPr lang="en-US" sz="1200" dirty="0" err="1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쓰기</a:t>
            </a:r>
            <a:r>
              <a:rPr lang="en-US" sz="12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허용하세요.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324448" y="2057400"/>
            <a:ext cx="5227168" cy="3566160"/>
          </a:xfrm>
          <a:prstGeom prst="roundRect">
            <a:avLst>
              <a:gd name="adj" fmla="val 205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690208" y="2423160"/>
            <a:ext cx="713232" cy="713232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2928" y="2515880"/>
            <a:ext cx="527792" cy="52779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558888" y="2468880"/>
            <a:ext cx="3672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Worker 중계서버</a:t>
            </a:r>
            <a:endParaRPr lang="en-US" sz="1650" dirty="0"/>
          </a:p>
        </p:txBody>
      </p:sp>
      <p:sp>
        <p:nvSpPr>
          <p:cNvPr id="15" name="Shape 11"/>
          <p:cNvSpPr/>
          <p:nvPr/>
        </p:nvSpPr>
        <p:spPr>
          <a:xfrm>
            <a:off x="6644488" y="3429000"/>
            <a:ext cx="4587088" cy="1737360"/>
          </a:xfrm>
          <a:prstGeom prst="roundRect">
            <a:avLst>
              <a:gd name="adj" fmla="val 4211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6827368" y="3538728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5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프롬프트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6827368" y="4434200"/>
            <a:ext cx="4221328" cy="622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 여부·중복 </a:t>
            </a:r>
            <a:r>
              <a:rPr lang="en-US" sz="1250" dirty="0" err="1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예매</a:t>
            </a:r>
            <a:r>
              <a:rPr lang="en-US" sz="125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50" dirty="0" err="1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여부를</a:t>
            </a:r>
            <a:r>
              <a:rPr lang="en-US" sz="1250" dirty="0"/>
              <a:t> </a:t>
            </a:r>
            <a:r>
              <a:rPr lang="en-US" sz="1250" dirty="0" err="1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점검한</a:t>
            </a:r>
            <a:r>
              <a:rPr lang="en-US" sz="125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뒤 DB에 요청하세요.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20</a:t>
            </a:r>
            <a:endParaRPr lang="en-US" sz="900" dirty="0"/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616FA455-98AD-5F20-0A15-FC869B1CAD90}"/>
              </a:ext>
            </a:extLst>
          </p:cNvPr>
          <p:cNvSpPr/>
          <p:nvPr/>
        </p:nvSpPr>
        <p:spPr>
          <a:xfrm>
            <a:off x="1163139" y="3953739"/>
            <a:ext cx="4176888" cy="338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r>
              <a:rPr lang="ko-KR" altLang="en-US" sz="12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야 </a:t>
            </a:r>
            <a:r>
              <a:rPr lang="en-US" altLang="ko-KR" sz="12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</a:t>
            </a:r>
            <a:r>
              <a:rPr lang="ko-KR" altLang="en-US" sz="12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눌렀는데도 마음대로 바꾸는 학생들을 방어해줘</a:t>
            </a:r>
            <a:r>
              <a:rPr lang="en-US" altLang="ko-KR" sz="12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20" name="Text 4">
            <a:extLst>
              <a:ext uri="{FF2B5EF4-FFF2-40B4-BE49-F238E27FC236}">
                <a16:creationId xmlns:a16="http://schemas.microsoft.com/office/drawing/2014/main" id="{379A9225-2ED3-EE18-1B22-EB3065DB9013}"/>
              </a:ext>
            </a:extLst>
          </p:cNvPr>
          <p:cNvSpPr/>
          <p:nvPr/>
        </p:nvSpPr>
        <p:spPr>
          <a:xfrm>
            <a:off x="6827368" y="3837592"/>
            <a:ext cx="44042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r>
              <a:rPr lang="ko-KR" altLang="en-US" sz="12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야</a:t>
            </a:r>
            <a:r>
              <a:rPr lang="en-US" altLang="ko-KR" sz="12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ko-KR" altLang="en-US" sz="12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다른 학생이 예매한 자리를 마음대로 덮어쓰는 학생을 방어해줘</a:t>
            </a:r>
            <a:r>
              <a:rPr lang="en-US" altLang="ko-KR" sz="12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55448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3000" i="1" dirty="0">
                <a:solidFill>
                  <a:srgbClr val="6E96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 야 니들 다시 </a:t>
            </a:r>
            <a:r>
              <a:rPr lang="en-US" sz="3000" i="1" dirty="0" err="1">
                <a:solidFill>
                  <a:srgbClr val="6E96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해봐</a:t>
            </a:r>
            <a:r>
              <a:rPr lang="en-US" sz="3000" i="1" dirty="0">
                <a:solidFill>
                  <a:srgbClr val="6E96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r>
              <a:rPr lang="en-US" sz="3000" dirty="0"/>
              <a:t> </a:t>
            </a:r>
            <a:r>
              <a:rPr lang="en-US" sz="3000" i="1" dirty="0" err="1">
                <a:solidFill>
                  <a:srgbClr val="6E96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내가</a:t>
            </a:r>
            <a:r>
              <a:rPr lang="en-US" sz="3000" i="1" dirty="0">
                <a:solidFill>
                  <a:srgbClr val="6E96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다 막아놨다. ”(</a:t>
            </a:r>
            <a:r>
              <a:rPr lang="ko-KR" altLang="en-US" sz="3000" i="1" dirty="0">
                <a:solidFill>
                  <a:srgbClr val="6E96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의기양양</a:t>
            </a:r>
            <a:r>
              <a:rPr lang="en-US" altLang="ko-KR" sz="3000" i="1" dirty="0">
                <a:solidFill>
                  <a:srgbClr val="6E96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3566160"/>
            <a:ext cx="822960" cy="822960"/>
          </a:xfrm>
          <a:prstGeom prst="ellipse">
            <a:avLst/>
          </a:prstGeom>
          <a:solidFill>
            <a:srgbClr val="3A0F17"/>
          </a:solidFill>
          <a:ln w="12700">
            <a:solidFill>
              <a:srgbClr val="3A0F17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065" y="3673145"/>
            <a:ext cx="608990" cy="60899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737359" y="3611880"/>
            <a:ext cx="872209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또 </a:t>
            </a:r>
            <a:r>
              <a:rPr lang="en-US" sz="4400" b="1" dirty="0" err="1">
                <a:solidFill>
                  <a:srgbClr val="FF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뚫림</a:t>
            </a:r>
            <a:r>
              <a:rPr lang="en-US" sz="4400" b="1" dirty="0">
                <a:solidFill>
                  <a:srgbClr val="FF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</a:t>
            </a:r>
            <a:r>
              <a:rPr lang="ko-KR" altLang="en-US" sz="4400" b="1" dirty="0">
                <a:solidFill>
                  <a:srgbClr val="FF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학생들은 여전히 마음대로 예매하고 예매 </a:t>
            </a:r>
            <a:r>
              <a:rPr lang="ko-KR" altLang="en-US" sz="4400" b="1" dirty="0" err="1">
                <a:solidFill>
                  <a:srgbClr val="FF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덮어쓰기중</a:t>
            </a:r>
            <a:r>
              <a:rPr lang="en-US" altLang="ko-KR" sz="4400" b="1" dirty="0">
                <a:solidFill>
                  <a:srgbClr val="FF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…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640080" y="5111015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의기양양했던 것도 잠시 — </a:t>
            </a:r>
            <a:r>
              <a:rPr lang="en-US" sz="150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방어에는</a:t>
            </a:r>
            <a:r>
              <a:rPr lang="en-US" sz="15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허점이 있었다.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2라운드 · 원인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사실 아까 </a:t>
            </a:r>
            <a:r>
              <a:rPr lang="en-US" altLang="ko-KR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</a:t>
            </a:r>
            <a:r>
              <a:rPr lang="ko-KR" alt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에게 받은 해결책에는 허점이 존재</a:t>
            </a:r>
            <a:endParaRPr lang="en-US" sz="3000" dirty="0"/>
          </a:p>
        </p:txBody>
      </p:sp>
      <p:sp>
        <p:nvSpPr>
          <p:cNvPr id="20" name="Text 15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20</a:t>
            </a:r>
            <a:endParaRPr lang="en-US" sz="900" dirty="0"/>
          </a:p>
        </p:txBody>
      </p:sp>
      <p:sp>
        <p:nvSpPr>
          <p:cNvPr id="21" name="Text 1">
            <a:extLst>
              <a:ext uri="{FF2B5EF4-FFF2-40B4-BE49-F238E27FC236}">
                <a16:creationId xmlns:a16="http://schemas.microsoft.com/office/drawing/2014/main" id="{ED218C54-B88C-44AB-1913-244AADEE1232}"/>
              </a:ext>
            </a:extLst>
          </p:cNvPr>
          <p:cNvSpPr/>
          <p:nvPr/>
        </p:nvSpPr>
        <p:spPr>
          <a:xfrm>
            <a:off x="640080" y="1610307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altLang="ko-KR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</a:t>
            </a:r>
            <a:r>
              <a:rPr lang="ko-KR" alt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 준 해결책</a:t>
            </a:r>
            <a:r>
              <a:rPr lang="en-US" altLang="ko-KR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Firebase rules </a:t>
            </a:r>
            <a:r>
              <a:rPr lang="ko-KR" alt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수정해서 인증된 계정만 쓰기 허용하세요 </a:t>
            </a:r>
          </a:p>
        </p:txBody>
      </p:sp>
      <p:sp>
        <p:nvSpPr>
          <p:cNvPr id="22" name="Text 1">
            <a:extLst>
              <a:ext uri="{FF2B5EF4-FFF2-40B4-BE49-F238E27FC236}">
                <a16:creationId xmlns:a16="http://schemas.microsoft.com/office/drawing/2014/main" id="{32BB3750-74BB-FC41-D576-323E14CB1EE5}"/>
              </a:ext>
            </a:extLst>
          </p:cNvPr>
          <p:cNvSpPr/>
          <p:nvPr/>
        </p:nvSpPr>
        <p:spPr>
          <a:xfrm>
            <a:off x="640080" y="2483318"/>
            <a:ext cx="10881360" cy="6010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2000" b="1" dirty="0">
                <a:solidFill>
                  <a:srgbClr val="10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학생이 찾은 </a:t>
            </a:r>
            <a:r>
              <a:rPr lang="ko-KR" altLang="en-US" sz="2000" b="1" dirty="0" err="1">
                <a:solidFill>
                  <a:srgbClr val="10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파훼법</a:t>
            </a:r>
            <a:r>
              <a:rPr lang="en-US" altLang="ko-KR" sz="2000" b="1" dirty="0">
                <a:solidFill>
                  <a:srgbClr val="10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: Firebase </a:t>
            </a:r>
            <a:r>
              <a:rPr lang="ko-KR" altLang="en-US" sz="2000" b="1" dirty="0">
                <a:solidFill>
                  <a:srgbClr val="10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새로운 계정 만들고 그 계정으로 요청하면 그만이야</a:t>
            </a:r>
            <a:r>
              <a:rPr lang="en-US" altLang="ko-KR" sz="2000" b="1" dirty="0">
                <a:solidFill>
                  <a:srgbClr val="10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altLang="ko-KR" sz="2000" b="1" dirty="0">
                <a:solidFill>
                  <a:srgbClr val="10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                                     </a:t>
            </a:r>
            <a:r>
              <a:rPr lang="ko-KR" altLang="en-US" sz="2000" b="1" dirty="0">
                <a:solidFill>
                  <a:srgbClr val="10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아직 신규 가입 </a:t>
            </a:r>
            <a:r>
              <a:rPr lang="ko-KR" altLang="en-US" sz="2000" b="1" dirty="0" err="1">
                <a:solidFill>
                  <a:srgbClr val="10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안막혀있어</a:t>
            </a:r>
            <a:endParaRPr lang="en-US" altLang="ko-KR" sz="2000" b="1" dirty="0">
              <a:solidFill>
                <a:srgbClr val="107825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  <p:sp>
        <p:nvSpPr>
          <p:cNvPr id="23" name="Text 1">
            <a:extLst>
              <a:ext uri="{FF2B5EF4-FFF2-40B4-BE49-F238E27FC236}">
                <a16:creationId xmlns:a16="http://schemas.microsoft.com/office/drawing/2014/main" id="{EEF012E7-A611-C075-B67A-83C6CA74351B}"/>
              </a:ext>
            </a:extLst>
          </p:cNvPr>
          <p:cNvSpPr/>
          <p:nvPr/>
        </p:nvSpPr>
        <p:spPr>
          <a:xfrm>
            <a:off x="640080" y="3300343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altLang="ko-KR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</a:t>
            </a:r>
            <a:r>
              <a:rPr lang="ko-KR" alt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 준 해결책</a:t>
            </a:r>
            <a:r>
              <a:rPr lang="en-US" altLang="ko-KR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</a:t>
            </a:r>
            <a:r>
              <a:rPr lang="en-US" altLang="ko-KR" sz="2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cloudfare</a:t>
            </a:r>
            <a:r>
              <a:rPr lang="en-US" altLang="ko-KR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worker </a:t>
            </a:r>
            <a:r>
              <a:rPr lang="ko-KR" alt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중계서버를 두세요</a:t>
            </a:r>
          </a:p>
        </p:txBody>
      </p:sp>
      <p:sp>
        <p:nvSpPr>
          <p:cNvPr id="24" name="Text 1">
            <a:extLst>
              <a:ext uri="{FF2B5EF4-FFF2-40B4-BE49-F238E27FC236}">
                <a16:creationId xmlns:a16="http://schemas.microsoft.com/office/drawing/2014/main" id="{568D4E4E-6465-8C38-B0C9-BFDA1337FAD4}"/>
              </a:ext>
            </a:extLst>
          </p:cNvPr>
          <p:cNvSpPr/>
          <p:nvPr/>
        </p:nvSpPr>
        <p:spPr>
          <a:xfrm>
            <a:off x="640080" y="4173354"/>
            <a:ext cx="10881360" cy="6010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2000" b="1" dirty="0">
                <a:solidFill>
                  <a:srgbClr val="10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학생이 찾은 </a:t>
            </a:r>
            <a:r>
              <a:rPr lang="ko-KR" altLang="en-US" sz="2000" b="1" dirty="0" err="1">
                <a:solidFill>
                  <a:srgbClr val="10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파훼법</a:t>
            </a:r>
            <a:r>
              <a:rPr lang="en-US" altLang="ko-KR" sz="2000" b="1" dirty="0">
                <a:solidFill>
                  <a:srgbClr val="10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: </a:t>
            </a:r>
            <a:r>
              <a:rPr lang="ko-KR" altLang="en-US" sz="2000" b="1" dirty="0">
                <a:solidFill>
                  <a:srgbClr val="10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어</a:t>
            </a:r>
            <a:r>
              <a:rPr lang="en-US" altLang="ko-KR" sz="2000" b="1" dirty="0">
                <a:solidFill>
                  <a:srgbClr val="10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!? </a:t>
            </a:r>
            <a:r>
              <a:rPr lang="ko-KR" altLang="en-US" sz="2000" b="1" dirty="0">
                <a:solidFill>
                  <a:srgbClr val="10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기존 경로를 막지 않고 그냥 </a:t>
            </a:r>
            <a:r>
              <a:rPr lang="en-US" altLang="ko-KR" sz="2000" b="1" dirty="0">
                <a:solidFill>
                  <a:srgbClr val="10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worker </a:t>
            </a:r>
            <a:r>
              <a:rPr lang="ko-KR" altLang="en-US" sz="2000" b="1" dirty="0">
                <a:solidFill>
                  <a:srgbClr val="10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중계서버 경로만 추가했네</a:t>
            </a:r>
            <a:r>
              <a:rPr lang="en-US" altLang="ko-KR" sz="2000" b="1" dirty="0">
                <a:solidFill>
                  <a:srgbClr val="10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altLang="ko-KR" sz="2000" b="1" dirty="0">
                <a:solidFill>
                  <a:srgbClr val="10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                                      </a:t>
            </a:r>
            <a:r>
              <a:rPr lang="ko-KR" altLang="en-US" sz="2000" b="1" dirty="0">
                <a:solidFill>
                  <a:srgbClr val="10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그럼 그냥 </a:t>
            </a:r>
            <a:r>
              <a:rPr lang="en-US" altLang="ko-KR" sz="2000" b="1" dirty="0">
                <a:solidFill>
                  <a:srgbClr val="10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worker </a:t>
            </a:r>
            <a:r>
              <a:rPr lang="ko-KR" altLang="en-US" sz="2000" b="1" dirty="0">
                <a:solidFill>
                  <a:srgbClr val="10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서버 안거치면 그만이야</a:t>
            </a:r>
            <a:r>
              <a:rPr lang="en-US" altLang="ko-KR" sz="2000" b="1" dirty="0">
                <a:solidFill>
                  <a:srgbClr val="10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</a:p>
          <a:p>
            <a:pPr marL="0" indent="0">
              <a:lnSpc>
                <a:spcPct val="105000"/>
              </a:lnSpc>
              <a:buNone/>
            </a:pPr>
            <a:endParaRPr lang="en-US" altLang="ko-KR" sz="2000" b="1" dirty="0">
              <a:solidFill>
                <a:srgbClr val="107825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2라운드 · 방어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2차 방어 — 경로를 하나로 좁히다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911535" cy="1508760"/>
          </a:xfrm>
          <a:prstGeom prst="roundRect">
            <a:avLst>
              <a:gd name="adj" fmla="val 4848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240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5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프롬프트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960120" y="2944368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: Firebase 신규 가입을 완전 차단하고, DB 접근 경로를 Worker 하나로만 가능하게 하세요.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977640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3A0F17"/>
          </a:solidFill>
          <a:ln w="12700">
            <a:solidFill>
              <a:srgbClr val="FF3B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9776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신규 회원가입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892040" y="4233672"/>
            <a:ext cx="594360" cy="182880"/>
          </a:xfrm>
          <a:prstGeom prst="line">
            <a:avLst/>
          </a:prstGeom>
          <a:noFill/>
          <a:ln w="15875">
            <a:solidFill>
              <a:srgbClr val="FF3B5C"/>
            </a:solidFill>
            <a:prstDash val="dash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40080" y="4663440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3A0F17"/>
          </a:solidFill>
          <a:ln w="12700">
            <a:solidFill>
              <a:srgbClr val="FF3B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6634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기존 비-admin 계정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 flipV="1">
            <a:off x="4892040" y="4416552"/>
            <a:ext cx="594360" cy="502920"/>
          </a:xfrm>
          <a:prstGeom prst="line">
            <a:avLst/>
          </a:prstGeom>
          <a:noFill/>
          <a:ln w="15875">
            <a:solidFill>
              <a:srgbClr val="FF3B5C"/>
            </a:solidFill>
            <a:prstDash val="dash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40080" y="5349240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0E4419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53492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F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Worker (admin 시크릿)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 flipV="1">
            <a:off x="4892040" y="4160520"/>
            <a:ext cx="2971800" cy="1444752"/>
          </a:xfrm>
          <a:prstGeom prst="line">
            <a:avLst/>
          </a:prstGeom>
          <a:noFill/>
          <a:ln w="22225">
            <a:solidFill>
              <a:srgbClr val="00FF41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955280" y="3703320"/>
            <a:ext cx="3566160" cy="914400"/>
          </a:xfrm>
          <a:prstGeom prst="roundRect">
            <a:avLst>
              <a:gd name="adj" fmla="val 8000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83880" y="3886200"/>
            <a:ext cx="548640" cy="5486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203" y="3957523"/>
            <a:ext cx="405994" cy="405994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8869680" y="38862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DB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20</a:t>
            </a:r>
            <a:endParaRPr lang="en-US" sz="900" dirty="0"/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422D272E-8DBE-0C44-9D9D-E5649AFD9BFF}"/>
              </a:ext>
            </a:extLst>
          </p:cNvPr>
          <p:cNvSpPr/>
          <p:nvPr/>
        </p:nvSpPr>
        <p:spPr>
          <a:xfrm>
            <a:off x="945032" y="2502825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ko-KR" altLang="en-US" sz="1400" dirty="0" err="1">
                <a:solidFill>
                  <a:schemeClr val="bg1"/>
                </a:solidFill>
                <a:latin typeface="Courier New" pitchFamily="34" charset="0"/>
                <a:cs typeface="Courier New" pitchFamily="34" charset="-120"/>
              </a:rPr>
              <a:t>정보쌤</a:t>
            </a:r>
            <a:r>
              <a:rPr lang="ko-KR" altLang="en-US" sz="1400" dirty="0">
                <a:solidFill>
                  <a:schemeClr val="bg1"/>
                </a:solidFill>
                <a:latin typeface="Courier New" pitchFamily="34" charset="0"/>
                <a:cs typeface="Courier New" pitchFamily="34" charset="-120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Courier New" pitchFamily="34" charset="0"/>
                <a:cs typeface="Courier New" pitchFamily="34" charset="-120"/>
              </a:rPr>
              <a:t>: </a:t>
            </a:r>
            <a:r>
              <a:rPr lang="ko-KR" altLang="en-US" sz="1400" dirty="0">
                <a:solidFill>
                  <a:schemeClr val="bg1"/>
                </a:solidFill>
                <a:latin typeface="Courier New" pitchFamily="34" charset="0"/>
                <a:cs typeface="Courier New" pitchFamily="34" charset="-120"/>
              </a:rPr>
              <a:t>야 이거 아까 너가 </a:t>
            </a:r>
            <a:r>
              <a:rPr lang="ko-KR" altLang="en-US" sz="1400" dirty="0" err="1">
                <a:solidFill>
                  <a:schemeClr val="bg1"/>
                </a:solidFill>
                <a:latin typeface="Courier New" pitchFamily="34" charset="0"/>
                <a:cs typeface="Courier New" pitchFamily="34" charset="-120"/>
              </a:rPr>
              <a:t>하란대로</a:t>
            </a:r>
            <a:r>
              <a:rPr lang="ko-KR" altLang="en-US" sz="1400" dirty="0">
                <a:solidFill>
                  <a:schemeClr val="bg1"/>
                </a:solidFill>
                <a:latin typeface="Courier New" pitchFamily="34" charset="0"/>
                <a:cs typeface="Courier New" pitchFamily="34" charset="-120"/>
              </a:rPr>
              <a:t> 하라고 해서 했는데 다 뚫려</a:t>
            </a:r>
            <a:r>
              <a:rPr lang="en-US" altLang="ko-KR" sz="1400" dirty="0">
                <a:solidFill>
                  <a:schemeClr val="bg1"/>
                </a:solidFill>
                <a:latin typeface="Courier New" pitchFamily="34" charset="0"/>
                <a:cs typeface="Courier New" pitchFamily="34" charset="-120"/>
              </a:rPr>
              <a:t>, </a:t>
            </a:r>
            <a:r>
              <a:rPr lang="ko-KR" altLang="en-US" sz="1400" dirty="0">
                <a:solidFill>
                  <a:schemeClr val="bg1"/>
                </a:solidFill>
                <a:latin typeface="Courier New" pitchFamily="34" charset="0"/>
                <a:cs typeface="Courier New" pitchFamily="34" charset="-120"/>
              </a:rPr>
              <a:t>해결책 다시 알려줘</a:t>
            </a:r>
            <a:r>
              <a:rPr lang="en-US" altLang="ko-KR" sz="1400" dirty="0">
                <a:solidFill>
                  <a:schemeClr val="bg1"/>
                </a:solidFill>
                <a:latin typeface="Courier New" pitchFamily="34" charset="0"/>
                <a:cs typeface="Courier New" pitchFamily="34" charset="-120"/>
              </a:rPr>
              <a:t>.</a:t>
            </a:r>
            <a:endParaRPr lang="en-US" sz="1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55448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“ 야 </a:t>
            </a:r>
            <a:r>
              <a:rPr lang="ko-KR" altLang="en-US" sz="3000" i="1" dirty="0">
                <a:solidFill>
                  <a:srgbClr val="6E96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다시 해봐</a:t>
            </a:r>
            <a:r>
              <a:rPr lang="en-US" altLang="ko-KR" sz="3000" i="1" dirty="0">
                <a:solidFill>
                  <a:srgbClr val="6E96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</a:t>
            </a:r>
            <a:r>
              <a:rPr lang="ko-KR" altLang="en-US" sz="3000" i="1" dirty="0">
                <a:solidFill>
                  <a:srgbClr val="6E96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이제 너네 절대 </a:t>
            </a:r>
            <a:r>
              <a:rPr lang="ko-KR" altLang="en-US" sz="3000" i="1" dirty="0" err="1">
                <a:solidFill>
                  <a:srgbClr val="6E96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못뚫어</a:t>
            </a: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. ”(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의기양양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2)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Text 2"/>
          <p:cNvSpPr/>
          <p:nvPr/>
        </p:nvSpPr>
        <p:spPr>
          <a:xfrm>
            <a:off x="724605" y="2895905"/>
            <a:ext cx="872209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400" b="1" i="0" u="none" strike="noStrike" kern="1200" cap="none" spc="0" normalizeH="0" baseline="0" noProof="0" dirty="0">
                <a:ln>
                  <a:noFill/>
                </a:ln>
                <a:solidFill>
                  <a:srgbClr val="FF3B5C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r>
              <a:rPr kumimoji="0" lang="ko-KR" alt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3B5C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네</a:t>
            </a:r>
            <a:r>
              <a:rPr kumimoji="0" lang="en-US" altLang="ko-KR" sz="4400" b="1" i="0" u="none" strike="noStrike" kern="1200" cap="none" spc="0" normalizeH="0" baseline="0" noProof="0" dirty="0">
                <a:ln>
                  <a:noFill/>
                </a:ln>
                <a:solidFill>
                  <a:srgbClr val="FF3B5C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, </a:t>
            </a:r>
            <a:r>
              <a:rPr kumimoji="0" lang="ko-KR" altLang="en-US" sz="4400" b="1" i="0" u="none" strike="noStrike" kern="1200" cap="none" spc="0" normalizeH="0" baseline="0" noProof="0" dirty="0" err="1">
                <a:ln>
                  <a:noFill/>
                </a:ln>
                <a:solidFill>
                  <a:srgbClr val="FF3B5C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뚫을게요</a:t>
            </a:r>
            <a:r>
              <a:rPr kumimoji="0" lang="en-US" altLang="ko-KR" sz="4400" b="1" i="0" u="none" strike="noStrike" kern="1200" cap="none" spc="0" normalizeH="0" baseline="0" noProof="0" dirty="0">
                <a:ln>
                  <a:noFill/>
                </a:ln>
                <a:solidFill>
                  <a:srgbClr val="FF3B5C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.”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Text 3"/>
          <p:cNvSpPr/>
          <p:nvPr/>
        </p:nvSpPr>
        <p:spPr>
          <a:xfrm>
            <a:off x="640080" y="4084625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예매 덮어쓰기와 </a:t>
            </a:r>
            <a:r>
              <a:rPr kumimoji="0" lang="en-US" altLang="ko-KR" sz="15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START/STOP </a:t>
            </a:r>
            <a:r>
              <a:rPr lang="ko-KR" altLang="en-US" sz="15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를 마음대로  제어는 성공적으로 방어에 성공</a:t>
            </a:r>
            <a:endParaRPr lang="en-US" altLang="ko-KR" sz="1500" dirty="0">
              <a:solidFill>
                <a:srgbClr val="E9F7E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7" name="Text 4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F1EB44A3-0D8B-0A0E-0B62-E5EA15E078F7}"/>
              </a:ext>
            </a:extLst>
          </p:cNvPr>
          <p:cNvSpPr/>
          <p:nvPr/>
        </p:nvSpPr>
        <p:spPr>
          <a:xfrm>
            <a:off x="640080" y="455737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5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선생님 승리인 줄 알았으나 다른 문제 발생</a:t>
            </a:r>
            <a:r>
              <a:rPr lang="en-US" altLang="ko-KR" sz="15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4757431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3라운드 · 공략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altLang="ko-KR" sz="3000" b="1" dirty="0">
                <a:solidFill>
                  <a:srgbClr val="FFFFFF"/>
                </a:solidFill>
                <a:latin typeface="Cambria" pitchFamily="34" charset="0"/>
              </a:rPr>
              <a:t>3</a:t>
            </a:r>
            <a:r>
              <a:rPr lang="ko-KR" altLang="en-US" sz="3000" b="1" dirty="0">
                <a:solidFill>
                  <a:srgbClr val="FFFFFF"/>
                </a:solidFill>
                <a:latin typeface="Cambria" pitchFamily="34" charset="0"/>
              </a:rPr>
              <a:t>라운드</a:t>
            </a:r>
            <a:r>
              <a:rPr lang="en-US" altLang="ko-KR" sz="3000" b="1" dirty="0">
                <a:solidFill>
                  <a:srgbClr val="FFFFFF"/>
                </a:solidFill>
                <a:latin typeface="Cambria" pitchFamily="34" charset="0"/>
              </a:rPr>
              <a:t>. </a:t>
            </a:r>
            <a:r>
              <a:rPr lang="ko-KR" altLang="en-US" sz="3000" b="1" dirty="0">
                <a:solidFill>
                  <a:srgbClr val="FFFFFF"/>
                </a:solidFill>
                <a:latin typeface="Cambria" pitchFamily="34" charset="0"/>
              </a:rPr>
              <a:t>학생들의 예매 속도가 너무나도 빠르다</a:t>
            </a:r>
            <a:r>
              <a:rPr lang="en-US" altLang="ko-KR" sz="3000" b="1" dirty="0">
                <a:solidFill>
                  <a:srgbClr val="FFFFFF"/>
                </a:solidFill>
                <a:latin typeface="Cambria" pitchFamily="34" charset="0"/>
              </a:rPr>
              <a:t>…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4688738" y="2514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19" name="Text 15"/>
          <p:cNvSpPr/>
          <p:nvPr/>
        </p:nvSpPr>
        <p:spPr>
          <a:xfrm>
            <a:off x="8463077" y="2514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25" name="Text 20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20</a:t>
            </a:r>
            <a:endParaRPr lang="en-US" sz="900" dirty="0"/>
          </a:p>
        </p:txBody>
      </p:sp>
      <p:sp>
        <p:nvSpPr>
          <p:cNvPr id="26" name="Text 1">
            <a:extLst>
              <a:ext uri="{FF2B5EF4-FFF2-40B4-BE49-F238E27FC236}">
                <a16:creationId xmlns:a16="http://schemas.microsoft.com/office/drawing/2014/main" id="{30755024-5928-F573-622E-51DE318C0792}"/>
              </a:ext>
            </a:extLst>
          </p:cNvPr>
          <p:cNvSpPr/>
          <p:nvPr/>
        </p:nvSpPr>
        <p:spPr>
          <a:xfrm>
            <a:off x="640080" y="2260334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Cambria" pitchFamily="34" charset="0"/>
              </a:rPr>
              <a:t>학생 </a:t>
            </a:r>
            <a:r>
              <a:rPr lang="en-US" altLang="ko-KR" sz="2400" b="1" dirty="0">
                <a:solidFill>
                  <a:srgbClr val="FFFFFF"/>
                </a:solidFill>
                <a:latin typeface="Cambria" pitchFamily="34" charset="0"/>
              </a:rPr>
              <a:t>: </a:t>
            </a:r>
            <a:r>
              <a:rPr lang="ko-KR" altLang="en-US" sz="2400" b="1" dirty="0">
                <a:solidFill>
                  <a:srgbClr val="FFFFFF"/>
                </a:solidFill>
                <a:latin typeface="Cambria" pitchFamily="34" charset="0"/>
              </a:rPr>
              <a:t>어</a:t>
            </a:r>
            <a:r>
              <a:rPr lang="en-US" altLang="ko-KR" sz="2400" b="1" dirty="0">
                <a:solidFill>
                  <a:srgbClr val="FFFFFF"/>
                </a:solidFill>
                <a:latin typeface="Cambria" pitchFamily="34" charset="0"/>
              </a:rPr>
              <a:t>!?</a:t>
            </a:r>
            <a:r>
              <a:rPr lang="ko-KR" altLang="en-US" sz="2400" b="1" dirty="0">
                <a:solidFill>
                  <a:srgbClr val="FFFFFF"/>
                </a:solidFill>
                <a:latin typeface="Cambria" pitchFamily="34" charset="0"/>
              </a:rPr>
              <a:t> 진짜로 이전 방법들은 다 막혔네</a:t>
            </a:r>
            <a:r>
              <a:rPr lang="en-US" altLang="ko-KR" sz="2400" b="1" dirty="0">
                <a:solidFill>
                  <a:srgbClr val="FFFFFF"/>
                </a:solidFill>
                <a:latin typeface="Cambria" pitchFamily="34" charset="0"/>
              </a:rPr>
              <a:t>? </a:t>
            </a:r>
            <a:r>
              <a:rPr lang="ko-KR" altLang="en-US" sz="2400" b="1" dirty="0">
                <a:solidFill>
                  <a:srgbClr val="FFFFFF"/>
                </a:solidFill>
                <a:latin typeface="Cambria" pitchFamily="34" charset="0"/>
              </a:rPr>
              <a:t>그럼 다른 방법 쓰면 돼</a:t>
            </a:r>
            <a:r>
              <a:rPr lang="en-US" altLang="ko-KR" sz="2400" b="1" dirty="0">
                <a:solidFill>
                  <a:srgbClr val="FFFFFF"/>
                </a:solidFill>
                <a:latin typeface="Cambria" pitchFamily="34" charset="0"/>
              </a:rPr>
              <a:t>.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</a:rPr>
              <a:t>             </a:t>
            </a:r>
            <a:r>
              <a:rPr lang="ko-KR" altLang="en-US" sz="2400" b="1" dirty="0">
                <a:solidFill>
                  <a:srgbClr val="FFFFFF"/>
                </a:solidFill>
                <a:latin typeface="Cambria" pitchFamily="34" charset="0"/>
              </a:rPr>
              <a:t>한번에 예매 요청 천개 동시에 해버리면 그만이야</a:t>
            </a:r>
            <a:r>
              <a:rPr lang="en-US" altLang="ko-KR" sz="3000" b="1" dirty="0">
                <a:solidFill>
                  <a:srgbClr val="FFFFFF"/>
                </a:solidFill>
                <a:latin typeface="Cambria" pitchFamily="34" charset="0"/>
              </a:rPr>
              <a:t>.</a:t>
            </a:r>
            <a:endParaRPr lang="en-US" sz="3000" dirty="0"/>
          </a:p>
        </p:txBody>
      </p:sp>
      <p:sp>
        <p:nvSpPr>
          <p:cNvPr id="27" name="Text 1">
            <a:extLst>
              <a:ext uri="{FF2B5EF4-FFF2-40B4-BE49-F238E27FC236}">
                <a16:creationId xmlns:a16="http://schemas.microsoft.com/office/drawing/2014/main" id="{60978616-3C3C-FBD4-4CD3-9A1BAD7C209B}"/>
              </a:ext>
            </a:extLst>
          </p:cNvPr>
          <p:cNvSpPr/>
          <p:nvPr/>
        </p:nvSpPr>
        <p:spPr>
          <a:xfrm>
            <a:off x="640080" y="3383281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altLang="ko-KR" sz="2400" b="1" dirty="0">
                <a:solidFill>
                  <a:srgbClr val="14A432"/>
                </a:solidFill>
                <a:latin typeface="Cambria" pitchFamily="34" charset="0"/>
              </a:rPr>
              <a:t>-&gt; Start  </a:t>
            </a:r>
            <a:r>
              <a:rPr lang="ko-KR" altLang="en-US" sz="2400" b="1" dirty="0">
                <a:solidFill>
                  <a:srgbClr val="14A432"/>
                </a:solidFill>
                <a:latin typeface="Cambria" pitchFamily="34" charset="0"/>
              </a:rPr>
              <a:t>누르자마자 한명이 </a:t>
            </a:r>
            <a:r>
              <a:rPr lang="en-US" altLang="ko-KR" sz="2400" b="1" dirty="0">
                <a:solidFill>
                  <a:srgbClr val="14A432"/>
                </a:solidFill>
                <a:latin typeface="Cambria" pitchFamily="34" charset="0"/>
              </a:rPr>
              <a:t>1</a:t>
            </a:r>
            <a:r>
              <a:rPr lang="ko-KR" altLang="en-US" sz="2400" b="1" dirty="0">
                <a:solidFill>
                  <a:srgbClr val="14A432"/>
                </a:solidFill>
                <a:latin typeface="Cambria" pitchFamily="34" charset="0"/>
              </a:rPr>
              <a:t>천개 동시에 순식간에 예매</a:t>
            </a:r>
            <a:r>
              <a:rPr lang="en-US" altLang="ko-KR" sz="2400" b="1" dirty="0">
                <a:solidFill>
                  <a:srgbClr val="14A432"/>
                </a:solidFill>
                <a:latin typeface="Cambria" pitchFamily="34" charset="0"/>
              </a:rPr>
              <a:t>…</a:t>
            </a:r>
            <a:r>
              <a:rPr lang="ko-KR" altLang="en-US" sz="2400" b="1" dirty="0">
                <a:solidFill>
                  <a:srgbClr val="14A432"/>
                </a:solidFill>
                <a:latin typeface="Cambria" pitchFamily="34" charset="0"/>
              </a:rPr>
              <a:t> </a:t>
            </a:r>
            <a:endParaRPr lang="en-US" altLang="ko-KR" sz="2400" b="1" dirty="0">
              <a:solidFill>
                <a:srgbClr val="14A432"/>
              </a:solidFill>
              <a:latin typeface="Cambria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522395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“ 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너 이거 어떻게 </a:t>
            </a:r>
            <a:r>
              <a:rPr lang="ko-KR" altLang="en-US" sz="3000" i="1" dirty="0">
                <a:solidFill>
                  <a:srgbClr val="6E96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한번에  동시에 예매하냐</a:t>
            </a:r>
            <a:r>
              <a:rPr lang="en-US" altLang="ko-KR" sz="3000" i="1" dirty="0">
                <a:solidFill>
                  <a:srgbClr val="6E96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?”(</a:t>
            </a:r>
            <a:r>
              <a:rPr lang="ko-KR" altLang="en-US" sz="3000" i="1" dirty="0">
                <a:solidFill>
                  <a:srgbClr val="6E96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진짜 방법 모름</a:t>
            </a:r>
            <a:r>
              <a:rPr lang="en-US" altLang="ko-KR" sz="3000" i="1" dirty="0">
                <a:solidFill>
                  <a:srgbClr val="6E96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ext 4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2D256AD3-6E0C-0992-6F5E-CCE4AA5CA42F}"/>
              </a:ext>
            </a:extLst>
          </p:cNvPr>
          <p:cNvSpPr/>
          <p:nvPr/>
        </p:nvSpPr>
        <p:spPr>
          <a:xfrm>
            <a:off x="640081" y="2199276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“ </a:t>
            </a:r>
            <a:r>
              <a:rPr kumimoji="0" lang="ko-KR" altLang="en-US" sz="3000" b="0" i="1" u="none" strike="noStrike" kern="1200" cap="none" spc="0" normalizeH="0" baseline="0" noProof="0" dirty="0" err="1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멀티쓰레드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kumimoji="0" lang="ko-KR" altLang="en-US" sz="3000" b="0" i="1" u="none" strike="noStrike" kern="1200" cap="none" spc="0" normalizeH="0" baseline="0" noProof="0" dirty="0" err="1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썻는데요</a:t>
            </a:r>
            <a:r>
              <a:rPr lang="en-US" altLang="ko-KR" sz="3000" i="1" dirty="0">
                <a:solidFill>
                  <a:srgbClr val="F338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”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srgbClr val="F33858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E336FD09-930E-B5F0-9A1A-259F4325B014}"/>
              </a:ext>
            </a:extLst>
          </p:cNvPr>
          <p:cNvSpPr/>
          <p:nvPr/>
        </p:nvSpPr>
        <p:spPr>
          <a:xfrm>
            <a:off x="640081" y="2973612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“ 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너 그런 것도 할 줄 아니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r>
              <a:rPr lang="en-US" altLang="ko-KR" sz="3000" i="1" dirty="0">
                <a:solidFill>
                  <a:srgbClr val="6E96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”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 0">
            <a:extLst>
              <a:ext uri="{FF2B5EF4-FFF2-40B4-BE49-F238E27FC236}">
                <a16:creationId xmlns:a16="http://schemas.microsoft.com/office/drawing/2014/main" id="{A55312D6-17BB-8952-BDB9-F86B5F9697C7}"/>
              </a:ext>
            </a:extLst>
          </p:cNvPr>
          <p:cNvSpPr/>
          <p:nvPr/>
        </p:nvSpPr>
        <p:spPr>
          <a:xfrm>
            <a:off x="640080" y="3750852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“ 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AI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가 알려주는데요</a:t>
            </a:r>
            <a:r>
              <a:rPr lang="en-US" altLang="ko-KR" sz="3000" i="1" dirty="0">
                <a:solidFill>
                  <a:srgbClr val="F338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”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srgbClr val="F33858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876896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300" normalizeH="0" baseline="0" noProof="0" dirty="0">
                <a:ln>
                  <a:noFill/>
                </a:ln>
                <a:solidFill>
                  <a:srgbClr val="17C93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3라운드 · 공략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670255" y="1086920"/>
            <a:ext cx="10881360" cy="6755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맑은 고딕" panose="020B0503020000020004" pitchFamily="50" charset="-127"/>
                <a:cs typeface="+mn-cs"/>
              </a:rPr>
              <a:t>학생들의 공략법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맑은 고딕" panose="020B0503020000020004" pitchFamily="50" charset="-127"/>
                <a:cs typeface="+mn-cs"/>
              </a:rPr>
              <a:t> : </a:t>
            </a:r>
            <a:r>
              <a:rPr kumimoji="0" lang="en-US" altLang="ko-KR" sz="24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맑은 고딕" panose="020B0503020000020004" pitchFamily="50" charset="-127"/>
                <a:cs typeface="+mn-cs"/>
              </a:rPr>
              <a:t>cloudfare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맑은 고딕" panose="020B0503020000020004" pitchFamily="50" charset="-127"/>
                <a:cs typeface="+mn-cs"/>
              </a:rPr>
              <a:t> worker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맑은 고딕" panose="020B0503020000020004" pitchFamily="50" charset="-127"/>
                <a:cs typeface="+mn-cs"/>
              </a:rPr>
              <a:t>에서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맑은 고딕" panose="020B0503020000020004" pitchFamily="50" charset="-127"/>
                <a:cs typeface="+mn-cs"/>
              </a:rPr>
              <a:t>/claim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맑은 고딕" panose="020B0503020000020004" pitchFamily="50" charset="-127"/>
                <a:cs typeface="+mn-cs"/>
              </a:rPr>
              <a:t>을 최대한 빠르게 호출 </a:t>
            </a:r>
          </a:p>
        </p:txBody>
      </p:sp>
      <p:sp>
        <p:nvSpPr>
          <p:cNvPr id="4" name="Shape 2"/>
          <p:cNvSpPr/>
          <p:nvPr/>
        </p:nvSpPr>
        <p:spPr>
          <a:xfrm>
            <a:off x="1608870" y="2384819"/>
            <a:ext cx="8821249" cy="3108960"/>
          </a:xfrm>
          <a:prstGeom prst="roundRect">
            <a:avLst>
              <a:gd name="adj" fmla="val 2353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763462" y="2772261"/>
            <a:ext cx="694944" cy="69494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3805" y="2848555"/>
            <a:ext cx="514259" cy="51425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84809" y="4011247"/>
            <a:ext cx="86693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Python </a:t>
            </a:r>
            <a:r>
              <a:rPr kumimoji="0" lang="en-US" sz="3200" b="1" i="0" u="none" strike="noStrike" kern="1200" cap="none" spc="0" normalizeH="0" baseline="0" noProof="0" dirty="0" err="1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멀티스레드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로 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/claim 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동시다발 요청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5" name="Text 20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20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Text 1">
            <a:extLst>
              <a:ext uri="{FF2B5EF4-FFF2-40B4-BE49-F238E27FC236}">
                <a16:creationId xmlns:a16="http://schemas.microsoft.com/office/drawing/2014/main" id="{30755024-5928-F573-622E-51DE318C0792}"/>
              </a:ext>
            </a:extLst>
          </p:cNvPr>
          <p:cNvSpPr/>
          <p:nvPr/>
        </p:nvSpPr>
        <p:spPr>
          <a:xfrm>
            <a:off x="578815" y="1561859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2" name="Text 5">
            <a:extLst>
              <a:ext uri="{FF2B5EF4-FFF2-40B4-BE49-F238E27FC236}">
                <a16:creationId xmlns:a16="http://schemas.microsoft.com/office/drawing/2014/main" id="{C71D2891-0340-E4DB-1D48-B03530C4FE61}"/>
              </a:ext>
            </a:extLst>
          </p:cNvPr>
          <p:cNvSpPr/>
          <p:nvPr/>
        </p:nvSpPr>
        <p:spPr>
          <a:xfrm>
            <a:off x="1684809" y="4629319"/>
            <a:ext cx="86693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좌석을 </a:t>
            </a:r>
            <a:r>
              <a:rPr kumimoji="0" lang="en-US" altLang="ko-KR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kumimoji="0" lang="ko-KR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천개 </a:t>
            </a:r>
            <a:r>
              <a:rPr kumimoji="0" lang="en-US" altLang="ko-KR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kumimoji="0" lang="ko-KR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천개 늘려도 순식간에 </a:t>
            </a:r>
            <a:r>
              <a:rPr kumimoji="0" lang="ko-KR" altLang="en-US" b="1" i="0" u="none" strike="noStrike" kern="1200" cap="none" spc="0" normalizeH="0" baseline="0" noProof="0" dirty="0" err="1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예매되는건</a:t>
            </a:r>
            <a:r>
              <a:rPr kumimoji="0" lang="ko-KR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동일</a:t>
            </a:r>
            <a:r>
              <a:rPr kumimoji="0" lang="en-US" altLang="ko-KR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… </a:t>
            </a:r>
            <a:r>
              <a:rPr kumimoji="0" lang="ko-KR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좌석수를 늘려도 의미가 없다</a:t>
            </a:r>
            <a:r>
              <a:rPr kumimoji="0" lang="en-US" altLang="ko-KR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…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94729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522395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야 이거 별거 없네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. 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내가 </a:t>
            </a:r>
            <a:r>
              <a:rPr kumimoji="0" lang="ko-KR" altLang="en-US" sz="3000" b="0" i="1" u="none" strike="noStrike" kern="1200" cap="none" spc="0" normalizeH="0" baseline="0" noProof="0" dirty="0" err="1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일등임ㅋㅋㅋ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”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ext 4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2D256AD3-6E0C-0992-6F5E-CCE4AA5CA42F}"/>
              </a:ext>
            </a:extLst>
          </p:cNvPr>
          <p:cNvSpPr/>
          <p:nvPr/>
        </p:nvSpPr>
        <p:spPr>
          <a:xfrm>
            <a:off x="640081" y="2435824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“ 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그러네 너가 </a:t>
            </a:r>
            <a:r>
              <a:rPr kumimoji="0" lang="ko-KR" altLang="en-US" sz="3000" b="0" i="1" u="none" strike="noStrike" kern="1200" cap="none" spc="0" normalizeH="0" baseline="0" noProof="0" dirty="0" err="1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일등하겠다ㅠㅠ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”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srgbClr val="6E967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E336FD09-930E-B5F0-9A1A-259F4325B014}"/>
              </a:ext>
            </a:extLst>
          </p:cNvPr>
          <p:cNvSpPr/>
          <p:nvPr/>
        </p:nvSpPr>
        <p:spPr>
          <a:xfrm>
            <a:off x="640079" y="3349254"/>
            <a:ext cx="10362895" cy="608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“ 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선생님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, 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제가 더 빠릅니다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.”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Text 0">
            <a:extLst>
              <a:ext uri="{FF2B5EF4-FFF2-40B4-BE49-F238E27FC236}">
                <a16:creationId xmlns:a16="http://schemas.microsoft.com/office/drawing/2014/main" id="{3B8FF5DD-7692-3406-0F9E-1F1C55A78CB9}"/>
              </a:ext>
            </a:extLst>
          </p:cNvPr>
          <p:cNvSpPr/>
          <p:nvPr/>
        </p:nvSpPr>
        <p:spPr>
          <a:xfrm>
            <a:off x="640081" y="4254223"/>
            <a:ext cx="10362895" cy="608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-&gt; 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파이썬 </a:t>
            </a:r>
            <a:r>
              <a:rPr kumimoji="0" lang="ko-KR" altLang="en-US" sz="3000" b="0" i="1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멀티쓰레드보다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 더 빠른 학생 등장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110409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28452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와 진짜 너가 더 빠르네 어떻게 했냐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?”(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진짜 모름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)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srgbClr val="698F73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ext 4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2D256AD3-6E0C-0992-6F5E-CCE4AA5CA42F}"/>
              </a:ext>
            </a:extLst>
          </p:cNvPr>
          <p:cNvSpPr/>
          <p:nvPr/>
        </p:nvSpPr>
        <p:spPr>
          <a:xfrm>
            <a:off x="640079" y="1291313"/>
            <a:ext cx="11277295" cy="21376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파이썬 쓰는 친구들은 처음에 예매 시작할 때 프로그램 켜지고 </a:t>
            </a:r>
            <a:r>
              <a:rPr kumimoji="0" lang="ko-KR" altLang="en-US" sz="3000" b="0" i="1" u="none" strike="noStrike" kern="1200" cap="none" spc="0" normalizeH="0" baseline="0" noProof="0" dirty="0" err="1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셀레니움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 켜질 때까지 </a:t>
            </a:r>
            <a:r>
              <a:rPr kumimoji="0" lang="ko-KR" altLang="en-US" sz="3000" b="0" i="1" u="none" strike="noStrike" kern="1200" cap="none" spc="0" normalizeH="0" baseline="0" noProof="0" dirty="0" err="1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선딜레이가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ko-KR" altLang="en-US" sz="3000" i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있습니다</a:t>
            </a:r>
            <a:r>
              <a:rPr lang="en-US" altLang="ko-KR" sz="3000" i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000" i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하지만 브라우저 콘솔에서 </a:t>
            </a:r>
            <a:r>
              <a:rPr lang="ko-KR" altLang="en-US" sz="3000" i="1" dirty="0" err="1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막바로</a:t>
            </a:r>
            <a:r>
              <a:rPr lang="ko-KR" altLang="en-US" sz="3000" i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자바스크립트로 요청하면 </a:t>
            </a:r>
            <a:r>
              <a:rPr lang="ko-KR" altLang="en-US" sz="3000" i="1" dirty="0" err="1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선딜레이가</a:t>
            </a:r>
            <a:r>
              <a:rPr lang="ko-KR" altLang="en-US" sz="3000" i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없어서 이 방법이 더 빠릅니다</a:t>
            </a:r>
            <a:r>
              <a:rPr lang="en-US" altLang="ko-KR" sz="3000" i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.”</a:t>
            </a:r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E1B8F71E-B27B-45CD-441F-66FA27F59661}"/>
              </a:ext>
            </a:extLst>
          </p:cNvPr>
          <p:cNvSpPr/>
          <p:nvPr/>
        </p:nvSpPr>
        <p:spPr>
          <a:xfrm>
            <a:off x="640079" y="3714621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와 그걸 어떻게 알았냐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?”(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진짜 모름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)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srgbClr val="698F73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A5F74718-4806-053E-148D-1A61FC03D629}"/>
              </a:ext>
            </a:extLst>
          </p:cNvPr>
          <p:cNvSpPr/>
          <p:nvPr/>
        </p:nvSpPr>
        <p:spPr>
          <a:xfrm>
            <a:off x="640078" y="4510808"/>
            <a:ext cx="112772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아 </a:t>
            </a:r>
            <a:r>
              <a:rPr kumimoji="0" lang="ko-KR" altLang="en-US" sz="3000" b="0" i="1" u="none" strike="noStrike" kern="1200" cap="none" spc="0" normalizeH="0" baseline="0" noProof="0" dirty="0" err="1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그거요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? AI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가 알려줍니다</a:t>
            </a:r>
            <a:r>
              <a:rPr lang="en-US" altLang="ko-KR" sz="3000" i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.”</a:t>
            </a:r>
          </a:p>
        </p:txBody>
      </p:sp>
      <p:sp>
        <p:nvSpPr>
          <p:cNvPr id="9" name="Text 0">
            <a:extLst>
              <a:ext uri="{FF2B5EF4-FFF2-40B4-BE49-F238E27FC236}">
                <a16:creationId xmlns:a16="http://schemas.microsoft.com/office/drawing/2014/main" id="{2F5CE327-B9FA-858F-68C4-86FB8D2069F1}"/>
              </a:ext>
            </a:extLst>
          </p:cNvPr>
          <p:cNvSpPr/>
          <p:nvPr/>
        </p:nvSpPr>
        <p:spPr>
          <a:xfrm>
            <a:off x="640077" y="5306995"/>
            <a:ext cx="112772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성능 엔지니어링에서도 통용되는 원칙인 </a:t>
            </a:r>
            <a:r>
              <a:rPr kumimoji="0" lang="ko-KR" altLang="en-US" sz="24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콜드 스타트  중요성을 </a:t>
            </a:r>
            <a:r>
              <a:rPr kumimoji="0" lang="ko-KR" altLang="en-US" sz="2400" b="1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간접적으로 체험</a:t>
            </a:r>
            <a:r>
              <a:rPr kumimoji="0" lang="en-US" altLang="ko-KR" sz="2400" b="1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altLang="ko-KR" sz="2400" b="1" i="1" dirty="0">
              <a:solidFill>
                <a:schemeClr val="bg1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942339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8506"/>
            <a:ext cx="10749815" cy="1375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3000" i="1" dirty="0">
                <a:solidFill>
                  <a:srgbClr val="698F73"/>
                </a:solidFill>
                <a:latin typeface="Cambria" pitchFamily="34" charset="0"/>
              </a:rPr>
              <a:t>‘</a:t>
            </a:r>
            <a:r>
              <a:rPr lang="ko-KR" altLang="en-US" sz="3000" i="1" dirty="0">
                <a:solidFill>
                  <a:srgbClr val="698F73"/>
                </a:solidFill>
                <a:latin typeface="Cambria" pitchFamily="34" charset="0"/>
              </a:rPr>
              <a:t>아 이게 우리 </a:t>
            </a:r>
            <a:r>
              <a:rPr lang="en-US" altLang="ko-KR" sz="3000" i="1" dirty="0">
                <a:solidFill>
                  <a:srgbClr val="698F73"/>
                </a:solidFill>
                <a:latin typeface="Cambria" pitchFamily="34" charset="0"/>
              </a:rPr>
              <a:t>1</a:t>
            </a:r>
            <a:r>
              <a:rPr lang="ko-KR" altLang="en-US" sz="3000" i="1" dirty="0">
                <a:solidFill>
                  <a:srgbClr val="698F73"/>
                </a:solidFill>
                <a:latin typeface="Cambria" pitchFamily="34" charset="0"/>
              </a:rPr>
              <a:t>학년 친구들은 정석대로 하나하나 예매하는데 </a:t>
            </a:r>
            <a:r>
              <a:rPr lang="en-US" altLang="ko-KR" sz="3000" i="1" dirty="0">
                <a:solidFill>
                  <a:srgbClr val="698F73"/>
                </a:solidFill>
                <a:latin typeface="Cambria" pitchFamily="34" charset="0"/>
              </a:rPr>
              <a:t>3</a:t>
            </a:r>
            <a:r>
              <a:rPr lang="ko-KR" altLang="en-US" sz="3000" i="1" dirty="0">
                <a:solidFill>
                  <a:srgbClr val="698F73"/>
                </a:solidFill>
                <a:latin typeface="Cambria" pitchFamily="34" charset="0"/>
              </a:rPr>
              <a:t>학년 친구들이 자꾸 이상한 기술 써서 공략하네</a:t>
            </a:r>
            <a:r>
              <a:rPr lang="en-US" altLang="ko-KR" sz="3000" i="1" dirty="0">
                <a:solidFill>
                  <a:srgbClr val="698F73"/>
                </a:solidFill>
                <a:latin typeface="Cambria" pitchFamily="34" charset="0"/>
              </a:rPr>
              <a:t>’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srgbClr val="698F73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ext 4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3106F256-8B7B-13DE-22DF-37E4F2463057}"/>
              </a:ext>
            </a:extLst>
          </p:cNvPr>
          <p:cNvSpPr/>
          <p:nvPr/>
        </p:nvSpPr>
        <p:spPr>
          <a:xfrm>
            <a:off x="640079" y="1834265"/>
            <a:ext cx="10749815" cy="1375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‘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이거 뭐 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START 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누르자 마자 천개 </a:t>
            </a:r>
            <a:r>
              <a:rPr kumimoji="0" lang="ko-KR" altLang="en-US" sz="3000" b="0" i="1" u="none" strike="noStrike" kern="1200" cap="none" spc="0" normalizeH="0" baseline="0" noProof="0" dirty="0" err="1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오천개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한번에 예매해버리니까 시합을 할 수 가 없네</a:t>
            </a:r>
            <a:r>
              <a:rPr lang="en-US" altLang="ko-KR" sz="3000" i="1" dirty="0">
                <a:solidFill>
                  <a:srgbClr val="698F73"/>
                </a:solidFill>
                <a:latin typeface="Calibri"/>
              </a:rPr>
              <a:t>‘</a:t>
            </a:r>
            <a:endParaRPr kumimoji="0" lang="en-US" sz="3000" b="0" i="1" u="none" strike="noStrike" kern="1200" cap="none" spc="0" normalizeH="0" baseline="0" noProof="0" dirty="0">
              <a:ln>
                <a:noFill/>
              </a:ln>
              <a:solidFill>
                <a:srgbClr val="698F73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Text 0">
            <a:extLst>
              <a:ext uri="{FF2B5EF4-FFF2-40B4-BE49-F238E27FC236}">
                <a16:creationId xmlns:a16="http://schemas.microsoft.com/office/drawing/2014/main" id="{96A01D88-FA00-77EE-B5A7-D10C8D5134D6}"/>
              </a:ext>
            </a:extLst>
          </p:cNvPr>
          <p:cNvSpPr/>
          <p:nvPr/>
        </p:nvSpPr>
        <p:spPr>
          <a:xfrm>
            <a:off x="640078" y="3210024"/>
            <a:ext cx="10749815" cy="932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“AI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야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, </a:t>
            </a:r>
            <a:r>
              <a:rPr lang="ko-KR" altLang="en-US" sz="3000" i="1" dirty="0">
                <a:solidFill>
                  <a:srgbClr val="698F73"/>
                </a:solidFill>
                <a:latin typeface="Calibri"/>
              </a:rPr>
              <a:t>현재 상황이 이러한데 방어방법 좀 알려줘</a:t>
            </a:r>
            <a:r>
              <a:rPr lang="en-US" altLang="ko-KR" sz="3000" i="1" dirty="0">
                <a:solidFill>
                  <a:srgbClr val="698F73"/>
                </a:solidFill>
                <a:latin typeface="Calibri"/>
              </a:rPr>
              <a:t>“ </a:t>
            </a:r>
            <a:endParaRPr kumimoji="0" lang="en-US" sz="3000" b="0" i="1" u="none" strike="noStrike" kern="1200" cap="none" spc="0" normalizeH="0" baseline="0" noProof="0" dirty="0">
              <a:ln>
                <a:noFill/>
              </a:ln>
              <a:solidFill>
                <a:srgbClr val="698F73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 0">
            <a:extLst>
              <a:ext uri="{FF2B5EF4-FFF2-40B4-BE49-F238E27FC236}">
                <a16:creationId xmlns:a16="http://schemas.microsoft.com/office/drawing/2014/main" id="{6842B5E4-37E9-5F0D-8E3B-8AB8302673FE}"/>
              </a:ext>
            </a:extLst>
          </p:cNvPr>
          <p:cNvSpPr/>
          <p:nvPr/>
        </p:nvSpPr>
        <p:spPr>
          <a:xfrm>
            <a:off x="721092" y="4207518"/>
            <a:ext cx="10749815" cy="693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AI : </a:t>
            </a:r>
            <a:r>
              <a:rPr kumimoji="0" lang="en-US" sz="3000" b="0" i="1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CloudFare</a:t>
            </a: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KV 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로 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IP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당 초당 요청횟수를 제한하세요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!</a:t>
            </a:r>
            <a:endParaRPr kumimoji="0" lang="en-US" sz="3000" b="0" i="1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Text 0">
            <a:extLst>
              <a:ext uri="{FF2B5EF4-FFF2-40B4-BE49-F238E27FC236}">
                <a16:creationId xmlns:a16="http://schemas.microsoft.com/office/drawing/2014/main" id="{D4D7718F-62D8-2083-5703-1DE75526C539}"/>
              </a:ext>
            </a:extLst>
          </p:cNvPr>
          <p:cNvSpPr/>
          <p:nvPr/>
        </p:nvSpPr>
        <p:spPr>
          <a:xfrm>
            <a:off x="640077" y="4873592"/>
            <a:ext cx="10749815" cy="932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“</a:t>
            </a:r>
            <a:r>
              <a:rPr lang="en-US" sz="3000" i="1" dirty="0">
                <a:solidFill>
                  <a:srgbClr val="698F73"/>
                </a:solidFill>
                <a:latin typeface="Calibri"/>
              </a:rPr>
              <a:t>OK!</a:t>
            </a:r>
            <a:r>
              <a:rPr lang="en-US" altLang="ko-KR" sz="3000" i="1" dirty="0">
                <a:solidFill>
                  <a:srgbClr val="698F73"/>
                </a:solidFill>
                <a:latin typeface="Calibri"/>
              </a:rPr>
              <a:t>“ </a:t>
            </a:r>
            <a:endParaRPr kumimoji="0" lang="en-US" sz="3000" b="0" i="1" u="none" strike="noStrike" kern="1200" cap="none" spc="0" normalizeH="0" baseline="0" noProof="0" dirty="0">
              <a:ln>
                <a:noFill/>
              </a:ln>
              <a:solidFill>
                <a:srgbClr val="698F73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141111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3라운드 · 방어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3차 방어 — 속도 자체를 제한하다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10911535" cy="2468880"/>
          </a:xfrm>
          <a:prstGeom prst="roundRect">
            <a:avLst>
              <a:gd name="adj" fmla="val 2963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43000" y="2697480"/>
            <a:ext cx="1234440" cy="12344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3477" y="2857957"/>
            <a:ext cx="913486" cy="91348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0" y="260604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KV Rate Limit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2743200" y="3291840"/>
            <a:ext cx="830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80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</a:t>
            </a:r>
            <a:r>
              <a:rPr lang="en-US" altLang="ko-KR" sz="280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</a:t>
            </a:r>
            <a:r>
              <a:rPr lang="ko-KR" altLang="en-US" sz="280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 초당 요청 횟수를 </a:t>
            </a:r>
            <a:r>
              <a:rPr lang="en-US" sz="280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r>
              <a:rPr lang="ko-KR" altLang="en-US" sz="280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회로 제한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20</a:t>
            </a:r>
            <a:endParaRPr lang="en-US" sz="900" dirty="0"/>
          </a:p>
        </p:txBody>
      </p:sp>
      <p:sp>
        <p:nvSpPr>
          <p:cNvPr id="13" name="Text 0">
            <a:extLst>
              <a:ext uri="{FF2B5EF4-FFF2-40B4-BE49-F238E27FC236}">
                <a16:creationId xmlns:a16="http://schemas.microsoft.com/office/drawing/2014/main" id="{214C3822-95C2-A3C6-57B1-6039B83DC674}"/>
              </a:ext>
            </a:extLst>
          </p:cNvPr>
          <p:cNvSpPr/>
          <p:nvPr/>
        </p:nvSpPr>
        <p:spPr>
          <a:xfrm>
            <a:off x="771625" y="4892040"/>
            <a:ext cx="10749815" cy="932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“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아이고 이제야 시합을 제대로 해볼 수 있겠네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…”</a:t>
            </a:r>
            <a:endParaRPr kumimoji="0" lang="en-US" sz="3000" b="0" i="1" u="none" strike="noStrike" kern="1200" cap="none" spc="0" normalizeH="0" baseline="0" noProof="0" dirty="0">
              <a:ln>
                <a:noFill/>
              </a:ln>
              <a:solidFill>
                <a:srgbClr val="698F73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1" y="745155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“ </a:t>
            </a:r>
            <a:r>
              <a:rPr kumimoji="0" lang="ko-KR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야 너네 다시 예매해봐라</a:t>
            </a:r>
            <a:r>
              <a:rPr kumimoji="0" lang="en-US" altLang="ko-KR" sz="24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. </a:t>
            </a:r>
            <a:r>
              <a:rPr kumimoji="0" lang="ko-KR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이제 한번에 천개씩 여러 개 예매  </a:t>
            </a:r>
            <a:r>
              <a:rPr kumimoji="0" lang="ko-KR" altLang="en-US" sz="2400" b="0" i="1" u="none" strike="noStrike" kern="1200" cap="none" spc="0" normalizeH="0" baseline="0" noProof="0" dirty="0" err="1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못할껄</a:t>
            </a:r>
            <a:r>
              <a:rPr kumimoji="0" lang="en-US" altLang="ko-KR" sz="24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ext 4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2D256AD3-6E0C-0992-6F5E-CCE4AA5CA42F}"/>
              </a:ext>
            </a:extLst>
          </p:cNvPr>
          <p:cNvSpPr/>
          <p:nvPr/>
        </p:nvSpPr>
        <p:spPr>
          <a:xfrm>
            <a:off x="640080" y="1540546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“ 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어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!? 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진짜 안되네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…”(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근데 뚫으려고 계속 시도 중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) 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srgbClr val="F33858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E336FD09-930E-B5F0-9A1A-259F4325B014}"/>
              </a:ext>
            </a:extLst>
          </p:cNvPr>
          <p:cNvSpPr/>
          <p:nvPr/>
        </p:nvSpPr>
        <p:spPr>
          <a:xfrm>
            <a:off x="640079" y="4096650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-&gt; </a:t>
            </a:r>
            <a:r>
              <a:rPr kumimoji="0" lang="ko-KR" altLang="en-US" sz="24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갑자기 예매 기능이 정지</a:t>
            </a:r>
            <a:r>
              <a:rPr kumimoji="0" lang="en-US" altLang="ko-KR" sz="24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4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 학들도 예매가 다같이 안되는 상황</a:t>
            </a:r>
            <a:endParaRPr kumimoji="0" lang="en-US" sz="2400" b="0" i="1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Text 0">
            <a:extLst>
              <a:ext uri="{FF2B5EF4-FFF2-40B4-BE49-F238E27FC236}">
                <a16:creationId xmlns:a16="http://schemas.microsoft.com/office/drawing/2014/main" id="{3C25F8A0-C559-A445-69BF-07A00A6721FD}"/>
              </a:ext>
            </a:extLst>
          </p:cNvPr>
          <p:cNvSpPr/>
          <p:nvPr/>
        </p:nvSpPr>
        <p:spPr>
          <a:xfrm>
            <a:off x="640080" y="2317785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“ </a:t>
            </a:r>
            <a:r>
              <a:rPr kumimoji="0" lang="ko-KR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드디어 내가 이겼다</a:t>
            </a:r>
            <a:r>
              <a:rPr lang="en-US" altLang="ko-KR" sz="2400" i="1" dirty="0">
                <a:solidFill>
                  <a:srgbClr val="6E96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41FD369B-5A4F-460D-9E55-57689632A5B1}"/>
              </a:ext>
            </a:extLst>
          </p:cNvPr>
          <p:cNvSpPr/>
          <p:nvPr/>
        </p:nvSpPr>
        <p:spPr>
          <a:xfrm>
            <a:off x="640080" y="3040380"/>
            <a:ext cx="1036289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“ 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선생님 근데 이제 예매 기능 자체가 잘 안되는 것 같은데요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?”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srgbClr val="F33858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720828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결말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700" b="1" dirty="0">
                <a:solidFill>
                  <a:srgbClr val="FFFFFF"/>
                </a:solidFill>
                <a:latin typeface="Cambria" pitchFamily="34" charset="0"/>
              </a:rPr>
              <a:t>무료플랜에는 일일한도가 있었다</a:t>
            </a:r>
            <a:r>
              <a:rPr lang="en-US" altLang="ko-KR" sz="2700" b="1" dirty="0">
                <a:solidFill>
                  <a:srgbClr val="FFFFFF"/>
                </a:solidFill>
                <a:latin typeface="Cambria" pitchFamily="34" charset="0"/>
              </a:rPr>
              <a:t>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2395728"/>
            <a:ext cx="292608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0" b="1" dirty="0">
                <a:solidFill>
                  <a:srgbClr val="FF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0" dirty="0"/>
          </a:p>
        </p:txBody>
      </p:sp>
      <p:sp>
        <p:nvSpPr>
          <p:cNvPr id="5" name="Text 3"/>
          <p:cNvSpPr/>
          <p:nvPr/>
        </p:nvSpPr>
        <p:spPr>
          <a:xfrm>
            <a:off x="1645920" y="2830629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분</a:t>
            </a:r>
            <a:r>
              <a:rPr lang="ko-KR" altLang="en-US" sz="4400" b="1" dirty="0">
                <a:solidFill>
                  <a:srgbClr val="FF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도 </a:t>
            </a:r>
            <a:r>
              <a:rPr lang="ko-KR" altLang="en-US" sz="4400" b="1" dirty="0" err="1">
                <a:solidFill>
                  <a:srgbClr val="FF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안걸림</a:t>
            </a:r>
            <a:r>
              <a:rPr lang="en-US" altLang="ko-KR" sz="4400" b="1" dirty="0">
                <a:solidFill>
                  <a:srgbClr val="FF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6734" y="3968496"/>
            <a:ext cx="5451508" cy="1372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KV 무료 플랜의</a:t>
            </a:r>
            <a:endParaRPr lang="en-US" sz="2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일일 쓰기 한도를 </a:t>
            </a:r>
            <a:r>
              <a:rPr lang="en-US" sz="200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전부</a:t>
            </a:r>
            <a:r>
              <a:rPr lang="en-US" sz="20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소진</a:t>
            </a:r>
            <a:endParaRPr lang="en-US" sz="2000" dirty="0">
              <a:solidFill>
                <a:srgbClr val="E9F7E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ko-KR" altLang="en-US" sz="2000" dirty="0">
                <a:solidFill>
                  <a:srgbClr val="E9F7EC"/>
                </a:solidFill>
                <a:latin typeface="Calibri" pitchFamily="34" charset="0"/>
                <a:cs typeface="Calibri" pitchFamily="34" charset="-120"/>
              </a:rPr>
              <a:t>수업진행을 위해서 어쩔 수 없이 </a:t>
            </a:r>
            <a:r>
              <a:rPr lang="en-US" altLang="ko-KR" sz="2000" dirty="0">
                <a:solidFill>
                  <a:srgbClr val="E9F7EC"/>
                </a:solidFill>
                <a:latin typeface="Calibri" pitchFamily="34" charset="0"/>
                <a:cs typeface="Calibri" pitchFamily="34" charset="-120"/>
              </a:rPr>
              <a:t>Rate Limit </a:t>
            </a:r>
            <a:r>
              <a:rPr lang="ko-KR" altLang="en-US" sz="2000" dirty="0">
                <a:solidFill>
                  <a:srgbClr val="E9F7EC"/>
                </a:solidFill>
                <a:latin typeface="Calibri" pitchFamily="34" charset="0"/>
                <a:cs typeface="Calibri" pitchFamily="34" charset="-120"/>
              </a:rPr>
              <a:t>제거</a:t>
            </a:r>
            <a:endParaRPr lang="en-US" sz="2000" dirty="0">
              <a:solidFill>
                <a:srgbClr val="E9F7EC"/>
              </a:solidFill>
              <a:latin typeface="Calibri" pitchFamily="34" charset="0"/>
              <a:cs typeface="Calibri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ko-KR" altLang="en-US" sz="2000" dirty="0">
                <a:solidFill>
                  <a:srgbClr val="E9F7EC"/>
                </a:solidFill>
                <a:latin typeface="Calibri" pitchFamily="34" charset="0"/>
                <a:cs typeface="Calibri" pitchFamily="34" charset="-120"/>
              </a:rPr>
              <a:t>다시 한꺼번에 </a:t>
            </a:r>
            <a:r>
              <a:rPr lang="en-US" altLang="ko-KR" sz="2000" dirty="0">
                <a:solidFill>
                  <a:srgbClr val="E9F7EC"/>
                </a:solidFill>
                <a:latin typeface="Calibri" pitchFamily="34" charset="0"/>
                <a:cs typeface="Calibri" pitchFamily="34" charset="-120"/>
              </a:rPr>
              <a:t>1</a:t>
            </a:r>
            <a:r>
              <a:rPr lang="ko-KR" altLang="en-US" sz="2000" dirty="0">
                <a:solidFill>
                  <a:srgbClr val="E9F7EC"/>
                </a:solidFill>
                <a:latin typeface="Calibri" pitchFamily="34" charset="0"/>
                <a:cs typeface="Calibri" pitchFamily="34" charset="-120"/>
              </a:rPr>
              <a:t>천개 동시 예매 엔딩</a:t>
            </a:r>
            <a:r>
              <a:rPr lang="en-US" altLang="ko-KR" sz="2000" dirty="0">
                <a:solidFill>
                  <a:srgbClr val="E9F7EC"/>
                </a:solidFill>
                <a:latin typeface="Calibri" pitchFamily="34" charset="0"/>
                <a:cs typeface="Calibri" pitchFamily="34" charset="-120"/>
              </a:rPr>
              <a:t>…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766560" y="1828800"/>
            <a:ext cx="4480560" cy="566928"/>
          </a:xfrm>
          <a:prstGeom prst="roundRect">
            <a:avLst>
              <a:gd name="adj" fmla="val 9677"/>
            </a:avLst>
          </a:prstGeom>
          <a:solidFill>
            <a:srgbClr val="0E1A0F"/>
          </a:solidFill>
          <a:ln w="12700">
            <a:solidFill>
              <a:srgbClr val="17431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49440" y="1828800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학생들이 계속 1000개씩 요청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006840" y="2395728"/>
            <a:ext cx="9144" cy="219456"/>
          </a:xfrm>
          <a:prstGeom prst="line">
            <a:avLst/>
          </a:prstGeom>
          <a:noFill/>
          <a:ln w="19050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766560" y="2615184"/>
            <a:ext cx="4480560" cy="566928"/>
          </a:xfrm>
          <a:prstGeom prst="roundRect">
            <a:avLst>
              <a:gd name="adj" fmla="val 9677"/>
            </a:avLst>
          </a:prstGeom>
          <a:solidFill>
            <a:srgbClr val="0E1A0F"/>
          </a:solidFill>
          <a:ln w="12700">
            <a:solidFill>
              <a:srgbClr val="1743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49440" y="2615184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 일일 한도 소진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006840" y="3182112"/>
            <a:ext cx="9144" cy="219456"/>
          </a:xfrm>
          <a:prstGeom prst="line">
            <a:avLst/>
          </a:prstGeom>
          <a:noFill/>
          <a:ln w="19050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766560" y="3401568"/>
            <a:ext cx="4480560" cy="566928"/>
          </a:xfrm>
          <a:prstGeom prst="roundRect">
            <a:avLst>
              <a:gd name="adj" fmla="val 9677"/>
            </a:avLst>
          </a:prstGeom>
          <a:solidFill>
            <a:srgbClr val="0E1A0F"/>
          </a:solidFill>
          <a:ln w="12700">
            <a:solidFill>
              <a:srgbClr val="1743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49440" y="3401568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 강제 제거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9006840" y="3968496"/>
            <a:ext cx="9144" cy="219456"/>
          </a:xfrm>
          <a:prstGeom prst="line">
            <a:avLst/>
          </a:prstGeom>
          <a:noFill/>
          <a:ln w="19050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766560" y="4187952"/>
            <a:ext cx="4480560" cy="566928"/>
          </a:xfrm>
          <a:prstGeom prst="roundRect">
            <a:avLst>
              <a:gd name="adj" fmla="val 9677"/>
            </a:avLst>
          </a:prstGeom>
          <a:solidFill>
            <a:srgbClr val="0E4419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49440" y="4187952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F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 승리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36733" y="5793285"/>
            <a:ext cx="9851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i="1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r>
              <a:rPr lang="ko-KR" altLang="en-US" sz="4000" i="1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더 이상 막을 방법이 없다</a:t>
            </a:r>
            <a:r>
              <a:rPr lang="en-US" altLang="ko-KR" sz="4000" i="1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r>
              <a:rPr lang="en-US" sz="4000" i="1" dirty="0" err="1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내가</a:t>
            </a:r>
            <a:r>
              <a:rPr lang="en-US" sz="4000" i="1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졌다. ”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20</a:t>
            </a:r>
            <a:endParaRPr lang="en-US" sz="900" dirty="0"/>
          </a:p>
        </p:txBody>
      </p:sp>
      <p:sp>
        <p:nvSpPr>
          <p:cNvPr id="20" name="Text 1">
            <a:extLst>
              <a:ext uri="{FF2B5EF4-FFF2-40B4-BE49-F238E27FC236}">
                <a16:creationId xmlns:a16="http://schemas.microsoft.com/office/drawing/2014/main" id="{7EA66A28-92D1-BA6E-E02D-D5D20BEDA8C9}"/>
              </a:ext>
            </a:extLst>
          </p:cNvPr>
          <p:cNvSpPr/>
          <p:nvPr/>
        </p:nvSpPr>
        <p:spPr>
          <a:xfrm>
            <a:off x="640080" y="1696212"/>
            <a:ext cx="460248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700" b="1" dirty="0">
                <a:solidFill>
                  <a:srgbClr val="FF3B5C"/>
                </a:solidFill>
                <a:latin typeface="Cambria" pitchFamily="34" charset="0"/>
              </a:rPr>
              <a:t>한도 다 </a:t>
            </a:r>
            <a:r>
              <a:rPr lang="ko-KR" altLang="en-US" sz="2700" b="1" dirty="0" err="1">
                <a:solidFill>
                  <a:srgbClr val="FF3B5C"/>
                </a:solidFill>
                <a:latin typeface="Cambria" pitchFamily="34" charset="0"/>
              </a:rPr>
              <a:t>쓸때까지</a:t>
            </a:r>
            <a:r>
              <a:rPr lang="ko-KR" altLang="en-US" sz="2700" b="1" dirty="0">
                <a:solidFill>
                  <a:srgbClr val="FF3B5C"/>
                </a:solidFill>
                <a:latin typeface="Cambria" pitchFamily="34" charset="0"/>
              </a:rPr>
              <a:t> 걸리는 시간</a:t>
            </a:r>
            <a:endParaRPr lang="en-US" sz="2700" dirty="0">
              <a:solidFill>
                <a:srgbClr val="FF3B5C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2286000"/>
            <a:ext cx="1005840" cy="10058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3687" y="2416759"/>
            <a:ext cx="744322" cy="74432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35204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kern="0" spc="4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0" y="388620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우리가 배운 것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20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되짚어보기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학생들이 스스로 </a:t>
            </a:r>
            <a:r>
              <a:rPr lang="en-US" sz="3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발견한</a:t>
            </a: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ko-KR" alt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탐구하면서 알아낸 지식들</a:t>
            </a:r>
            <a:r>
              <a:rPr lang="en-US" altLang="ko-KR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2372868"/>
            <a:ext cx="603504" cy="60350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568" y="2451324"/>
            <a:ext cx="446593" cy="4465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1965960"/>
            <a:ext cx="226557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웹 사이트의 취약점 발견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368698" y="196596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24730" y="2372868"/>
            <a:ext cx="603504" cy="60350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3186" y="2451324"/>
            <a:ext cx="446593" cy="44659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374538" y="1965960"/>
            <a:ext cx="226557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REST</a:t>
            </a:r>
            <a:r>
              <a:rPr lang="ko-KR" altLang="en-US" sz="16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16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r>
              <a:rPr lang="ko-KR" altLang="en-US" sz="16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8097317" y="196596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353349" y="2372868"/>
            <a:ext cx="603504" cy="60350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1804" y="2451324"/>
            <a:ext cx="446593" cy="446593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03157" y="1965960"/>
            <a:ext cx="226557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Race Condition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640080" y="365760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96112" y="4064508"/>
            <a:ext cx="603504" cy="60350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4568" y="4142964"/>
            <a:ext cx="446593" cy="446593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45920" y="3657600"/>
            <a:ext cx="226557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Bypass</a:t>
            </a:r>
            <a:endParaRPr lang="en-US" altLang="ko-KR" dirty="0"/>
          </a:p>
        </p:txBody>
      </p:sp>
      <p:sp>
        <p:nvSpPr>
          <p:cNvPr id="20" name="Shape 14"/>
          <p:cNvSpPr/>
          <p:nvPr/>
        </p:nvSpPr>
        <p:spPr>
          <a:xfrm>
            <a:off x="4368698" y="365760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4624730" y="4064508"/>
            <a:ext cx="603504" cy="60350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3186" y="4142964"/>
            <a:ext cx="446593" cy="446593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374538" y="3657600"/>
            <a:ext cx="226557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9F7EC"/>
                </a:solidFill>
                <a:latin typeface="Calibri" pitchFamily="34" charset="0"/>
                <a:cs typeface="Calibri" pitchFamily="34" charset="-120"/>
              </a:rPr>
              <a:t>Python</a:t>
            </a:r>
            <a:r>
              <a:rPr lang="ko-KR" altLang="en-US" sz="1600" b="1" dirty="0">
                <a:solidFill>
                  <a:srgbClr val="E9F7EC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altLang="ko-KR" sz="1600" b="1" dirty="0">
                <a:solidFill>
                  <a:srgbClr val="E9F7EC"/>
                </a:solidFill>
                <a:latin typeface="Calibri" pitchFamily="34" charset="0"/>
                <a:cs typeface="Calibri" pitchFamily="34" charset="-120"/>
              </a:rPr>
              <a:t>Threading</a:t>
            </a:r>
            <a:r>
              <a:rPr lang="ko-KR" altLang="en-US" sz="1600" b="1" dirty="0">
                <a:solidFill>
                  <a:srgbClr val="E9F7EC"/>
                </a:solidFill>
                <a:latin typeface="Calibri" pitchFamily="34" charset="0"/>
                <a:cs typeface="Calibri" pitchFamily="34" charset="-120"/>
              </a:rPr>
              <a:t> </a:t>
            </a:r>
            <a:endParaRPr lang="en-US" sz="1600" dirty="0"/>
          </a:p>
        </p:txBody>
      </p:sp>
      <p:sp>
        <p:nvSpPr>
          <p:cNvPr id="24" name="Shape 17"/>
          <p:cNvSpPr/>
          <p:nvPr/>
        </p:nvSpPr>
        <p:spPr>
          <a:xfrm>
            <a:off x="8097317" y="365760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8353349" y="4064508"/>
            <a:ext cx="603504" cy="60350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31804" y="4142964"/>
            <a:ext cx="446593" cy="446593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9103157" y="3657600"/>
            <a:ext cx="226557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1600" b="1" dirty="0">
                <a:solidFill>
                  <a:srgbClr val="E9F7EC"/>
                </a:solidFill>
                <a:latin typeface="Calibri" pitchFamily="34" charset="0"/>
                <a:cs typeface="Calibri" pitchFamily="34" charset="-120"/>
              </a:rPr>
              <a:t>JS Event Loop </a:t>
            </a:r>
            <a:endParaRPr lang="en-US" sz="1600" dirty="0"/>
          </a:p>
        </p:txBody>
      </p:sp>
      <p:sp>
        <p:nvSpPr>
          <p:cNvPr id="28" name="Text 20"/>
          <p:cNvSpPr/>
          <p:nvPr/>
        </p:nvSpPr>
        <p:spPr>
          <a:xfrm>
            <a:off x="640080" y="5806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i="1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중에서 선생님이 알려준 것은 하나도 없다 — 전부 AI와의 대화에서 스스로 발견했다.</a:t>
            </a:r>
            <a:endParaRPr lang="en-US" sz="2000" dirty="0"/>
          </a:p>
        </p:txBody>
      </p:sp>
      <p:sp>
        <p:nvSpPr>
          <p:cNvPr id="29" name="Text 21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20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교육적 의미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공방전이 만든 자기효능감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669177" y="2346959"/>
            <a:ext cx="1508760" cy="1508760"/>
          </a:xfrm>
          <a:prstGeom prst="line">
            <a:avLst/>
          </a:prstGeom>
          <a:noFill/>
          <a:ln w="15875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 flipH="1">
            <a:off x="2669177" y="3855719"/>
            <a:ext cx="1508760" cy="1508760"/>
          </a:xfrm>
          <a:prstGeom prst="line">
            <a:avLst/>
          </a:prstGeom>
          <a:noFill/>
          <a:ln w="15875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 flipH="1" flipV="1">
            <a:off x="1160417" y="3855719"/>
            <a:ext cx="1508760" cy="1508760"/>
          </a:xfrm>
          <a:prstGeom prst="line">
            <a:avLst/>
          </a:prstGeom>
          <a:noFill/>
          <a:ln w="15875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1160417" y="2346959"/>
            <a:ext cx="1508760" cy="1508760"/>
          </a:xfrm>
          <a:prstGeom prst="line">
            <a:avLst/>
          </a:prstGeom>
          <a:noFill/>
          <a:ln w="15875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303417" y="1981199"/>
            <a:ext cx="731520" cy="73152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8515" y="2076297"/>
            <a:ext cx="541325" cy="54132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17617" y="2731007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선생님이 막는다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812177" y="3489959"/>
            <a:ext cx="731520" cy="73152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7275" y="3585057"/>
            <a:ext cx="541325" cy="54132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126377" y="4239767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학생이 뚫는다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2303417" y="4998719"/>
            <a:ext cx="731520" cy="73152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98515" y="5093817"/>
            <a:ext cx="541325" cy="541325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17617" y="5748527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성취감·의욕 ↑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794657" y="3489959"/>
            <a:ext cx="731520" cy="73152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9755" y="3585057"/>
            <a:ext cx="541325" cy="541325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08857" y="4239767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다른 방법 탐색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229498" y="1698171"/>
            <a:ext cx="6322118" cy="4016829"/>
          </a:xfrm>
          <a:prstGeom prst="roundRect">
            <a:avLst>
              <a:gd name="adj" fmla="val 2051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21" name="Text 15"/>
          <p:cNvSpPr/>
          <p:nvPr/>
        </p:nvSpPr>
        <p:spPr>
          <a:xfrm>
            <a:off x="5440680" y="1810512"/>
            <a:ext cx="3962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9F7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선생님: 어쭈, 이걸 이렇게 하네? 막아야지.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5440679" y="2151887"/>
            <a:ext cx="3962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학생: 어? 이걸 막네? 응, 다른 방법.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5440678" y="2528316"/>
            <a:ext cx="3962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9F7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선생님: 아 또 뚫었네, 그럼 또 막아.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5440677" y="2928693"/>
            <a:ext cx="3962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학생: 어? 이걸 막아? 응, 다른 방법.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5440676" y="3145536"/>
            <a:ext cx="501365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ko-KR" altLang="en-US" sz="1250" i="1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학생들은 </a:t>
            </a:r>
            <a:r>
              <a:rPr lang="en-US" sz="1250" i="1" dirty="0" err="1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실패해도</a:t>
            </a:r>
            <a:r>
              <a:rPr lang="en-US" sz="1250" i="1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포기하지 않고, 스스로 해결책을 탐색했다.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20</a:t>
            </a:r>
            <a:endParaRPr lang="en-US" sz="900" dirty="0"/>
          </a:p>
        </p:txBody>
      </p:sp>
      <p:sp>
        <p:nvSpPr>
          <p:cNvPr id="27" name="Text 19">
            <a:extLst>
              <a:ext uri="{FF2B5EF4-FFF2-40B4-BE49-F238E27FC236}">
                <a16:creationId xmlns:a16="http://schemas.microsoft.com/office/drawing/2014/main" id="{882D5A87-8DBD-0C9F-17AB-D833DDCD2B62}"/>
              </a:ext>
            </a:extLst>
          </p:cNvPr>
          <p:cNvSpPr/>
          <p:nvPr/>
        </p:nvSpPr>
        <p:spPr>
          <a:xfrm>
            <a:off x="5440675" y="3863340"/>
            <a:ext cx="5013657" cy="17718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ko-KR" altLang="en-US" sz="1250" i="1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선생님이 만든 수업을 자신이 공략했다는 성취감</a:t>
            </a:r>
            <a:endParaRPr lang="en-US" altLang="ko-KR" sz="1250" i="1" dirty="0">
              <a:solidFill>
                <a:srgbClr val="6E967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35000"/>
              </a:lnSpc>
              <a:buNone/>
            </a:pPr>
            <a:r>
              <a:rPr lang="ko-KR" altLang="en-US" sz="1250" i="1" dirty="0">
                <a:solidFill>
                  <a:srgbClr val="6E9679"/>
                </a:solidFill>
                <a:latin typeface="Calibri" pitchFamily="34" charset="0"/>
                <a:cs typeface="Calibri" pitchFamily="34" charset="-120"/>
              </a:rPr>
              <a:t>선생님이 막을수록 더 의욕이 생김</a:t>
            </a:r>
            <a:endParaRPr lang="en-US" altLang="ko-KR" sz="1250" i="1" dirty="0">
              <a:solidFill>
                <a:srgbClr val="6E9679"/>
              </a:solidFill>
              <a:latin typeface="Calibri" pitchFamily="34" charset="0"/>
              <a:cs typeface="Calibri" pitchFamily="34" charset="-120"/>
            </a:endParaRPr>
          </a:p>
          <a:p>
            <a:pPr marL="0" indent="0">
              <a:lnSpc>
                <a:spcPct val="135000"/>
              </a:lnSpc>
              <a:buNone/>
            </a:pPr>
            <a:r>
              <a:rPr lang="ko-KR" altLang="en-US" sz="1250" i="1" dirty="0">
                <a:solidFill>
                  <a:srgbClr val="6E9679"/>
                </a:solidFill>
                <a:latin typeface="Calibri" pitchFamily="34" charset="0"/>
                <a:cs typeface="Calibri" pitchFamily="34" charset="-120"/>
              </a:rPr>
              <a:t>실패해도 포기하지 않고 다른 루트를 탐색</a:t>
            </a:r>
            <a:endParaRPr lang="en-US" altLang="ko-KR" sz="1250" i="1" dirty="0">
              <a:solidFill>
                <a:srgbClr val="6E9679"/>
              </a:solidFill>
              <a:latin typeface="Calibri" pitchFamily="34" charset="0"/>
              <a:cs typeface="Calibri" pitchFamily="34" charset="-120"/>
            </a:endParaRPr>
          </a:p>
          <a:p>
            <a:pPr marL="0" indent="0">
              <a:lnSpc>
                <a:spcPct val="135000"/>
              </a:lnSpc>
              <a:buNone/>
            </a:pPr>
            <a:r>
              <a:rPr lang="en-US" sz="1250" i="1" dirty="0">
                <a:solidFill>
                  <a:srgbClr val="6E9679"/>
                </a:solidFill>
                <a:latin typeface="Calibri" pitchFamily="34" charset="0"/>
                <a:cs typeface="Calibri" pitchFamily="34" charset="-120"/>
              </a:rPr>
              <a:t>AI</a:t>
            </a:r>
            <a:r>
              <a:rPr lang="ko-KR" altLang="en-US" sz="1250" i="1" dirty="0">
                <a:solidFill>
                  <a:srgbClr val="6E9679"/>
                </a:solidFill>
                <a:latin typeface="Calibri" pitchFamily="34" charset="0"/>
                <a:cs typeface="Calibri" pitchFamily="34" charset="-120"/>
              </a:rPr>
              <a:t>에게 물어보며 스스로 해결법을 연구</a:t>
            </a:r>
            <a:endParaRPr lang="en-US" sz="1250" i="1" dirty="0">
              <a:solidFill>
                <a:srgbClr val="6E9679"/>
              </a:solidFill>
              <a:latin typeface="Calibri" pitchFamily="34" charset="0"/>
              <a:cs typeface="Calibri" pitchFamily="34" charset="-120"/>
            </a:endParaRPr>
          </a:p>
          <a:p>
            <a:pPr marL="0" indent="0">
              <a:lnSpc>
                <a:spcPct val="135000"/>
              </a:lnSpc>
              <a:buNone/>
            </a:pPr>
            <a:r>
              <a:rPr lang="ko-KR" altLang="en-US" sz="1250" i="1" dirty="0">
                <a:solidFill>
                  <a:srgbClr val="6E9679"/>
                </a:solidFill>
                <a:latin typeface="Calibri" pitchFamily="34" charset="0"/>
                <a:cs typeface="Calibri" pitchFamily="34" charset="-120"/>
              </a:rPr>
              <a:t>학생들도 선생님도 재밌던 경험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관찰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원리는</a:t>
            </a: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ko-KR" alt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자세하게 몰라도</a:t>
            </a:r>
            <a:r>
              <a:rPr lang="en-US" altLang="ko-KR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</a:t>
            </a:r>
            <a:r>
              <a:rPr lang="ko-KR" alt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직관적으로 이해하고 있다</a:t>
            </a:r>
            <a:r>
              <a:rPr lang="en-US" altLang="ko-KR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3393338" cy="3977640"/>
          </a:xfrm>
          <a:prstGeom prst="roundRect">
            <a:avLst>
              <a:gd name="adj" fmla="val 2156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331720"/>
            <a:ext cx="548640" cy="5486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" y="2403043"/>
            <a:ext cx="405994" cy="40599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2377440"/>
            <a:ext cx="2204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선생님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914400" y="3017520"/>
            <a:ext cx="28446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SSTOP</a:t>
            </a:r>
            <a:r>
              <a:rPr lang="ko-KR" altLang="en-US" sz="1250" i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을 뚫고 </a:t>
            </a:r>
            <a:r>
              <a:rPr lang="en-US" sz="1250" i="1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어떻게</a:t>
            </a:r>
            <a:r>
              <a:rPr lang="en-US" sz="1250" i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예매했냐?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914400" y="3886200"/>
            <a:ext cx="2844698" cy="0"/>
          </a:xfrm>
          <a:prstGeom prst="line">
            <a:avLst/>
          </a:prstGeom>
          <a:noFill/>
          <a:ln w="12700">
            <a:solidFill>
              <a:srgbClr val="17431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4400" y="39959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학생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914400" y="4270248"/>
            <a:ext cx="284469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예매사이트에서 직접 데이터베이스에 접근한다고 하면 되던데요?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14400" y="5303520"/>
            <a:ext cx="28446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요청의 원리는 </a:t>
            </a:r>
            <a:r>
              <a:rPr lang="en-US" sz="1050" dirty="0" err="1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몰라도</a:t>
            </a:r>
            <a:r>
              <a:rPr lang="en-US" sz="10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“</a:t>
            </a:r>
            <a:r>
              <a:rPr lang="ko-KR" altLang="en-US" sz="1050" dirty="0" err="1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디비에</a:t>
            </a:r>
            <a:r>
              <a:rPr lang="ko-KR" altLang="en-US" sz="10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직접</a:t>
            </a:r>
            <a:r>
              <a:rPr lang="en-US" sz="10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접근된다”는 느낌은 정확했다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399178" y="2057400"/>
            <a:ext cx="3393338" cy="3977640"/>
          </a:xfrm>
          <a:prstGeom prst="roundRect">
            <a:avLst>
              <a:gd name="adj" fmla="val 2156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673498" y="2331720"/>
            <a:ext cx="548640" cy="5486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4822" y="2403043"/>
            <a:ext cx="405994" cy="40599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359298" y="2377440"/>
            <a:ext cx="2204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선생님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4673498" y="3017520"/>
            <a:ext cx="28446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어떻게 천 개씩 한꺼번에 예매했냐?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4673498" y="3886200"/>
            <a:ext cx="2844698" cy="0"/>
          </a:xfrm>
          <a:prstGeom prst="line">
            <a:avLst/>
          </a:prstGeom>
          <a:noFill/>
          <a:ln w="12700">
            <a:solidFill>
              <a:srgbClr val="17431F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673498" y="39959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학생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4673498" y="4270248"/>
            <a:ext cx="284469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이거 잘 모르는데요, 쓰레딩? 그거 쓰면 빠르다고 하더라고요.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4673498" y="5303520"/>
            <a:ext cx="28446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원리는 몰라도 효과는 정확히 체감했다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8158277" y="2057400"/>
            <a:ext cx="3393338" cy="3977640"/>
          </a:xfrm>
          <a:prstGeom prst="roundRect">
            <a:avLst>
              <a:gd name="adj" fmla="val 2156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432597" y="2331720"/>
            <a:ext cx="548640" cy="5486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2403043"/>
            <a:ext cx="405994" cy="40599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9118397" y="2377440"/>
            <a:ext cx="2204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선생님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8432597" y="3017520"/>
            <a:ext cx="28446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쟤보다 어떻게 더 빠르게 했냐?</a:t>
            </a:r>
            <a:endParaRPr lang="en-US" sz="1250" dirty="0"/>
          </a:p>
        </p:txBody>
      </p:sp>
      <p:sp>
        <p:nvSpPr>
          <p:cNvPr id="27" name="Shape 22"/>
          <p:cNvSpPr/>
          <p:nvPr/>
        </p:nvSpPr>
        <p:spPr>
          <a:xfrm>
            <a:off x="8432597" y="3886200"/>
            <a:ext cx="2844698" cy="0"/>
          </a:xfrm>
          <a:prstGeom prst="line">
            <a:avLst/>
          </a:prstGeom>
          <a:noFill/>
          <a:ln w="12700">
            <a:solidFill>
              <a:srgbClr val="17431F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8432597" y="39959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학생</a:t>
            </a:r>
            <a:endParaRPr lang="en-US" sz="1000" dirty="0"/>
          </a:p>
        </p:txBody>
      </p:sp>
      <p:sp>
        <p:nvSpPr>
          <p:cNvPr id="29" name="Text 24"/>
          <p:cNvSpPr/>
          <p:nvPr/>
        </p:nvSpPr>
        <p:spPr>
          <a:xfrm>
            <a:off x="8432597" y="4270248"/>
            <a:ext cx="284469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파이썬으로 창 여는 것보다, 바로 여기서 자바스크립트로 하는 게 더 빨라요.</a:t>
            </a:r>
            <a:endParaRPr lang="en-US" sz="1200" dirty="0"/>
          </a:p>
        </p:txBody>
      </p:sp>
      <p:sp>
        <p:nvSpPr>
          <p:cNvPr id="30" name="Text 25"/>
          <p:cNvSpPr/>
          <p:nvPr/>
        </p:nvSpPr>
        <p:spPr>
          <a:xfrm>
            <a:off x="8432597" y="5303520"/>
            <a:ext cx="28446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ko-KR" altLang="en-US" sz="1050" dirty="0" err="1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콜드스타트의</a:t>
            </a:r>
            <a:r>
              <a:rPr lang="ko-KR" altLang="en-US" sz="10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중요성을 직관적으로 이해함</a:t>
            </a:r>
            <a:endParaRPr lang="en-US" sz="1050" dirty="0"/>
          </a:p>
        </p:txBody>
      </p:sp>
      <p:sp>
        <p:nvSpPr>
          <p:cNvPr id="31" name="Text 26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20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367348" y="1371600"/>
            <a:ext cx="11430000" cy="2430379"/>
          </a:xfrm>
          <a:prstGeom prst="rect">
            <a:avLst/>
          </a:prstGeom>
          <a:solidFill>
            <a:srgbClr val="0208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50228" y="1554480"/>
            <a:ext cx="1097280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2100" dirty="0">
                <a:solidFill>
                  <a:srgbClr val="00FF41"/>
                </a:solidFill>
                <a:latin typeface="Consolas"/>
              </a:rPr>
              <a:t>▸  </a:t>
            </a:r>
            <a:r>
              <a:rPr sz="2100" dirty="0" err="1">
                <a:solidFill>
                  <a:srgbClr val="00FF41"/>
                </a:solidFill>
                <a:latin typeface="Consolas"/>
              </a:rPr>
              <a:t>코딩</a:t>
            </a:r>
            <a:r>
              <a:rPr lang="ko-KR" altLang="en-US" sz="2100" dirty="0">
                <a:solidFill>
                  <a:srgbClr val="00FF41"/>
                </a:solidFill>
                <a:latin typeface="Consolas"/>
              </a:rPr>
              <a:t>이나 전문적 지식이 부족한 </a:t>
            </a:r>
            <a:r>
              <a:rPr sz="2100" dirty="0" err="1">
                <a:solidFill>
                  <a:srgbClr val="00FF41"/>
                </a:solidFill>
                <a:latin typeface="Consolas"/>
              </a:rPr>
              <a:t>학생도</a:t>
            </a:r>
            <a:r>
              <a:rPr sz="2100" dirty="0">
                <a:solidFill>
                  <a:srgbClr val="00FF41"/>
                </a:solidFill>
                <a:latin typeface="Consolas"/>
              </a:rPr>
              <a:t> </a:t>
            </a:r>
            <a:r>
              <a:rPr sz="2100" dirty="0" err="1">
                <a:solidFill>
                  <a:srgbClr val="00FF41"/>
                </a:solidFill>
                <a:latin typeface="Consolas"/>
              </a:rPr>
              <a:t>AI에게</a:t>
            </a:r>
            <a:r>
              <a:rPr sz="2100" dirty="0">
                <a:solidFill>
                  <a:srgbClr val="00FF41"/>
                </a:solidFill>
                <a:latin typeface="Consolas"/>
              </a:rPr>
              <a:t> </a:t>
            </a:r>
            <a:r>
              <a:rPr sz="2100" dirty="0" err="1">
                <a:solidFill>
                  <a:srgbClr val="00FF41"/>
                </a:solidFill>
                <a:latin typeface="Consolas"/>
              </a:rPr>
              <a:t>물어보며</a:t>
            </a:r>
            <a:r>
              <a:rPr sz="2100" dirty="0">
                <a:solidFill>
                  <a:srgbClr val="00FF41"/>
                </a:solidFill>
                <a:latin typeface="Consolas"/>
              </a:rPr>
              <a:t> </a:t>
            </a:r>
            <a:r>
              <a:rPr sz="2100" dirty="0" err="1">
                <a:solidFill>
                  <a:srgbClr val="00FF41"/>
                </a:solidFill>
                <a:latin typeface="Consolas"/>
              </a:rPr>
              <a:t>시스템</a:t>
            </a:r>
            <a:r>
              <a:rPr sz="2100" dirty="0">
                <a:solidFill>
                  <a:srgbClr val="00FF41"/>
                </a:solidFill>
                <a:latin typeface="Consolas"/>
              </a:rPr>
              <a:t> </a:t>
            </a:r>
            <a:r>
              <a:rPr sz="2100" dirty="0" err="1">
                <a:solidFill>
                  <a:srgbClr val="00FF41"/>
                </a:solidFill>
                <a:latin typeface="Consolas"/>
              </a:rPr>
              <a:t>구조를</a:t>
            </a:r>
            <a:r>
              <a:rPr sz="2100" dirty="0">
                <a:solidFill>
                  <a:srgbClr val="00FF41"/>
                </a:solidFill>
                <a:latin typeface="Consolas"/>
              </a:rPr>
              <a:t> </a:t>
            </a:r>
            <a:r>
              <a:rPr sz="2100" dirty="0" err="1">
                <a:solidFill>
                  <a:srgbClr val="00FF41"/>
                </a:solidFill>
                <a:latin typeface="Consolas"/>
              </a:rPr>
              <a:t>분석</a:t>
            </a:r>
            <a:endParaRPr sz="2100" dirty="0">
              <a:solidFill>
                <a:srgbClr val="00FF41"/>
              </a:solidFill>
              <a:latin typeface="Consola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50228" y="2103120"/>
            <a:ext cx="1097280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2100" dirty="0">
                <a:solidFill>
                  <a:srgbClr val="00FF41"/>
                </a:solidFill>
                <a:latin typeface="Consolas"/>
              </a:rPr>
              <a:t>▸  '</a:t>
            </a:r>
            <a:r>
              <a:rPr sz="2100" dirty="0" err="1">
                <a:solidFill>
                  <a:srgbClr val="00FF41"/>
                </a:solidFill>
                <a:latin typeface="Consolas"/>
              </a:rPr>
              <a:t>어떻게</a:t>
            </a:r>
            <a:r>
              <a:rPr sz="2100" dirty="0">
                <a:solidFill>
                  <a:srgbClr val="00FF41"/>
                </a:solidFill>
                <a:latin typeface="Consolas"/>
              </a:rPr>
              <a:t> </a:t>
            </a:r>
            <a:r>
              <a:rPr sz="2100" dirty="0" err="1">
                <a:solidFill>
                  <a:srgbClr val="00FF41"/>
                </a:solidFill>
                <a:latin typeface="Consolas"/>
              </a:rPr>
              <a:t>하면</a:t>
            </a:r>
            <a:r>
              <a:rPr sz="2100" dirty="0">
                <a:solidFill>
                  <a:srgbClr val="00FF41"/>
                </a:solidFill>
                <a:latin typeface="Consolas"/>
              </a:rPr>
              <a:t> 더 </a:t>
            </a:r>
            <a:r>
              <a:rPr sz="2100" dirty="0" err="1">
                <a:solidFill>
                  <a:srgbClr val="00FF41"/>
                </a:solidFill>
                <a:latin typeface="Consolas"/>
              </a:rPr>
              <a:t>빠르게</a:t>
            </a:r>
            <a:r>
              <a:rPr sz="2100" dirty="0">
                <a:solidFill>
                  <a:srgbClr val="00FF41"/>
                </a:solidFill>
                <a:latin typeface="Consolas"/>
              </a:rPr>
              <a:t> 할 수 </a:t>
            </a:r>
            <a:r>
              <a:rPr sz="2100" dirty="0" err="1">
                <a:solidFill>
                  <a:srgbClr val="00FF41"/>
                </a:solidFill>
                <a:latin typeface="Consolas"/>
              </a:rPr>
              <a:t>있어</a:t>
            </a:r>
            <a:r>
              <a:rPr sz="2100" dirty="0">
                <a:solidFill>
                  <a:srgbClr val="00FF41"/>
                </a:solidFill>
                <a:latin typeface="Consolas"/>
              </a:rPr>
              <a:t>?' </a:t>
            </a:r>
            <a:r>
              <a:rPr sz="2100" dirty="0" err="1">
                <a:solidFill>
                  <a:srgbClr val="00FF41"/>
                </a:solidFill>
                <a:latin typeface="Consolas"/>
              </a:rPr>
              <a:t>라고</a:t>
            </a:r>
            <a:r>
              <a:rPr sz="2100" dirty="0">
                <a:solidFill>
                  <a:srgbClr val="00FF41"/>
                </a:solidFill>
                <a:latin typeface="Consolas"/>
              </a:rPr>
              <a:t> </a:t>
            </a:r>
            <a:r>
              <a:rPr sz="2100" dirty="0" err="1">
                <a:solidFill>
                  <a:srgbClr val="00FF41"/>
                </a:solidFill>
                <a:latin typeface="Consolas"/>
              </a:rPr>
              <a:t>AI에</a:t>
            </a:r>
            <a:r>
              <a:rPr sz="2100" dirty="0">
                <a:solidFill>
                  <a:srgbClr val="00FF41"/>
                </a:solidFill>
                <a:latin typeface="Consolas"/>
              </a:rPr>
              <a:t> </a:t>
            </a:r>
            <a:r>
              <a:rPr sz="2100" dirty="0" err="1">
                <a:solidFill>
                  <a:srgbClr val="00FF41"/>
                </a:solidFill>
                <a:latin typeface="Consolas"/>
              </a:rPr>
              <a:t>물어</a:t>
            </a:r>
            <a:r>
              <a:rPr lang="ko-KR" altLang="en-US" sz="2100" dirty="0">
                <a:solidFill>
                  <a:srgbClr val="00FF41"/>
                </a:solidFill>
                <a:latin typeface="Consolas"/>
              </a:rPr>
              <a:t>보며 다양한 방법 조사</a:t>
            </a:r>
            <a:endParaRPr sz="2100" dirty="0">
              <a:solidFill>
                <a:srgbClr val="00FF41"/>
              </a:solidFill>
              <a:latin typeface="Consola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50228" y="2651760"/>
            <a:ext cx="1097280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2100" dirty="0">
                <a:solidFill>
                  <a:srgbClr val="FFD32A"/>
                </a:solidFill>
                <a:latin typeface="Consolas"/>
              </a:rPr>
              <a:t>▸  </a:t>
            </a:r>
            <a:r>
              <a:rPr lang="en-US" sz="2100" dirty="0">
                <a:solidFill>
                  <a:srgbClr val="FFD32A"/>
                </a:solidFill>
                <a:latin typeface="Consolas"/>
              </a:rPr>
              <a:t>AI</a:t>
            </a:r>
            <a:r>
              <a:rPr lang="ko-KR" altLang="en-US" sz="2100" dirty="0">
                <a:solidFill>
                  <a:srgbClr val="FFD32A"/>
                </a:solidFill>
                <a:latin typeface="Consolas"/>
              </a:rPr>
              <a:t>와 </a:t>
            </a:r>
            <a:r>
              <a:rPr lang="ko-KR" altLang="en-US" sz="2100" dirty="0" err="1">
                <a:solidFill>
                  <a:srgbClr val="FFD32A"/>
                </a:solidFill>
                <a:latin typeface="Consolas"/>
              </a:rPr>
              <a:t>함께라면</a:t>
            </a:r>
            <a:r>
              <a:rPr lang="ko-KR" altLang="en-US" sz="2100" dirty="0">
                <a:solidFill>
                  <a:srgbClr val="FFD32A"/>
                </a:solidFill>
                <a:latin typeface="Consolas"/>
              </a:rPr>
              <a:t> </a:t>
            </a:r>
            <a:r>
              <a:rPr sz="2100" dirty="0" err="1">
                <a:solidFill>
                  <a:srgbClr val="FFD32A"/>
                </a:solidFill>
                <a:latin typeface="Consolas"/>
              </a:rPr>
              <a:t>중학생</a:t>
            </a:r>
            <a:r>
              <a:rPr lang="ko-KR" altLang="en-US" sz="2100" dirty="0">
                <a:solidFill>
                  <a:srgbClr val="FFD32A"/>
                </a:solidFill>
                <a:latin typeface="Consolas"/>
              </a:rPr>
              <a:t>들도 높은 수준의 접근 가능</a:t>
            </a:r>
            <a:endParaRPr sz="2100" dirty="0">
              <a:solidFill>
                <a:srgbClr val="FFD32A"/>
              </a:solidFill>
              <a:latin typeface="Consola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50228" y="4121798"/>
            <a:ext cx="11247120" cy="860882"/>
          </a:xfrm>
          <a:prstGeom prst="rect">
            <a:avLst/>
          </a:prstGeom>
          <a:solidFill>
            <a:srgbClr val="003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33107" y="4213239"/>
            <a:ext cx="1070114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en-US" sz="2200" b="1" i="1" dirty="0">
                <a:solidFill>
                  <a:srgbClr val="00FF41"/>
                </a:solidFill>
                <a:latin typeface="Consolas"/>
              </a:rPr>
              <a:t>AI</a:t>
            </a:r>
            <a:r>
              <a:rPr lang="ko-KR" altLang="en-US" sz="2200" b="1" i="1" dirty="0">
                <a:solidFill>
                  <a:srgbClr val="00FF41"/>
                </a:solidFill>
                <a:latin typeface="Consolas"/>
              </a:rPr>
              <a:t>를 활용하면 디지털역량의 격차를 줄일 수 있고 훨씬 다양한 </a:t>
            </a:r>
            <a:endParaRPr lang="en-US" altLang="ko-KR" sz="2200" b="1" i="1" dirty="0">
              <a:solidFill>
                <a:srgbClr val="00FF41"/>
              </a:solidFill>
              <a:latin typeface="Consolas"/>
            </a:endParaRPr>
          </a:p>
          <a:p>
            <a:pPr algn="ctr" defTabSz="457200"/>
            <a:r>
              <a:rPr lang="ko-KR" altLang="en-US" sz="2200" b="1" i="1" dirty="0">
                <a:solidFill>
                  <a:srgbClr val="00FF41"/>
                </a:solidFill>
                <a:latin typeface="Consolas"/>
              </a:rPr>
              <a:t>수업이 가능하다</a:t>
            </a:r>
            <a:endParaRPr sz="2200" b="1" i="1" dirty="0">
              <a:solidFill>
                <a:srgbClr val="00FF41"/>
              </a:solidFill>
              <a:latin typeface="Consola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1157268" y="6492240"/>
            <a:ext cx="9144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defTabSz="457200"/>
            <a:r>
              <a:rPr sz="1100">
                <a:solidFill>
                  <a:srgbClr val="555555"/>
                </a:solidFill>
                <a:latin typeface="Consolas"/>
              </a:rPr>
              <a:t>22 / 25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717F14A-9140-D7E8-66EB-5082EB9D6AF5}"/>
              </a:ext>
            </a:extLst>
          </p:cNvPr>
          <p:cNvSpPr txBox="1"/>
          <p:nvPr/>
        </p:nvSpPr>
        <p:spPr>
          <a:xfrm>
            <a:off x="458788" y="588926"/>
            <a:ext cx="11430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lang="ko-KR" altLang="en-US" sz="2400" b="1" dirty="0">
                <a:solidFill>
                  <a:srgbClr val="00FF41"/>
                </a:solidFill>
                <a:latin typeface="Consolas"/>
              </a:rPr>
              <a:t>기술관련 분야에서 </a:t>
            </a:r>
            <a:r>
              <a:rPr lang="en-US" sz="2400" b="1" dirty="0">
                <a:solidFill>
                  <a:srgbClr val="00FF41"/>
                </a:solidFill>
                <a:latin typeface="Consolas"/>
              </a:rPr>
              <a:t>AI</a:t>
            </a:r>
            <a:r>
              <a:rPr lang="ko-KR" altLang="en-US" sz="2400" b="1" dirty="0">
                <a:solidFill>
                  <a:srgbClr val="00FF41"/>
                </a:solidFill>
                <a:latin typeface="Consolas"/>
              </a:rPr>
              <a:t>와 함께 학습 했을 때 강력한 학습효과 발생</a:t>
            </a:r>
            <a:endParaRPr sz="2400" b="1" dirty="0">
              <a:solidFill>
                <a:srgbClr val="00FF41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8788" y="397429"/>
            <a:ext cx="1143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3200" b="1" dirty="0" err="1">
                <a:solidFill>
                  <a:srgbClr val="00FF41"/>
                </a:solidFill>
                <a:latin typeface="Consolas"/>
              </a:rPr>
              <a:t>동기의</a:t>
            </a:r>
            <a:r>
              <a:rPr sz="3200" b="1" dirty="0">
                <a:solidFill>
                  <a:srgbClr val="00FF41"/>
                </a:solidFill>
                <a:latin typeface="Consolas"/>
              </a:rPr>
              <a:t> 힘</a:t>
            </a:r>
            <a:r>
              <a:rPr lang="en-US" sz="3200" b="1" dirty="0">
                <a:solidFill>
                  <a:srgbClr val="00FF41"/>
                </a:solidFill>
                <a:latin typeface="Consolas"/>
              </a:rPr>
              <a:t> – </a:t>
            </a:r>
            <a:r>
              <a:rPr lang="ko-KR" altLang="en-US" sz="3200" b="1" dirty="0">
                <a:solidFill>
                  <a:srgbClr val="00FF41"/>
                </a:solidFill>
                <a:latin typeface="Consolas"/>
              </a:rPr>
              <a:t>내가 해냈다는 성취감</a:t>
            </a:r>
            <a:endParaRPr sz="3200" b="1" dirty="0">
              <a:solidFill>
                <a:srgbClr val="00FF41"/>
              </a:solidFill>
              <a:latin typeface="Consola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8788" y="1463040"/>
            <a:ext cx="1124712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2100">
                <a:solidFill>
                  <a:srgbClr val="00FF41"/>
                </a:solidFill>
                <a:latin typeface="Consolas"/>
              </a:rPr>
              <a:t>▸  학생들이 평소보다 훨씬 높은 집중력과 창의력을 발휘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8788" y="2011680"/>
            <a:ext cx="1124712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2100">
                <a:solidFill>
                  <a:srgbClr val="00FF41"/>
                </a:solidFill>
                <a:latin typeface="Consolas"/>
              </a:rPr>
              <a:t>▸  실패해도 포기하지 않고 다른 방법을 스스로 탐색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8788" y="2560320"/>
            <a:ext cx="1124712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2100">
                <a:solidFill>
                  <a:srgbClr val="FFD32A"/>
                </a:solidFill>
                <a:latin typeface="Consolas"/>
              </a:rPr>
              <a:t>▸  '내가 해냈다'는 뿌듯함 → 강력한 학습 동기로 연결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668" y="3572068"/>
            <a:ext cx="101791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sz="2200" b="1" i="1" dirty="0">
                <a:solidFill>
                  <a:srgbClr val="00FF41"/>
                </a:solidFill>
                <a:latin typeface="Consolas"/>
              </a:rPr>
              <a:t>"</a:t>
            </a:r>
            <a:r>
              <a:rPr lang="en-US" sz="2200" b="1" i="1" dirty="0">
                <a:solidFill>
                  <a:srgbClr val="00FF41"/>
                </a:solidFill>
                <a:latin typeface="Consolas"/>
              </a:rPr>
              <a:t>AI</a:t>
            </a:r>
            <a:r>
              <a:rPr lang="ko-KR" altLang="en-US" sz="2200" b="1" i="1" dirty="0">
                <a:solidFill>
                  <a:srgbClr val="00FF41"/>
                </a:solidFill>
                <a:latin typeface="Consolas"/>
              </a:rPr>
              <a:t>를 활용하더라도 학생들이 자유롭게 탐구할 수 있고</a:t>
            </a:r>
            <a:endParaRPr lang="en-US" altLang="ko-KR" sz="2200" b="1" i="1" dirty="0">
              <a:solidFill>
                <a:srgbClr val="00FF41"/>
              </a:solidFill>
              <a:latin typeface="Consolas"/>
            </a:endParaRPr>
          </a:p>
          <a:p>
            <a:pPr algn="ctr" defTabSz="457200"/>
            <a:r>
              <a:rPr lang="ko-KR" altLang="en-US" sz="2200" b="1" i="1" dirty="0">
                <a:solidFill>
                  <a:srgbClr val="00FF41"/>
                </a:solidFill>
                <a:latin typeface="Consolas"/>
              </a:rPr>
              <a:t>그 과정에서 성취감을 느낄 수 있는 교수학습과정 설계가 필요하다</a:t>
            </a:r>
            <a:r>
              <a:rPr sz="2200" b="1" i="1" dirty="0">
                <a:solidFill>
                  <a:srgbClr val="00FF41"/>
                </a:solidFill>
                <a:latin typeface="Consolas"/>
              </a:rPr>
              <a:t>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7268" y="6492240"/>
            <a:ext cx="9144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defTabSz="457200"/>
            <a:r>
              <a:rPr sz="1100">
                <a:solidFill>
                  <a:srgbClr val="555555"/>
                </a:solidFill>
                <a:latin typeface="Consolas"/>
              </a:rPr>
              <a:t>23 / 25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8788" y="444259"/>
            <a:ext cx="114300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3400" b="1" dirty="0">
                <a:solidFill>
                  <a:srgbClr val="00FF41"/>
                </a:solidFill>
                <a:latin typeface="Consolas"/>
              </a:rPr>
              <a:t>AI </a:t>
            </a:r>
            <a:r>
              <a:rPr sz="3400" b="1" dirty="0" err="1">
                <a:solidFill>
                  <a:srgbClr val="00FF41"/>
                </a:solidFill>
                <a:latin typeface="Consolas"/>
              </a:rPr>
              <a:t>시대</a:t>
            </a:r>
            <a:r>
              <a:rPr sz="3400" b="1" dirty="0">
                <a:solidFill>
                  <a:srgbClr val="00FF41"/>
                </a:solidFill>
                <a:latin typeface="Consolas"/>
              </a:rPr>
              <a:t>, </a:t>
            </a:r>
            <a:r>
              <a:rPr sz="3400" b="1" dirty="0" err="1">
                <a:solidFill>
                  <a:srgbClr val="00FF41"/>
                </a:solidFill>
                <a:latin typeface="Consolas"/>
              </a:rPr>
              <a:t>교사의</a:t>
            </a:r>
            <a:r>
              <a:rPr sz="3400" b="1" dirty="0">
                <a:solidFill>
                  <a:srgbClr val="00FF41"/>
                </a:solidFill>
                <a:latin typeface="Consolas"/>
              </a:rPr>
              <a:t> </a:t>
            </a:r>
            <a:r>
              <a:rPr sz="3400" b="1" dirty="0" err="1">
                <a:solidFill>
                  <a:srgbClr val="00FF41"/>
                </a:solidFill>
                <a:latin typeface="Consolas"/>
              </a:rPr>
              <a:t>역할</a:t>
            </a:r>
            <a:endParaRPr sz="3400" b="1" dirty="0">
              <a:solidFill>
                <a:srgbClr val="00FF41"/>
              </a:solidFill>
              <a:latin typeface="Consola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8788" y="1463041"/>
            <a:ext cx="1124712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2200" dirty="0">
                <a:solidFill>
                  <a:srgbClr val="00FF41"/>
                </a:solidFill>
                <a:latin typeface="Consolas"/>
              </a:rPr>
              <a:t>▸  </a:t>
            </a:r>
            <a:r>
              <a:rPr sz="2200" dirty="0" err="1">
                <a:solidFill>
                  <a:srgbClr val="00FF41"/>
                </a:solidFill>
                <a:latin typeface="Consolas"/>
              </a:rPr>
              <a:t>AI를</a:t>
            </a:r>
            <a:r>
              <a:rPr sz="2200" dirty="0">
                <a:solidFill>
                  <a:srgbClr val="00FF41"/>
                </a:solidFill>
                <a:latin typeface="Consolas"/>
              </a:rPr>
              <a:t> </a:t>
            </a:r>
            <a:r>
              <a:rPr sz="2200" dirty="0" err="1">
                <a:solidFill>
                  <a:srgbClr val="00FF41"/>
                </a:solidFill>
                <a:latin typeface="Consolas"/>
              </a:rPr>
              <a:t>활용하면</a:t>
            </a:r>
            <a:r>
              <a:rPr sz="2200" dirty="0">
                <a:solidFill>
                  <a:srgbClr val="00FF41"/>
                </a:solidFill>
                <a:latin typeface="Consolas"/>
              </a:rPr>
              <a:t> </a:t>
            </a:r>
            <a:r>
              <a:rPr lang="ko-KR" altLang="en-US" sz="2200" dirty="0">
                <a:solidFill>
                  <a:srgbClr val="00FF41"/>
                </a:solidFill>
                <a:latin typeface="Consolas"/>
              </a:rPr>
              <a:t>학생들이 </a:t>
            </a:r>
            <a:r>
              <a:rPr sz="2200" dirty="0" err="1">
                <a:solidFill>
                  <a:srgbClr val="00FF41"/>
                </a:solidFill>
                <a:latin typeface="Consolas"/>
              </a:rPr>
              <a:t>생각</a:t>
            </a:r>
            <a:r>
              <a:rPr sz="2200" dirty="0">
                <a:solidFill>
                  <a:srgbClr val="00FF41"/>
                </a:solidFill>
                <a:latin typeface="Consolas"/>
              </a:rPr>
              <a:t> </a:t>
            </a:r>
            <a:r>
              <a:rPr sz="2200" dirty="0" err="1">
                <a:solidFill>
                  <a:srgbClr val="00FF41"/>
                </a:solidFill>
                <a:latin typeface="Consolas"/>
              </a:rPr>
              <a:t>이상의</a:t>
            </a:r>
            <a:r>
              <a:rPr sz="2200" dirty="0">
                <a:solidFill>
                  <a:srgbClr val="00FF41"/>
                </a:solidFill>
                <a:latin typeface="Consolas"/>
              </a:rPr>
              <a:t> </a:t>
            </a:r>
            <a:r>
              <a:rPr sz="2200" dirty="0" err="1">
                <a:solidFill>
                  <a:srgbClr val="00FF41"/>
                </a:solidFill>
                <a:latin typeface="Consolas"/>
              </a:rPr>
              <a:t>성과를</a:t>
            </a:r>
            <a:r>
              <a:rPr sz="2200" dirty="0">
                <a:solidFill>
                  <a:srgbClr val="00FF41"/>
                </a:solidFill>
                <a:latin typeface="Consolas"/>
              </a:rPr>
              <a:t> </a:t>
            </a:r>
            <a:r>
              <a:rPr lang="ko-KR" altLang="en-US" sz="2200" dirty="0">
                <a:solidFill>
                  <a:srgbClr val="00FF41"/>
                </a:solidFill>
                <a:latin typeface="Consolas"/>
              </a:rPr>
              <a:t>낼 수 있</a:t>
            </a:r>
            <a:r>
              <a:rPr sz="2200" dirty="0">
                <a:solidFill>
                  <a:srgbClr val="00FF41"/>
                </a:solidFill>
                <a:latin typeface="Consolas"/>
              </a:rPr>
              <a:t>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8788" y="2084833"/>
            <a:ext cx="1124712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2200" dirty="0">
                <a:solidFill>
                  <a:srgbClr val="00FF41"/>
                </a:solidFill>
                <a:latin typeface="Consolas"/>
              </a:rPr>
              <a:t>▸  </a:t>
            </a:r>
            <a:r>
              <a:rPr sz="2200" dirty="0" err="1">
                <a:solidFill>
                  <a:srgbClr val="00FF41"/>
                </a:solidFill>
                <a:latin typeface="Consolas"/>
              </a:rPr>
              <a:t>배경</a:t>
            </a:r>
            <a:r>
              <a:rPr sz="2200" dirty="0">
                <a:solidFill>
                  <a:srgbClr val="00FF41"/>
                </a:solidFill>
                <a:latin typeface="Consolas"/>
              </a:rPr>
              <a:t> </a:t>
            </a:r>
            <a:r>
              <a:rPr sz="2200" dirty="0" err="1">
                <a:solidFill>
                  <a:srgbClr val="00FF41"/>
                </a:solidFill>
                <a:latin typeface="Consolas"/>
              </a:rPr>
              <a:t>지식의</a:t>
            </a:r>
            <a:r>
              <a:rPr sz="2200" dirty="0">
                <a:solidFill>
                  <a:srgbClr val="00FF41"/>
                </a:solidFill>
                <a:latin typeface="Consolas"/>
              </a:rPr>
              <a:t> </a:t>
            </a:r>
            <a:r>
              <a:rPr sz="2200" dirty="0" err="1">
                <a:solidFill>
                  <a:srgbClr val="00FF41"/>
                </a:solidFill>
                <a:latin typeface="Consolas"/>
              </a:rPr>
              <a:t>차이보다</a:t>
            </a:r>
            <a:r>
              <a:rPr sz="2200" dirty="0">
                <a:solidFill>
                  <a:srgbClr val="00FF41"/>
                </a:solidFill>
                <a:latin typeface="Consolas"/>
              </a:rPr>
              <a:t> </a:t>
            </a:r>
            <a:r>
              <a:rPr sz="2200" dirty="0" err="1">
                <a:solidFill>
                  <a:srgbClr val="00FF41"/>
                </a:solidFill>
                <a:latin typeface="Consolas"/>
              </a:rPr>
              <a:t>동기의</a:t>
            </a:r>
            <a:r>
              <a:rPr sz="2200" dirty="0">
                <a:solidFill>
                  <a:srgbClr val="00FF41"/>
                </a:solidFill>
                <a:latin typeface="Consolas"/>
              </a:rPr>
              <a:t> </a:t>
            </a:r>
            <a:r>
              <a:rPr sz="2200" dirty="0" err="1">
                <a:solidFill>
                  <a:srgbClr val="00FF41"/>
                </a:solidFill>
                <a:latin typeface="Consolas"/>
              </a:rPr>
              <a:t>차이가</a:t>
            </a:r>
            <a:r>
              <a:rPr sz="2200" dirty="0">
                <a:solidFill>
                  <a:srgbClr val="00FF41"/>
                </a:solidFill>
                <a:latin typeface="Consolas"/>
              </a:rPr>
              <a:t> </a:t>
            </a:r>
            <a:r>
              <a:rPr sz="2200" dirty="0" err="1">
                <a:solidFill>
                  <a:srgbClr val="00FF41"/>
                </a:solidFill>
                <a:latin typeface="Consolas"/>
              </a:rPr>
              <a:t>결과를</a:t>
            </a:r>
            <a:r>
              <a:rPr sz="2200" dirty="0">
                <a:solidFill>
                  <a:srgbClr val="00FF41"/>
                </a:solidFill>
                <a:latin typeface="Consolas"/>
              </a:rPr>
              <a:t> </a:t>
            </a:r>
            <a:r>
              <a:rPr sz="2200" dirty="0" err="1">
                <a:solidFill>
                  <a:srgbClr val="00FF41"/>
                </a:solidFill>
                <a:latin typeface="Consolas"/>
              </a:rPr>
              <a:t>가른다</a:t>
            </a:r>
            <a:endParaRPr sz="2200" dirty="0">
              <a:solidFill>
                <a:srgbClr val="00FF41"/>
              </a:solidFill>
              <a:latin typeface="Consola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8788" y="2706625"/>
            <a:ext cx="1124712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2200" dirty="0">
                <a:solidFill>
                  <a:srgbClr val="00FF41"/>
                </a:solidFill>
                <a:latin typeface="Consolas"/>
              </a:rPr>
              <a:t>▸  </a:t>
            </a:r>
            <a:r>
              <a:rPr sz="2200" dirty="0" err="1">
                <a:solidFill>
                  <a:srgbClr val="00FF41"/>
                </a:solidFill>
                <a:latin typeface="Consolas"/>
              </a:rPr>
              <a:t>학생</a:t>
            </a:r>
            <a:r>
              <a:rPr sz="2200" dirty="0">
                <a:solidFill>
                  <a:srgbClr val="00FF41"/>
                </a:solidFill>
                <a:latin typeface="Consolas"/>
              </a:rPr>
              <a:t> </a:t>
            </a:r>
            <a:r>
              <a:rPr sz="2200" dirty="0" err="1">
                <a:solidFill>
                  <a:srgbClr val="00FF41"/>
                </a:solidFill>
                <a:latin typeface="Consolas"/>
              </a:rPr>
              <a:t>스스로</a:t>
            </a:r>
            <a:r>
              <a:rPr sz="2200" dirty="0">
                <a:solidFill>
                  <a:srgbClr val="00FF41"/>
                </a:solidFill>
                <a:latin typeface="Consolas"/>
              </a:rPr>
              <a:t> </a:t>
            </a:r>
            <a:r>
              <a:rPr sz="2200" dirty="0" err="1">
                <a:solidFill>
                  <a:srgbClr val="00FF41"/>
                </a:solidFill>
                <a:latin typeface="Consolas"/>
              </a:rPr>
              <a:t>문제를</a:t>
            </a:r>
            <a:r>
              <a:rPr sz="2200" dirty="0">
                <a:solidFill>
                  <a:srgbClr val="00FF41"/>
                </a:solidFill>
                <a:latin typeface="Consolas"/>
              </a:rPr>
              <a:t> </a:t>
            </a:r>
            <a:r>
              <a:rPr sz="2200" dirty="0" err="1">
                <a:solidFill>
                  <a:srgbClr val="00FF41"/>
                </a:solidFill>
                <a:latin typeface="Consolas"/>
              </a:rPr>
              <a:t>찾고</a:t>
            </a:r>
            <a:r>
              <a:rPr sz="2200" dirty="0">
                <a:solidFill>
                  <a:srgbClr val="00FF41"/>
                </a:solidFill>
                <a:latin typeface="Consolas"/>
              </a:rPr>
              <a:t> </a:t>
            </a:r>
            <a:r>
              <a:rPr sz="2200" dirty="0" err="1">
                <a:solidFill>
                  <a:srgbClr val="00FF41"/>
                </a:solidFill>
                <a:latin typeface="Consolas"/>
              </a:rPr>
              <a:t>해결하게</a:t>
            </a:r>
            <a:r>
              <a:rPr sz="2200" dirty="0">
                <a:solidFill>
                  <a:srgbClr val="00FF41"/>
                </a:solidFill>
                <a:latin typeface="Consolas"/>
              </a:rPr>
              <a:t> 만</a:t>
            </a:r>
            <a:r>
              <a:rPr lang="ko-KR" altLang="en-US" sz="2200" dirty="0">
                <a:solidFill>
                  <a:srgbClr val="00FF41"/>
                </a:solidFill>
                <a:latin typeface="Consolas"/>
              </a:rPr>
              <a:t>들 수 있는 운동장이 필요하다</a:t>
            </a:r>
            <a:endParaRPr sz="2200" dirty="0">
              <a:solidFill>
                <a:srgbClr val="00FF41"/>
              </a:solidFill>
              <a:latin typeface="Consola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58788" y="3328417"/>
            <a:ext cx="1124712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2200" dirty="0">
                <a:solidFill>
                  <a:srgbClr val="FFD32A"/>
                </a:solidFill>
                <a:latin typeface="Consolas"/>
              </a:rPr>
              <a:t>▸  </a:t>
            </a:r>
            <a:r>
              <a:rPr lang="ko-KR" altLang="en-US" sz="2200" dirty="0">
                <a:solidFill>
                  <a:srgbClr val="FFD32A"/>
                </a:solidFill>
                <a:latin typeface="Consolas"/>
              </a:rPr>
              <a:t>모두가 </a:t>
            </a:r>
            <a:r>
              <a:rPr lang="en-US" altLang="ko-KR" sz="2200" dirty="0">
                <a:solidFill>
                  <a:srgbClr val="FFD32A"/>
                </a:solidFill>
                <a:latin typeface="Consolas"/>
              </a:rPr>
              <a:t>AI</a:t>
            </a:r>
            <a:r>
              <a:rPr lang="ko-KR" altLang="en-US" sz="2200" dirty="0">
                <a:solidFill>
                  <a:srgbClr val="FFD32A"/>
                </a:solidFill>
                <a:latin typeface="Consolas"/>
              </a:rPr>
              <a:t>를 활용하고 </a:t>
            </a:r>
            <a:r>
              <a:rPr lang="ko-KR" altLang="en-US" sz="2200" dirty="0" err="1">
                <a:solidFill>
                  <a:srgbClr val="FFD32A"/>
                </a:solidFill>
                <a:latin typeface="Consolas"/>
              </a:rPr>
              <a:t>바이브코딩을</a:t>
            </a:r>
            <a:r>
              <a:rPr lang="ko-KR" altLang="en-US" sz="2200" dirty="0">
                <a:solidFill>
                  <a:srgbClr val="FFD32A"/>
                </a:solidFill>
                <a:latin typeface="Consolas"/>
              </a:rPr>
              <a:t> 하는 지금 시대에서 </a:t>
            </a:r>
            <a:endParaRPr lang="en-US" altLang="ko-KR" sz="2200" dirty="0">
              <a:solidFill>
                <a:srgbClr val="FFD32A"/>
              </a:solidFill>
              <a:latin typeface="Consolas"/>
            </a:endParaRPr>
          </a:p>
          <a:p>
            <a:pPr defTabSz="457200"/>
            <a:r>
              <a:rPr lang="en-US" sz="2200" dirty="0">
                <a:solidFill>
                  <a:srgbClr val="FFD32A"/>
                </a:solidFill>
                <a:latin typeface="Consolas"/>
              </a:rPr>
              <a:t>   </a:t>
            </a:r>
            <a:r>
              <a:rPr sz="2200" dirty="0" err="1">
                <a:solidFill>
                  <a:srgbClr val="FFD32A"/>
                </a:solidFill>
                <a:latin typeface="Consolas"/>
              </a:rPr>
              <a:t>교사의</a:t>
            </a:r>
            <a:r>
              <a:rPr sz="2200" dirty="0">
                <a:solidFill>
                  <a:srgbClr val="FFD32A"/>
                </a:solidFill>
                <a:latin typeface="Consolas"/>
              </a:rPr>
              <a:t> </a:t>
            </a:r>
            <a:r>
              <a:rPr sz="2200" dirty="0" err="1">
                <a:solidFill>
                  <a:srgbClr val="FFD32A"/>
                </a:solidFill>
                <a:latin typeface="Consolas"/>
              </a:rPr>
              <a:t>역할은</a:t>
            </a:r>
            <a:r>
              <a:rPr sz="2200" dirty="0">
                <a:solidFill>
                  <a:srgbClr val="FFD32A"/>
                </a:solidFill>
                <a:latin typeface="Consolas"/>
              </a:rPr>
              <a:t> </a:t>
            </a:r>
            <a:r>
              <a:rPr lang="ko-KR" altLang="en-US" sz="2200" dirty="0">
                <a:solidFill>
                  <a:srgbClr val="FFD32A"/>
                </a:solidFill>
                <a:latin typeface="Consolas"/>
              </a:rPr>
              <a:t>지식 전달 뿐만 아니라 학생들이 자유롭게 기술을 탐구하고 </a:t>
            </a:r>
            <a:endParaRPr lang="en-US" altLang="ko-KR" sz="2200" dirty="0">
              <a:solidFill>
                <a:srgbClr val="FFD32A"/>
              </a:solidFill>
              <a:latin typeface="Consolas"/>
            </a:endParaRPr>
          </a:p>
          <a:p>
            <a:pPr defTabSz="457200"/>
            <a:r>
              <a:rPr lang="en-US" sz="2200" dirty="0">
                <a:solidFill>
                  <a:srgbClr val="FFD32A"/>
                </a:solidFill>
                <a:latin typeface="Consolas"/>
              </a:rPr>
              <a:t>   </a:t>
            </a:r>
            <a:r>
              <a:rPr lang="ko-KR" altLang="en-US" sz="2200" dirty="0">
                <a:solidFill>
                  <a:srgbClr val="FFD32A"/>
                </a:solidFill>
                <a:latin typeface="Consolas"/>
              </a:rPr>
              <a:t>적용하며</a:t>
            </a:r>
            <a:r>
              <a:rPr lang="en-US" altLang="ko-KR" sz="2200" dirty="0">
                <a:solidFill>
                  <a:srgbClr val="FFD32A"/>
                </a:solidFill>
                <a:latin typeface="Consolas"/>
              </a:rPr>
              <a:t>, </a:t>
            </a:r>
            <a:r>
              <a:rPr lang="ko-KR" altLang="en-US" sz="2200" dirty="0">
                <a:solidFill>
                  <a:srgbClr val="FFD32A"/>
                </a:solidFill>
                <a:latin typeface="Consolas"/>
              </a:rPr>
              <a:t>도전할 수 있는 교수학습설계를 하는 것이 중요하다</a:t>
            </a:r>
            <a:endParaRPr sz="2200" dirty="0">
              <a:solidFill>
                <a:srgbClr val="FFD32A"/>
              </a:solidFill>
              <a:latin typeface="Consola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58788" y="5390145"/>
            <a:ext cx="11247120" cy="36576"/>
          </a:xfrm>
          <a:prstGeom prst="rect">
            <a:avLst/>
          </a:prstGeom>
          <a:solidFill>
            <a:srgbClr val="003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8788" y="5508858"/>
            <a:ext cx="5029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1600" dirty="0">
                <a:solidFill>
                  <a:srgbClr val="555555"/>
                </a:solidFill>
                <a:latin typeface="Consolas"/>
              </a:rPr>
              <a:t>이 </a:t>
            </a:r>
            <a:r>
              <a:rPr sz="1600" dirty="0" err="1">
                <a:solidFill>
                  <a:srgbClr val="555555"/>
                </a:solidFill>
                <a:latin typeface="Consolas"/>
              </a:rPr>
              <a:t>수업에서</a:t>
            </a:r>
            <a:r>
              <a:rPr sz="1600" dirty="0">
                <a:solidFill>
                  <a:srgbClr val="555555"/>
                </a:solidFill>
                <a:latin typeface="Consolas"/>
              </a:rPr>
              <a:t> 선</a:t>
            </a:r>
            <a:r>
              <a:rPr lang="ko-KR" altLang="en-US" sz="1600" dirty="0">
                <a:solidFill>
                  <a:srgbClr val="555555"/>
                </a:solidFill>
                <a:latin typeface="Consolas"/>
              </a:rPr>
              <a:t>생</a:t>
            </a:r>
            <a:r>
              <a:rPr sz="1600" dirty="0" err="1">
                <a:solidFill>
                  <a:srgbClr val="555555"/>
                </a:solidFill>
                <a:latin typeface="Consolas"/>
              </a:rPr>
              <a:t>님이</a:t>
            </a:r>
            <a:r>
              <a:rPr sz="1600" dirty="0">
                <a:solidFill>
                  <a:srgbClr val="555555"/>
                </a:solidFill>
                <a:latin typeface="Consolas"/>
              </a:rPr>
              <a:t> </a:t>
            </a:r>
            <a:r>
              <a:rPr sz="1600" dirty="0" err="1">
                <a:solidFill>
                  <a:srgbClr val="555555"/>
                </a:solidFill>
                <a:latin typeface="Consolas"/>
              </a:rPr>
              <a:t>직접</a:t>
            </a:r>
            <a:r>
              <a:rPr sz="1600" dirty="0">
                <a:solidFill>
                  <a:srgbClr val="555555"/>
                </a:solidFill>
                <a:latin typeface="Consolas"/>
              </a:rPr>
              <a:t> </a:t>
            </a:r>
            <a:r>
              <a:rPr sz="1600" dirty="0" err="1">
                <a:solidFill>
                  <a:srgbClr val="555555"/>
                </a:solidFill>
                <a:latin typeface="Consolas"/>
              </a:rPr>
              <a:t>가르친</a:t>
            </a:r>
            <a:r>
              <a:rPr sz="1600" dirty="0">
                <a:solidFill>
                  <a:srgbClr val="555555"/>
                </a:solidFill>
                <a:latin typeface="Consolas"/>
              </a:rPr>
              <a:t>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2388" y="5508858"/>
            <a:ext cx="5029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1600">
                <a:solidFill>
                  <a:srgbClr val="555555"/>
                </a:solidFill>
                <a:latin typeface="Consolas"/>
              </a:rPr>
              <a:t>학생들이 AI로 스스로 발견한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788" y="5920338"/>
            <a:ext cx="5029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ko-KR" altLang="en-US" sz="1600" b="1" dirty="0">
                <a:solidFill>
                  <a:srgbClr val="FF0040"/>
                </a:solidFill>
                <a:latin typeface="Consolas"/>
                <a:ea typeface="맑은 고딕" panose="020B0503020000020004" pitchFamily="50" charset="-127"/>
              </a:rPr>
              <a:t>파이썬 매크로 프로그램 기초 및 사용법만 설명</a:t>
            </a:r>
            <a:endParaRPr sz="1600" b="1" dirty="0">
              <a:solidFill>
                <a:srgbClr val="FF0040"/>
              </a:solidFill>
              <a:latin typeface="Consola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305108" y="592033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sz="2400">
                <a:solidFill>
                  <a:srgbClr val="555555"/>
                </a:solidFill>
                <a:latin typeface="Consolas"/>
              </a:rPr>
              <a:t>vs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2388" y="5920338"/>
            <a:ext cx="502920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sz="1900" b="1">
                <a:solidFill>
                  <a:srgbClr val="00FF41"/>
                </a:solidFill>
                <a:latin typeface="Consolas"/>
              </a:rPr>
              <a:t>REST API, 멀티스레드, 비동기 병렬처리...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7268" y="6492240"/>
            <a:ext cx="9144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defTabSz="457200"/>
            <a:r>
              <a:rPr sz="1100">
                <a:solidFill>
                  <a:srgbClr val="555555"/>
                </a:solidFill>
                <a:latin typeface="Consolas"/>
              </a:rPr>
              <a:t>24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259</TotalTime>
  <Words>1668</Words>
  <Application>Microsoft Office PowerPoint</Application>
  <PresentationFormat>와이드스크린</PresentationFormat>
  <Paragraphs>285</Paragraphs>
  <Slides>31</Slides>
  <Notes>28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31</vt:i4>
      </vt:variant>
    </vt:vector>
  </HeadingPairs>
  <TitlesOfParts>
    <vt:vector size="39" baseType="lpstr">
      <vt:lpstr>맑은 고딕</vt:lpstr>
      <vt:lpstr>Arial</vt:lpstr>
      <vt:lpstr>Calibri</vt:lpstr>
      <vt:lpstr>Cambria</vt:lpstr>
      <vt:lpstr>Consolas</vt:lpstr>
      <vt:lpstr>Courier New</vt:lpstr>
      <vt:lpstr>Office Theme</vt:lpstr>
      <vt:lpstr>1_Office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권순홍</cp:lastModifiedBy>
  <cp:revision>75</cp:revision>
  <dcterms:created xsi:type="dcterms:W3CDTF">2026-08-21T18:13:14Z</dcterms:created>
  <dcterms:modified xsi:type="dcterms:W3CDTF">2026-08-22T15:28:50Z</dcterms:modified>
</cp:coreProperties>
</file>