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1645920"/>
            <a:ext cx="9418320" cy="3657600"/>
          </a:xfrm>
          <a:prstGeom prst="rect">
            <a:avLst/>
          </a:prstGeom>
          <a:solidFill>
            <a:srgbClr val="001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0" y="3794760"/>
            <a:ext cx="4846320" cy="27432"/>
          </a:xfrm>
          <a:prstGeom prst="rect">
            <a:avLst/>
          </a:prstGeom>
          <a:solidFill>
            <a:srgbClr val="00B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18288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0" b="1">
                <a:solidFill>
                  <a:srgbClr val="00FF41"/>
                </a:solidFill>
                <a:latin typeface="Consolas"/>
              </a:rPr>
              <a:t>가르치지 않아도 배운다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30175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0">
                <a:solidFill>
                  <a:srgbClr val="00B32D"/>
                </a:solidFill>
                <a:latin typeface="Consolas"/>
              </a:rPr>
              <a:t>매크로 자동화 수업에서 발견한 AI 시대의 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3931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55555"/>
                </a:solidFill>
                <a:latin typeface="Consolas"/>
              </a:rPr>
              <a:t>BOOKING 1000 SEATS COMPETITION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onsolas"/>
              </a:rPr>
              <a:t>1 / 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00FF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FF41"/>
                </a:solidFill>
                <a:latin typeface="Consolas"/>
              </a:rPr>
              <a:t>목차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onsolas"/>
              </a:rPr>
              <a:t>2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B32D"/>
                </a:solidFill>
                <a:latin typeface="Consola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41732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00FF41"/>
                </a:solidFill>
                <a:latin typeface="Consolas"/>
              </a:rPr>
              <a:t>어떤 수업이었나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2024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B32D"/>
                </a:solidFill>
                <a:latin typeface="Consolas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9202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00FF41"/>
                </a:solidFill>
                <a:latin typeface="Consolas"/>
              </a:rPr>
              <a:t>1막: 처음엔 귀여웠다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42316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B32D"/>
                </a:solidFill>
                <a:latin typeface="Consolas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42316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00FF41"/>
                </a:solidFill>
                <a:latin typeface="Consolas"/>
              </a:rPr>
              <a:t>2막: 예상치 못한 일이 벌어졌다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92608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B32D"/>
                </a:solidFill>
                <a:latin typeface="Consolas"/>
              </a:rPr>
              <a:t>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92608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00FF41"/>
                </a:solidFill>
                <a:latin typeface="Consolas"/>
              </a:rPr>
              <a:t>3막: DB를 막자 다른 길을 찾았다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42900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B32D"/>
                </a:solidFill>
                <a:latin typeface="Consolas"/>
              </a:rPr>
              <a:t>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42900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00FF41"/>
                </a:solidFill>
                <a:latin typeface="Consolas"/>
              </a:rPr>
              <a:t>공방의 전 과정 정리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93192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B32D"/>
                </a:solidFill>
                <a:latin typeface="Consolas"/>
              </a:rPr>
              <a:t>06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93192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00FF41"/>
                </a:solidFill>
                <a:latin typeface="Consolas"/>
              </a:rPr>
              <a:t>느낀 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00FF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FF41"/>
                </a:solidFill>
                <a:latin typeface="Consolas"/>
              </a:rPr>
              <a:t>어떤 수업이었나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0B32D"/>
                </a:solidFill>
                <a:latin typeface="Consolas"/>
              </a:rPr>
              <a:t>수업 배경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onsolas"/>
              </a:rPr>
              <a:t>3 / 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00FF41"/>
                </a:solidFill>
                <a:latin typeface="Consolas"/>
              </a:rPr>
              <a:t>▸  매크로 자동화를 가르치기 위해 직접 예매 사이트 제작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810512"/>
            <a:ext cx="10927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00B32D"/>
                </a:solidFill>
                <a:latin typeface="Consolas"/>
              </a:rPr>
              <a:t>   · "1000개 좌석을 먼저 예매하는 사람이 이긴다"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49424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00FF41"/>
                </a:solidFill>
                <a:latin typeface="Consolas"/>
              </a:rPr>
              <a:t>▸  학생들은 AI를 활용해 자동화 프로그램을 직접 작성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88336"/>
            <a:ext cx="10927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00B32D"/>
                </a:solidFill>
                <a:latin typeface="Consolas"/>
              </a:rPr>
              <a:t>   · Python (pyautogui / Selenium) 3가지 난이도로 제공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586984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D32A"/>
                </a:solidFill>
                <a:latin typeface="Consolas"/>
              </a:rPr>
              <a:t>▸  선생님 vs 학생들의 공방이 시작됨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657600"/>
            <a:ext cx="4114800" cy="1463040"/>
          </a:xfrm>
          <a:prstGeom prst="rect">
            <a:avLst/>
          </a:prstGeom>
          <a:solidFill>
            <a:srgbClr val="003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657600"/>
            <a:ext cx="54864" cy="1463040"/>
          </a:xfrm>
          <a:prstGeom prst="rect">
            <a:avLst/>
          </a:prstGeom>
          <a:solidFill>
            <a:srgbClr val="00FF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749039"/>
            <a:ext cx="374903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B32D"/>
                </a:solidFill>
                <a:latin typeface="Consolas"/>
              </a:rPr>
              <a:t>처음엔 단순한 자동화 실습이었다.
그런데...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00FF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FF41"/>
                </a:solidFill>
                <a:latin typeface="Consolas"/>
              </a:rPr>
              <a:t>수업 환경 소개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0B32D"/>
                </a:solidFill>
                <a:latin typeface="Consolas"/>
              </a:rPr>
              <a:t>어떤 환경에서 진행됐나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onsolas"/>
              </a:rPr>
              <a:t>4 / 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00FF41"/>
                </a:solidFill>
                <a:latin typeface="Consolas"/>
              </a:rPr>
              <a:t>▸  대상: 중학생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1051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00FF41"/>
                </a:solidFill>
                <a:latin typeface="Consolas"/>
              </a:rPr>
              <a:t>▸  사용 도구: Python, 브라우저 개발자 콘솔, AI 도구 자유 선택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49424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00FF41"/>
                </a:solidFill>
                <a:latin typeface="Consolas"/>
              </a:rPr>
              <a:t>▸  규칙: 방법 제한 없음, AI 사용 자유, 실패해도 재시도 가능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88336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00FF41"/>
                </a:solidFill>
                <a:latin typeface="Consolas"/>
              </a:rPr>
              <a:t>▸  목표: 1000개 좌석을 상대보다 먼저 더 많이 예매하면 승리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127248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00FF41"/>
                </a:solidFill>
                <a:latin typeface="Consolas"/>
              </a:rPr>
              <a:t>▸  선생님의 역할: 사이트 운영 및 방어, 직접 가르치지 않음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00FF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FF41"/>
                </a:solidFill>
                <a:latin typeface="Consolas"/>
              </a:rPr>
              <a:t>처음 예매 시스템 구조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0B32D"/>
                </a:solidFill>
                <a:latin typeface="Consolas"/>
              </a:rPr>
              <a:t>Before — 초기 구조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onsolas"/>
              </a:rPr>
              <a:t>5 / 30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194560"/>
            <a:ext cx="2560320" cy="1097280"/>
          </a:xfrm>
          <a:prstGeom prst="rect">
            <a:avLst/>
          </a:prstGeom>
          <a:solidFill>
            <a:srgbClr val="003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2194560"/>
            <a:ext cx="73152" cy="1097280"/>
          </a:xfrm>
          <a:prstGeom prst="rect">
            <a:avLst/>
          </a:prstGeom>
          <a:solidFill>
            <a:srgbClr val="00FF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774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0FF41"/>
                </a:solidFill>
                <a:latin typeface="Consolas"/>
              </a:rPr>
              <a:t>예매 사이트
(index.html)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25603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0040"/>
                </a:solidFill>
                <a:latin typeface="Consolas"/>
              </a:rPr>
              <a:t>직접 Firebase API 호출  ──────────▶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0" y="2194560"/>
            <a:ext cx="2560320" cy="1097280"/>
          </a:xfrm>
          <a:prstGeom prst="rect">
            <a:avLst/>
          </a:prstGeom>
          <a:solidFill>
            <a:srgbClr val="1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0" y="2194560"/>
            <a:ext cx="73152" cy="1097280"/>
          </a:xfrm>
          <a:prstGeom prst="rect">
            <a:avLst/>
          </a:prstGeom>
          <a:solidFill>
            <a:srgbClr val="FF0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23960" y="23774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F0040"/>
                </a:solidFill>
                <a:latin typeface="Consolas"/>
              </a:rPr>
              <a:t>Firebase DB
(인증 없음)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6576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0040"/>
                </a:solidFill>
                <a:latin typeface="Consolas"/>
              </a:rPr>
              <a:t>▸  웹사이트에서 Firebase에 직접 읽기/쓰기 가능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096512"/>
            <a:ext cx="10927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0040"/>
                </a:solidFill>
                <a:latin typeface="Consolas"/>
              </a:rPr>
              <a:t>   · 별도 서버 없음 — 인증 없음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535424"/>
            <a:ext cx="10927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0040"/>
                </a:solidFill>
                <a:latin typeface="Consolas"/>
              </a:rPr>
              <a:t>   · Firebase Rules 기본값: 누구나 읽기/쓰기 가능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974336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D32A"/>
                </a:solidFill>
                <a:latin typeface="Consolas"/>
              </a:rPr>
              <a:t>▸  이게 문제의 시작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00FF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FF41"/>
                </a:solidFill>
                <a:latin typeface="Consolas"/>
              </a:rPr>
              <a:t>1막 — 처음엔 귀여웠다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0B32D"/>
                </a:solidFill>
                <a:latin typeface="Consolas"/>
              </a:rPr>
              <a:t>미숙한 시도들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onsolas"/>
              </a:rPr>
              <a:t>6 / 30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3657600" cy="4389120"/>
          </a:xfrm>
          <a:prstGeom prst="rect">
            <a:avLst/>
          </a:prstGeom>
          <a:solidFill>
            <a:srgbClr val="0510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3657600" cy="54864"/>
          </a:xfrm>
          <a:prstGeom prst="rect">
            <a:avLst/>
          </a:prstGeom>
          <a:solidFill>
            <a:srgbClr val="00FF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4630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FF41"/>
                </a:solidFill>
                <a:latin typeface="Consolas"/>
              </a:rPr>
              <a:t>학생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8288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0FF41"/>
                </a:solidFill>
                <a:latin typeface="Consolas"/>
              </a:rPr>
              <a:t>타이밍 실수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423160"/>
            <a:ext cx="3108960" cy="18288"/>
          </a:xfrm>
          <a:prstGeom prst="rect">
            <a:avLst/>
          </a:prstGeom>
          <a:solidFill>
            <a:srgbClr val="1A3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560320"/>
            <a:ext cx="33832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00B32D"/>
                </a:solidFill>
                <a:latin typeface="Consolas"/>
              </a:rPr>
              <a:t>대기 시간을 너무 짧게 설정</a:t>
            </a:r>
          </a:p>
          <a:p>
            <a:r>
              <a:rPr sz="1700">
                <a:solidFill>
                  <a:srgbClr val="00B32D"/>
                </a:solidFill>
                <a:latin typeface="Consolas"/>
              </a:rPr>
              <a:t>→ 이름 입력할 시간 없어서</a:t>
            </a:r>
          </a:p>
          <a:p>
            <a:r>
              <a:rPr sz="1700">
                <a:solidFill>
                  <a:srgbClr val="00B32D"/>
                </a:solidFill>
                <a:latin typeface="Consolas"/>
              </a:rPr>
              <a:t>   예매 실패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1371600"/>
            <a:ext cx="3657600" cy="4389120"/>
          </a:xfrm>
          <a:prstGeom prst="rect">
            <a:avLst/>
          </a:prstGeom>
          <a:solidFill>
            <a:srgbClr val="0510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1371600"/>
            <a:ext cx="3657600" cy="54864"/>
          </a:xfrm>
          <a:prstGeom prst="rect">
            <a:avLst/>
          </a:prstGeom>
          <a:solidFill>
            <a:srgbClr val="FFD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97680" y="14630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D32A"/>
                </a:solidFill>
                <a:latin typeface="Consolas"/>
              </a:rPr>
              <a:t>학생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18288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FD32A"/>
                </a:solidFill>
                <a:latin typeface="Consolas"/>
              </a:rPr>
              <a:t>좌표 실수 + 멈춤 불가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0" y="2423160"/>
            <a:ext cx="3108960" cy="18288"/>
          </a:xfrm>
          <a:prstGeom prst="rect">
            <a:avLst/>
          </a:prstGeom>
          <a:solidFill>
            <a:srgbClr val="1A3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34840" y="2560320"/>
            <a:ext cx="33832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00B32D"/>
                </a:solidFill>
                <a:latin typeface="Consolas"/>
              </a:rPr>
              <a:t>좌표를 잘못 잡은 채로 실행</a:t>
            </a:r>
          </a:p>
          <a:p>
            <a:r>
              <a:rPr sz="1700">
                <a:solidFill>
                  <a:srgbClr val="00B32D"/>
                </a:solidFill>
                <a:latin typeface="Consolas"/>
              </a:rPr>
              <a:t>→ STOP 기능 없어서</a:t>
            </a:r>
          </a:p>
          <a:p>
            <a:r>
              <a:rPr sz="1700">
                <a:solidFill>
                  <a:srgbClr val="00B32D"/>
                </a:solidFill>
                <a:latin typeface="Consolas"/>
              </a:rPr>
              <a:t>   프로그램 끄느라 우왕좌왕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1371600"/>
            <a:ext cx="3657600" cy="4389120"/>
          </a:xfrm>
          <a:prstGeom prst="rect">
            <a:avLst/>
          </a:prstGeom>
          <a:solidFill>
            <a:srgbClr val="0510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0" y="1371600"/>
            <a:ext cx="3657600" cy="54864"/>
          </a:xfrm>
          <a:prstGeom prst="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0" y="14630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9F43"/>
                </a:solidFill>
                <a:latin typeface="Consolas"/>
              </a:rPr>
              <a:t>학생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18288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F9F43"/>
                </a:solidFill>
                <a:latin typeface="Consolas"/>
              </a:rPr>
              <a:t>브라우저 폭탄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03920" y="2423160"/>
            <a:ext cx="3108960" cy="18288"/>
          </a:xfrm>
          <a:prstGeom prst="rect">
            <a:avLst/>
          </a:prstGeom>
          <a:solidFill>
            <a:srgbClr val="1A3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66760" y="2560320"/>
            <a:ext cx="33832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00B32D"/>
                </a:solidFill>
                <a:latin typeface="Consolas"/>
              </a:rPr>
              <a:t>크로미움으로 브라우저 창</a:t>
            </a:r>
          </a:p>
          <a:p>
            <a:r>
              <a:rPr sz="1700">
                <a:solidFill>
                  <a:srgbClr val="00B32D"/>
                </a:solidFill>
                <a:latin typeface="Consolas"/>
              </a:rPr>
              <a:t>50개~100개씩 한번에 실행</a:t>
            </a:r>
          </a:p>
          <a:p>
            <a:r>
              <a:rPr sz="1700">
                <a:solidFill>
                  <a:srgbClr val="00B32D"/>
                </a:solidFill>
                <a:latin typeface="Consolas"/>
              </a:rPr>
              <a:t>→ 과부하... 엄청난 렉</a:t>
            </a:r>
          </a:p>
          <a:p>
            <a:r>
              <a:rPr sz="1700">
                <a:solidFill>
                  <a:srgbClr val="00B32D"/>
                </a:solidFill>
                <a:latin typeface="Consolas"/>
              </a:rPr>
              <a:t>→ 창 하나하나 직접 닫느라</a:t>
            </a:r>
          </a:p>
          <a:p>
            <a:r>
              <a:rPr sz="1700">
                <a:solidFill>
                  <a:srgbClr val="00B32D"/>
                </a:solidFill>
                <a:latin typeface="Consolas"/>
              </a:rPr>
              <a:t>   혼자 고생하고 있음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9893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555555"/>
                </a:solidFill>
                <a:latin typeface="Consolas"/>
              </a:rPr>
              <a:t>"아직 미숙하다... 고 생각했다."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00FF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FF41"/>
                </a:solidFill>
                <a:latin typeface="Consolas"/>
              </a:rPr>
              <a:t>2막 — 예상치 못한 일이 벌어졌다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0B32D"/>
                </a:solidFill>
                <a:latin typeface="Consolas"/>
              </a:rPr>
              <a:t>학생 4: 시스템 구조 분석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onsolas"/>
              </a:rPr>
              <a:t>7 / 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00FF41"/>
                </a:solidFill>
                <a:latin typeface="Consolas"/>
              </a:rPr>
              <a:t>▸  Start 버튼이 Firebase에 직접 쓰기를 한다는 것을 발견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810512"/>
            <a:ext cx="10927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00B32D"/>
                </a:solidFill>
                <a:latin typeface="Consolas"/>
              </a:rPr>
              <a:t>   · 브라우저 네트워크 탭 / Firebase 콘솔 분석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49424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00FF41"/>
                </a:solidFill>
                <a:latin typeface="Consolas"/>
              </a:rPr>
              <a:t>▸  Firebase Rules가 열려 있다는 것을 확인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88336"/>
            <a:ext cx="10927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00B32D"/>
                </a:solidFill>
                <a:latin typeface="Consolas"/>
              </a:rPr>
              <a:t>   · 읽기/쓰기 권한이 누구에게나 열려 있음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657600"/>
            <a:ext cx="4114800" cy="1645920"/>
          </a:xfrm>
          <a:prstGeom prst="rect">
            <a:avLst/>
          </a:prstGeom>
          <a:solidFill>
            <a:srgbClr val="003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657600"/>
            <a:ext cx="54864" cy="1645920"/>
          </a:xfrm>
          <a:prstGeom prst="rect">
            <a:avLst/>
          </a:prstGeom>
          <a:solidFill>
            <a:srgbClr val="FFD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749039"/>
            <a:ext cx="3749039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D32A"/>
                </a:solidFill>
                <a:latin typeface="Consolas"/>
              </a:rPr>
              <a:t>결과
선생님이 Start를 누르기도 전에
학생 혼자 먼저 게임을 시작해버림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00FF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FF41"/>
                </a:solidFill>
                <a:latin typeface="Consolas"/>
              </a:rPr>
              <a:t>기술 배경 — Firebase란?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0B32D"/>
                </a:solidFill>
                <a:latin typeface="Consolas"/>
              </a:rPr>
              <a:t>[ 기술 배경 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onsolas"/>
              </a:rPr>
              <a:t>8 / 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00FF41"/>
                </a:solidFill>
                <a:latin typeface="Consolas"/>
              </a:rPr>
              <a:t>▸  Google이 제공하는 클라우드 데이터베이스 서비스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1051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00FF41"/>
                </a:solidFill>
                <a:latin typeface="Consolas"/>
              </a:rPr>
              <a:t>▸  코드 없이도 URL 하나로 데이터를 저장하고 읽을 수 있음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49424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00FF41"/>
                </a:solidFill>
                <a:latin typeface="Consolas"/>
              </a:rPr>
              <a:t>▸  Rules 설정에 따라 누구나 접근 가능할 수도 있음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88336"/>
            <a:ext cx="10927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00B32D"/>
                </a:solidFill>
                <a:latin typeface="Consolas"/>
              </a:rPr>
              <a:t>   · 기본값: 인증 없이 누구나 읽기/쓰기 허용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4572000" cy="1645920"/>
          </a:xfrm>
          <a:prstGeom prst="rect">
            <a:avLst/>
          </a:prstGeom>
          <a:solidFill>
            <a:srgbClr val="003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54864" cy="1645920"/>
          </a:xfrm>
          <a:prstGeom prst="rect">
            <a:avLst/>
          </a:prstGeom>
          <a:solidFill>
            <a:srgbClr val="FF0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566160"/>
            <a:ext cx="4297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0040"/>
                </a:solidFill>
                <a:latin typeface="Consolas"/>
              </a:rPr>
              <a:t>이 수업에서는
처음에 Rules가 열려 있었음
→ 브라우저에서 누구나 직접 DB에 접근 가능한 상태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00FF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FF41"/>
                </a:solidFill>
                <a:latin typeface="Consolas"/>
              </a:rPr>
              <a:t>2막 — DB에 직접 접근하다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0B32D"/>
                </a:solidFill>
                <a:latin typeface="Consolas"/>
              </a:rPr>
              <a:t>학생 5 &amp; 6 + REST 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onsolas"/>
              </a:rPr>
              <a:t>9 / 30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5303520" cy="2926080"/>
          </a:xfrm>
          <a:prstGeom prst="rect">
            <a:avLst/>
          </a:prstGeom>
          <a:solidFill>
            <a:srgbClr val="0510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5303520" cy="54864"/>
          </a:xfrm>
          <a:prstGeom prst="rect">
            <a:avLst/>
          </a:prstGeom>
          <a:solidFill>
            <a:srgbClr val="00FF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4630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FF41"/>
                </a:solidFill>
                <a:latin typeface="Consolas"/>
              </a:rPr>
              <a:t>학생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82880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0FF41"/>
                </a:solidFill>
                <a:latin typeface="Consolas"/>
              </a:rPr>
              <a:t>Firebase REST API 직접 호출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423160"/>
            <a:ext cx="4754880" cy="18288"/>
          </a:xfrm>
          <a:prstGeom prst="rect">
            <a:avLst/>
          </a:prstGeom>
          <a:solidFill>
            <a:srgbClr val="1A3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560320"/>
            <a:ext cx="5029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00B32D"/>
                </a:solidFill>
                <a:latin typeface="Consolas"/>
              </a:rPr>
              <a:t>▸  REST API로 DB 직접 접근</a:t>
            </a:r>
          </a:p>
          <a:p>
            <a:r>
              <a:rPr sz="1700">
                <a:solidFill>
                  <a:srgbClr val="00B32D"/>
                </a:solidFill>
                <a:latin typeface="Consolas"/>
              </a:rPr>
              <a:t>▸  1000개 좌석을 한 번에 동시 쓰기</a:t>
            </a:r>
          </a:p>
          <a:p>
            <a:r>
              <a:rPr sz="1700">
                <a:solidFill>
                  <a:srgbClr val="00B32D"/>
                </a:solidFill>
                <a:latin typeface="Consolas"/>
              </a:rPr>
              <a:t>   · 게임 시작 전에 이미 전부 예매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371600"/>
            <a:ext cx="5303520" cy="2926080"/>
          </a:xfrm>
          <a:prstGeom prst="rect">
            <a:avLst/>
          </a:prstGeom>
          <a:solidFill>
            <a:srgbClr val="0510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371600"/>
            <a:ext cx="5303520" cy="54864"/>
          </a:xfrm>
          <a:prstGeom prst="rect">
            <a:avLst/>
          </a:prstGeom>
          <a:solidFill>
            <a:srgbClr val="FF0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14630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0040"/>
                </a:solidFill>
                <a:latin typeface="Consolas"/>
              </a:rPr>
              <a:t>학생 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182880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F0040"/>
                </a:solidFill>
                <a:latin typeface="Consolas"/>
              </a:rPr>
              <a:t>기존 예매 덮어쓰기 (PUT)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0" y="2423160"/>
            <a:ext cx="4754880" cy="18288"/>
          </a:xfrm>
          <a:prstGeom prst="rect">
            <a:avLst/>
          </a:prstGeom>
          <a:solidFill>
            <a:srgbClr val="1A3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2560320"/>
            <a:ext cx="5029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00B32D"/>
                </a:solidFill>
                <a:latin typeface="Consolas"/>
              </a:rPr>
              <a:t>▸  남이 예매한 좌석도 자신의 이름으로 교체</a:t>
            </a:r>
          </a:p>
          <a:p>
            <a:r>
              <a:rPr sz="1700">
                <a:solidFill>
                  <a:srgbClr val="00B32D"/>
                </a:solidFill>
                <a:latin typeface="Consolas"/>
              </a:rPr>
              <a:t>▸  자신 외에는 단 한 명도 예매 불가</a:t>
            </a:r>
          </a:p>
          <a:p>
            <a:r>
              <a:rPr sz="1700">
                <a:solidFill>
                  <a:srgbClr val="00B32D"/>
                </a:solidFill>
                <a:latin typeface="Consolas"/>
              </a:rPr>
              <a:t>   · 1000석 전부 독점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5720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FFD32A"/>
                </a:solidFill>
                <a:latin typeface="Consolas"/>
              </a:rPr>
              <a:t>REST API?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010912"/>
            <a:ext cx="11247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B32D"/>
                </a:solidFill>
                <a:latin typeface="Consolas"/>
              </a:rPr>
              <a:t>GET  읽기  /  POST  생성  /  PUT  덮어쓰기  /  DELETE  삭제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449824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55555"/>
                </a:solidFill>
                <a:latin typeface="Consolas"/>
              </a:rPr>
              <a:t>가능했던 이유: Firebase DB는 REST API로 접근 가능 — URL만 알면 누구나 PUT 요청으로 데이터를 덮어쓸 수 있었음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00FF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FF41"/>
                </a:solidFill>
                <a:latin typeface="Consolas"/>
              </a:rPr>
              <a:t>선생님의 첫 번째 대응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0B32D"/>
                </a:solidFill>
                <a:latin typeface="Consolas"/>
              </a:rPr>
              <a:t>Cloudflare Worker 방어선 추가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onsolas"/>
              </a:rPr>
              <a:t>10 / 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0040"/>
                </a:solidFill>
                <a:latin typeface="Consolas"/>
              </a:rPr>
              <a:t>BEFORE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83080"/>
            <a:ext cx="10972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0040"/>
                </a:solidFill>
                <a:latin typeface="Consolas"/>
              </a:rPr>
              <a:t>예매 사이트  →  Firebase DB  (누구나 직접 접근 가능)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331720"/>
            <a:ext cx="11247120" cy="27432"/>
          </a:xfrm>
          <a:prstGeom prst="rect">
            <a:avLst/>
          </a:prstGeom>
          <a:solidFill>
            <a:srgbClr val="1A3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468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0FF41"/>
                </a:solidFill>
                <a:latin typeface="Consolas"/>
              </a:rPr>
              <a:t>AFTER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834640"/>
            <a:ext cx="10972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FF41"/>
                </a:solidFill>
                <a:latin typeface="Consolas"/>
              </a:rPr>
              <a:t>예매 사이트  →  Cloudflare Worker (방어선)  →  Firebase DB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3832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00FF41"/>
                </a:solidFill>
                <a:latin typeface="Consolas"/>
              </a:rPr>
              <a:t>▸  학생은 Worker의 /claim 엔드포인트만 호출 가능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822191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00FF41"/>
                </a:solidFill>
                <a:latin typeface="Consolas"/>
              </a:rPr>
              <a:t>▸  좌석 중복 확인 — 이미 예매된 좌석 덮어쓰기 방지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261104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00FF41"/>
                </a:solidFill>
                <a:latin typeface="Consolas"/>
              </a:rPr>
              <a:t>▸  Firebase 직접 접근 차단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9377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D32A"/>
                </a:solidFill>
                <a:latin typeface="Consolas"/>
              </a:rPr>
              <a:t>그런데...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00FF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FF41"/>
                </a:solidFill>
                <a:latin typeface="Consolas"/>
              </a:rPr>
              <a:t>Worker를 우회하다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0B32D"/>
                </a:solidFill>
                <a:latin typeface="Consolas"/>
              </a:rPr>
              <a:t>학생: Firebase 계정 직접 생성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onsolas"/>
              </a:rPr>
              <a:t>11 / 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00FF41"/>
                </a:solidFill>
                <a:latin typeface="Consolas"/>
              </a:rPr>
              <a:t>▸  Cloudflare Worker가 방어선임을 파악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1051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00FF41"/>
                </a:solidFill>
                <a:latin typeface="Consolas"/>
              </a:rPr>
              <a:t>▸  Worker를 거치지 않고 Firebase에 직접 접근할 방법 탐색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49424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00FF41"/>
                </a:solidFill>
                <a:latin typeface="Consolas"/>
              </a:rPr>
              <a:t>▸  Firebase에 직접 계정(이메일/비밀번호)을 만들어버림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88336"/>
            <a:ext cx="10927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00B32D"/>
                </a:solidFill>
                <a:latin typeface="Consolas"/>
              </a:rPr>
              <a:t>   · 해당 계정으로 인증 토큰 획득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127248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00FF41"/>
                </a:solidFill>
                <a:latin typeface="Consolas"/>
              </a:rPr>
              <a:t>▸  토큰으로 Firebase DB에 직접 쓰기 성공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566160"/>
            <a:ext cx="10927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00B32D"/>
                </a:solidFill>
                <a:latin typeface="Consolas"/>
              </a:rPr>
              <a:t>   · → Cloudflare Worker를 완전히 우회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5720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FF0040"/>
                </a:solidFill>
                <a:latin typeface="Consolas"/>
              </a:rPr>
              <a:t>학생 브라우저  ──── 우회! ────▶  Firebase DB (직접 접근 성공)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00FF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FF41"/>
                </a:solidFill>
                <a:latin typeface="Consolas"/>
              </a:rPr>
              <a:t>선생님의 두 번째 대응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0B32D"/>
                </a:solidFill>
                <a:latin typeface="Consolas"/>
              </a:rPr>
              <a:t>Firebase Auth 추가 — 신규 가입 차단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onsolas"/>
              </a:rPr>
              <a:t>12 / 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11247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FF0040"/>
                </a:solidFill>
                <a:latin typeface="Consolas"/>
              </a:rPr>
              <a:t>문제: 누구나 Firebase에 계정을 만들어서 직접 접근 가능했음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202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00FF41"/>
                </a:solidFill>
                <a:latin typeface="Consolas"/>
              </a:rPr>
              <a:t>▸  Firebase Auth 이메일 인증 활성화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5915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00FF41"/>
                </a:solidFill>
                <a:latin typeface="Consolas"/>
              </a:rPr>
              <a:t>▸  Firebase Rules: 인증된 계정만 쓰기 허용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798064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00FF41"/>
                </a:solidFill>
                <a:latin typeface="Consolas"/>
              </a:rPr>
              <a:t>▸  신규 가입(계정 생성) 완전 비활성화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236976"/>
            <a:ext cx="10927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00B32D"/>
                </a:solidFill>
                <a:latin typeface="Consolas"/>
              </a:rPr>
              <a:t>   · Admin 계정 하나만 존재, 더 이상 계정 생성 불가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675887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00FF41"/>
                </a:solidFill>
                <a:latin typeface="Consolas"/>
              </a:rPr>
              <a:t>▸  학생의 임의 계정 생성으로 우회하는 방법 차단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4572000"/>
            <a:ext cx="8229600" cy="640080"/>
          </a:xfrm>
          <a:prstGeom prst="rect">
            <a:avLst/>
          </a:prstGeom>
          <a:solidFill>
            <a:srgbClr val="003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" y="4572000"/>
            <a:ext cx="54864" cy="640080"/>
          </a:xfrm>
          <a:prstGeom prst="rect">
            <a:avLst/>
          </a:prstGeom>
          <a:solidFill>
            <a:srgbClr val="00FF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6634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FF41"/>
                </a:solidFill>
                <a:latin typeface="Consolas"/>
              </a:rPr>
              <a:t>이제 학생들이 데이터베이스에 직접 접근하는 모든 경로 차단 완료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00FF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FF41"/>
                </a:solidFill>
                <a:latin typeface="Consolas"/>
              </a:rPr>
              <a:t>3막 — DB를 막자 다른 길을 찾았다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0B32D"/>
                </a:solidFill>
                <a:latin typeface="Consolas"/>
              </a:rPr>
              <a:t>학생 6 재등장: 멀티스레드 발견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onsolas"/>
              </a:rPr>
              <a:t>13 / 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00FF41"/>
                </a:solidFill>
                <a:latin typeface="Consolas"/>
              </a:rPr>
              <a:t>▸  DB 직접 접근 경로가 모두 막힘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1051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00FF41"/>
                </a:solidFill>
                <a:latin typeface="Consolas"/>
              </a:rPr>
              <a:t>▸  Worker /claim 엔드포인트를 멀티스레드로 동시 다발 호출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49424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00FF41"/>
                </a:solidFill>
                <a:latin typeface="Consolas"/>
              </a:rPr>
              <a:t>▸  본인도 모르는 사이 멀티스레드를 사용하고 있음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017520"/>
            <a:ext cx="6400800" cy="1097280"/>
          </a:xfrm>
          <a:prstGeom prst="rect">
            <a:avLst/>
          </a:prstGeom>
          <a:solidFill>
            <a:srgbClr val="003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3017520"/>
            <a:ext cx="54864" cy="1097280"/>
          </a:xfrm>
          <a:prstGeom prst="rect">
            <a:avLst/>
          </a:prstGeom>
          <a:solidFill>
            <a:srgbClr val="FFD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108960"/>
            <a:ext cx="6126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D32A"/>
                </a:solidFill>
                <a:latin typeface="Consolas"/>
              </a:rPr>
              <a:t>결과
하나씩 예매하던 것이  →  순식간에 수백 개 동시 예매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754880"/>
            <a:ext cx="11247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555555"/>
                </a:solidFill>
                <a:latin typeface="Consolas"/>
              </a:rPr>
              <a:t>* 따로 프로그래밍을 배운 것도 아닌데, 잘한다…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00FF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FF41"/>
                </a:solidFill>
                <a:latin typeface="Consolas"/>
              </a:rPr>
              <a:t>학생들끼리의 선의의 경쟁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0B32D"/>
                </a:solidFill>
                <a:latin typeface="Consolas"/>
              </a:rPr>
              <a:t>더 빨리, 더 많이 — 다음 강자의 등장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onsolas"/>
              </a:rPr>
              <a:t>14 / 30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5303520" cy="3657600"/>
          </a:xfrm>
          <a:prstGeom prst="rect">
            <a:avLst/>
          </a:prstGeom>
          <a:solidFill>
            <a:srgbClr val="0510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5303520" cy="54864"/>
          </a:xfrm>
          <a:prstGeom prst="rect">
            <a:avLst/>
          </a:prstGeom>
          <a:solidFill>
            <a:srgbClr val="00FF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4630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FF41"/>
                </a:solidFill>
                <a:latin typeface="Consolas"/>
              </a:rPr>
              <a:t>멀티스레드 학생 (기존 강자)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82880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0FF41"/>
                </a:solidFill>
                <a:latin typeface="Consolas"/>
              </a:rPr>
              <a:t/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423160"/>
            <a:ext cx="4754880" cy="18288"/>
          </a:xfrm>
          <a:prstGeom prst="rect">
            <a:avLst/>
          </a:prstGeom>
          <a:solidFill>
            <a:srgbClr val="1A3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56032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00B32D"/>
                </a:solidFill>
                <a:latin typeface="Consolas"/>
              </a:rPr>
              <a:t>▸  Python 멀티스레드로 수백 개 동시 예매 중</a:t>
            </a:r>
          </a:p>
          <a:p>
            <a:r>
              <a:rPr sz="1700">
                <a:solidFill>
                  <a:srgbClr val="00B32D"/>
                </a:solidFill>
                <a:latin typeface="Consolas"/>
              </a:rPr>
              <a:t>▸  다른 학생들보다 압도적으로 빠름</a:t>
            </a:r>
          </a:p>
          <a:p>
            <a:r>
              <a:rPr sz="1700">
                <a:solidFill>
                  <a:srgbClr val="00B32D"/>
                </a:solidFill>
                <a:latin typeface="Consolas"/>
              </a:rPr>
              <a:t>▸  자신이 1등인 줄 알고 기세등등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371600"/>
            <a:ext cx="5303520" cy="3657600"/>
          </a:xfrm>
          <a:prstGeom prst="rect">
            <a:avLst/>
          </a:prstGeom>
          <a:solidFill>
            <a:srgbClr val="0510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371600"/>
            <a:ext cx="5303520" cy="54864"/>
          </a:xfrm>
          <a:prstGeom prst="rect">
            <a:avLst/>
          </a:prstGeom>
          <a:solidFill>
            <a:srgbClr val="FFD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14630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D32A"/>
                </a:solidFill>
                <a:latin typeface="Consolas"/>
              </a:rPr>
              <a:t>새 학생 등장 (새 강자)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182880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FD32A"/>
                </a:solidFill>
                <a:latin typeface="Consolas"/>
              </a:rPr>
              <a:t>"파이썬 안 써도 되는데요?"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0" y="2423160"/>
            <a:ext cx="4754880" cy="18288"/>
          </a:xfrm>
          <a:prstGeom prst="rect">
            <a:avLst/>
          </a:prstGeom>
          <a:solidFill>
            <a:srgbClr val="1A3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256032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00B32D"/>
                </a:solidFill>
                <a:latin typeface="Consolas"/>
              </a:rPr>
              <a:t>▸  브라우저 콘솔에서 JS로 바로 실행</a:t>
            </a:r>
          </a:p>
          <a:p>
            <a:r>
              <a:rPr sz="1700">
                <a:solidFill>
                  <a:srgbClr val="00B32D"/>
                </a:solidFill>
                <a:latin typeface="Consolas"/>
              </a:rPr>
              <a:t>▸  Promise.all() 비동기 병렬 처리</a:t>
            </a:r>
          </a:p>
          <a:p>
            <a:r>
              <a:rPr sz="1700">
                <a:solidFill>
                  <a:srgbClr val="00B32D"/>
                </a:solidFill>
                <a:latin typeface="Consolas"/>
              </a:rPr>
              <a:t>▸  멀티스레드보다 압도적으로 빠름  →  최종 우승!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486400"/>
            <a:ext cx="11247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555555"/>
                </a:solidFill>
                <a:latin typeface="Consolas"/>
              </a:rPr>
              <a:t>선생님을 뚫는 경쟁이 어느새 학생들끼리의 경쟁으로 발전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943600"/>
            <a:ext cx="11247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555555"/>
                </a:solidFill>
                <a:latin typeface="Consolas"/>
              </a:rPr>
              <a:t>선생님: "솔직히 말하면... 이렇게 애들이 잘할 줄 몰랐다."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00FF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FF41"/>
                </a:solidFill>
                <a:latin typeface="Consolas"/>
              </a:rPr>
              <a:t>Python 멀티스레드 vs JS Promise.all()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0B32D"/>
                </a:solidFill>
                <a:latin typeface="Consolas"/>
              </a:rPr>
              <a:t>[ 기술 배경 ] — 왜 브라우저 콘솔이 더 빨랐나?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onsolas"/>
              </a:rPr>
              <a:t>15 / 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417320"/>
            <a:ext cx="5303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0FF41"/>
                </a:solidFill>
                <a:latin typeface="Consolas"/>
              </a:rPr>
              <a:t>Python 멀티스레드 (학생 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920240"/>
            <a:ext cx="5303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00FF41"/>
                </a:solidFill>
                <a:latin typeface="Consolas"/>
              </a:rPr>
              <a:t>▸  여러 스레드가 번갈아 실행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331720"/>
            <a:ext cx="5303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00FF41"/>
                </a:solidFill>
                <a:latin typeface="Consolas"/>
              </a:rPr>
              <a:t>▸  Selenium 오버헤드 있음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743200"/>
            <a:ext cx="5303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00B32D"/>
                </a:solidFill>
                <a:latin typeface="Consolas"/>
              </a:rPr>
              <a:t>   · 요청마다: DOM 탐색 → 클릭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108960"/>
            <a:ext cx="5303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00B32D"/>
                </a:solidFill>
                <a:latin typeface="Consolas"/>
              </a:rPr>
              <a:t>   · → 모달 대기 → 입력 → 제출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474720"/>
            <a:ext cx="5303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00FF41"/>
                </a:solidFill>
                <a:latin typeface="Consolas"/>
              </a:rPr>
              <a:t>▸  요청 하나당 수십 단계 작업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886200"/>
            <a:ext cx="5303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00FF41"/>
                </a:solidFill>
                <a:latin typeface="Consolas"/>
              </a:rPr>
              <a:t>▸  스레드 생성 / 전환 비용 발생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0" y="1371600"/>
            <a:ext cx="36576" cy="5029200"/>
          </a:xfrm>
          <a:prstGeom prst="rect">
            <a:avLst/>
          </a:prstGeom>
          <a:solidFill>
            <a:srgbClr val="003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0" y="1417320"/>
            <a:ext cx="5669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FD32A"/>
                </a:solidFill>
                <a:latin typeface="Consolas"/>
              </a:rPr>
              <a:t>JS Promise.all() + fetch() (학생 7)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1920240"/>
            <a:ext cx="5669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D32A"/>
                </a:solidFill>
                <a:latin typeface="Consolas"/>
              </a:rPr>
              <a:t>▸  JS 코드는 싱글스레드지만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2331720"/>
            <a:ext cx="5669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D32A"/>
                </a:solidFill>
                <a:latin typeface="Consolas"/>
              </a:rPr>
              <a:t>▸  fetch()는 브라우저 네트워킹(C++)에 위임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2743200"/>
            <a:ext cx="5669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00B32D"/>
                </a:solidFill>
                <a:latin typeface="Consolas"/>
              </a:rPr>
              <a:t>   · 실제 네트워크 I/O는 완전 병렬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3474720"/>
            <a:ext cx="5669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D32A"/>
                </a:solidFill>
                <a:latin typeface="Consolas"/>
              </a:rPr>
              <a:t>▸  DOM 조작 없음 — HTTP 패킷만 전송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3886200"/>
            <a:ext cx="5669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D32A"/>
                </a:solidFill>
                <a:latin typeface="Consolas"/>
              </a:rPr>
              <a:t>▸  요청 하나당 단 1단계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4297680"/>
            <a:ext cx="5669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D32A"/>
                </a:solidFill>
                <a:latin typeface="Consolas"/>
              </a:rPr>
              <a:t>▸  1000개가 거의 동시에 큐에 등록됨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035040"/>
            <a:ext cx="11247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D32A"/>
                </a:solidFill>
                <a:latin typeface="Consolas"/>
              </a:rPr>
              <a:t>핵심: JS 싱글스레드 = JS 코드만 싱글스레드. 네트워크 I/O는 브라우저가 병렬 처리.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00FF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FF41"/>
                </a:solidFill>
                <a:latin typeface="Consolas"/>
              </a:rPr>
              <a:t>3막 — 브라우저 콘솔로 더 빠르게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0B32D"/>
                </a:solidFill>
                <a:latin typeface="Consolas"/>
              </a:rPr>
              <a:t>학생 7: JavaScript 병렬 처리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onsolas"/>
              </a:rPr>
              <a:t>16 / 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00FF41"/>
                </a:solidFill>
                <a:latin typeface="Consolas"/>
              </a:rPr>
              <a:t>▸  Python + Selenium보다 더 빠른 방법 탐색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1051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00FF41"/>
                </a:solidFill>
                <a:latin typeface="Consolas"/>
              </a:rPr>
              <a:t>▸  브라우저 개발자 콘솔에서 JavaScript로 직접 실행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49424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00FF41"/>
                </a:solidFill>
                <a:latin typeface="Consolas"/>
              </a:rPr>
              <a:t>▸  Promise.all()로 1000개 요청을 동시에 발사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834640"/>
            <a:ext cx="6858000" cy="2011680"/>
          </a:xfrm>
          <a:prstGeom prst="rect">
            <a:avLst/>
          </a:prstGeom>
          <a:solidFill>
            <a:srgbClr val="0510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2834640"/>
            <a:ext cx="54864" cy="2011680"/>
          </a:xfrm>
          <a:prstGeom prst="rect">
            <a:avLst/>
          </a:prstGeom>
          <a:solidFill>
            <a:srgbClr val="00B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92608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B32D"/>
                </a:solidFill>
                <a:latin typeface="Consolas"/>
              </a:rPr>
              <a:t>// 브라우저 콘솔에서 실행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227832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B32D"/>
                </a:solidFill>
                <a:latin typeface="Consolas"/>
              </a:rPr>
              <a:t>Promise.all(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529584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B32D"/>
                </a:solidFill>
                <a:latin typeface="Consolas"/>
              </a:rPr>
              <a:t>  Array.from({length: 1000}, (_, i) =&gt;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831336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B32D"/>
                </a:solidFill>
                <a:latin typeface="Consolas"/>
              </a:rPr>
              <a:t>    fetch('/claim', { method: 'POST', ... })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133088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B32D"/>
                </a:solidFill>
                <a:latin typeface="Consolas"/>
              </a:rPr>
              <a:t>  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43484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B32D"/>
                </a:solidFill>
                <a:latin typeface="Consolas"/>
              </a:rPr>
              <a:t>);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5120640"/>
            <a:ext cx="8229600" cy="822960"/>
          </a:xfrm>
          <a:prstGeom prst="rect">
            <a:avLst/>
          </a:prstGeom>
          <a:solidFill>
            <a:srgbClr val="003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7240" y="5120640"/>
            <a:ext cx="54864" cy="822960"/>
          </a:xfrm>
          <a:prstGeom prst="rect">
            <a:avLst/>
          </a:prstGeom>
          <a:solidFill>
            <a:srgbClr val="FFD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525780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FFD32A"/>
                </a:solidFill>
                <a:latin typeface="Consolas"/>
              </a:rPr>
              <a:t>결과   게임 Start 누르자마자   1초도 안 돼서   1000석 전부 예매 완료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00FF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FF41"/>
                </a:solidFill>
                <a:latin typeface="Consolas"/>
              </a:rPr>
              <a:t>선생님의 세 번째 대응... 그리고 패배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0B32D"/>
                </a:solidFill>
                <a:latin typeface="Consolas"/>
              </a:rPr>
              <a:t>Rate Limit → KV 무료 한도 소진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onsolas"/>
              </a:rPr>
              <a:t>17 / 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11247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00FF41"/>
                </a:solidFill>
                <a:latin typeface="Consolas"/>
              </a:rPr>
              <a:t>대응: Cloudflare KV로 한 IP당 초당 100회 요청 제한 적용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202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00FF41"/>
                </a:solidFill>
                <a:latin typeface="Consolas"/>
              </a:rPr>
              <a:t>▸  학생들 '한꺼번에 못 하게 됐다'며 슬퍼함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59152"/>
            <a:ext cx="10927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00B32D"/>
                </a:solidFill>
                <a:latin typeface="Consolas"/>
              </a:rPr>
              <a:t>   · 근데 뚫으려고 계속 시도하고 있음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926080"/>
            <a:ext cx="11247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F0040"/>
                </a:solidFill>
                <a:latin typeface="Consolas"/>
              </a:rPr>
              <a:t>예상치 못한 문제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36499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0040"/>
                </a:solidFill>
                <a:latin typeface="Consolas"/>
              </a:rPr>
              <a:t>▸  Cloudflare KV 무료 플랜 — 일일 쓰기 1,000회 제한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803904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0040"/>
                </a:solidFill>
                <a:latin typeface="Consolas"/>
              </a:rPr>
              <a:t>▸  수정한 지 5분도 안 되어 일일 무료 한도 전부 소진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242816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0040"/>
                </a:solidFill>
                <a:latin typeface="Consolas"/>
              </a:rPr>
              <a:t>▸  Rate Limit 어쩔 수 없이 제거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681728"/>
            <a:ext cx="10927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0040"/>
                </a:solidFill>
                <a:latin typeface="Consolas"/>
              </a:rPr>
              <a:t>   · → 학생들 다시 대량 예매 가능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669280"/>
            <a:ext cx="11247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0040"/>
                </a:solidFill>
                <a:latin typeface="Consolas"/>
              </a:rPr>
              <a:t>"선생님이 졌다."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00FF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FF41"/>
                </a:solidFill>
                <a:latin typeface="Consolas"/>
              </a:rPr>
              <a:t>공방의 전 과정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0B32D"/>
                </a:solidFill>
                <a:latin typeface="Consolas"/>
              </a:rPr>
              <a:t>시도하고 대응하고, 또 시도하고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onsolas"/>
              </a:rPr>
              <a:t>18 / 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371600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FF41"/>
                </a:solidFill>
                <a:latin typeface="Consolas"/>
              </a:rPr>
              <a:t>1R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371600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0FF41"/>
                </a:solidFill>
                <a:latin typeface="Consolas"/>
              </a:rPr>
              <a:t>학생  Firebase Rules 열려있음 확인 → Start 없이 게임 시작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37160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0B32D"/>
                </a:solidFill>
                <a:latin typeface="Consolas"/>
              </a:rPr>
              <a:t>선생님  Firebase Rules 수정 (인증 없으면 쓰기 불가)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773936"/>
            <a:ext cx="11612880" cy="18288"/>
          </a:xfrm>
          <a:prstGeom prst="rect">
            <a:avLst/>
          </a:prstGeom>
          <a:solidFill>
            <a:srgbClr val="1A3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2121408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D32A"/>
                </a:solidFill>
                <a:latin typeface="Consolas"/>
              </a:rPr>
              <a:t>2R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121408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0FF41"/>
                </a:solidFill>
                <a:latin typeface="Consolas"/>
              </a:rPr>
              <a:t>학생  REST API로 1000석 한번에 쓰기 / 남의 좌석 덮어쓰기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12140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0B32D"/>
                </a:solidFill>
                <a:latin typeface="Consolas"/>
              </a:rPr>
              <a:t>선생님  Cloudflare Worker 도입 + /claim 엔드포인트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523744"/>
            <a:ext cx="11612880" cy="18288"/>
          </a:xfrm>
          <a:prstGeom prst="rect">
            <a:avLst/>
          </a:prstGeom>
          <a:solidFill>
            <a:srgbClr val="1A3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2871215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9F43"/>
                </a:solidFill>
                <a:latin typeface="Consolas"/>
              </a:rPr>
              <a:t>3R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871215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0FF41"/>
                </a:solidFill>
                <a:latin typeface="Consolas"/>
              </a:rPr>
              <a:t>학생  Firebase에 직접 계정 생성 → 인증 토큰으로 DB 직접 접근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871215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0B32D"/>
                </a:solidFill>
                <a:latin typeface="Consolas"/>
              </a:rPr>
              <a:t>선생님  Firebase Auth 활성화 + 신규 가입 차단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273551"/>
            <a:ext cx="11612880" cy="18288"/>
          </a:xfrm>
          <a:prstGeom prst="rect">
            <a:avLst/>
          </a:prstGeom>
          <a:solidFill>
            <a:srgbClr val="1A3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3621023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0040"/>
                </a:solidFill>
                <a:latin typeface="Consolas"/>
              </a:rPr>
              <a:t>4R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621023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0FF41"/>
                </a:solidFill>
                <a:latin typeface="Consolas"/>
              </a:rPr>
              <a:t>학생  Worker /claim을 멀티스레드 + 브라우저 콘솔 Promise.all()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3621023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0B32D"/>
                </a:solidFill>
                <a:latin typeface="Consolas"/>
              </a:rPr>
              <a:t>선생님  Cloudflare KV Rate Limit 추가 (초당 100회)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4023359"/>
            <a:ext cx="11612880" cy="18288"/>
          </a:xfrm>
          <a:prstGeom prst="rect">
            <a:avLst/>
          </a:prstGeom>
          <a:solidFill>
            <a:srgbClr val="1A3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74320" y="4462271"/>
            <a:ext cx="11612880" cy="548640"/>
          </a:xfrm>
          <a:prstGeom prst="rect">
            <a:avLst/>
          </a:prstGeom>
          <a:solidFill>
            <a:srgbClr val="1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4320" y="4462271"/>
            <a:ext cx="54864" cy="548640"/>
          </a:xfrm>
          <a:prstGeom prst="rect">
            <a:avLst/>
          </a:prstGeom>
          <a:solidFill>
            <a:srgbClr val="FF0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4553712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0040"/>
                </a:solidFill>
                <a:latin typeface="Consolas"/>
              </a:rPr>
              <a:t>결말  KV 무료 한도 10분 만에 소진  →  Rate Limit 제거  →  학생 승리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00FF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FF41"/>
                </a:solidFill>
                <a:latin typeface="Consolas"/>
              </a:rPr>
              <a:t>학생들이 스스로 발견한 기술들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0B32D"/>
                </a:solidFill>
                <a:latin typeface="Consolas"/>
              </a:rPr>
              <a:t>선생님이 가르쳐준 것은 하나도 없다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onsolas"/>
              </a:rPr>
              <a:t>19 / 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38988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555555"/>
                </a:solidFill>
                <a:latin typeface="Consolas"/>
              </a:rPr>
              <a:t>기술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1389888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555555"/>
                </a:solidFill>
                <a:latin typeface="Consolas"/>
              </a:rPr>
              <a:t>학생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1389888"/>
            <a:ext cx="6309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555555"/>
                </a:solidFill>
                <a:latin typeface="Consolas"/>
              </a:rPr>
              <a:t>발견 방법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764792"/>
            <a:ext cx="11612880" cy="18288"/>
          </a:xfrm>
          <a:prstGeom prst="rect">
            <a:avLst/>
          </a:prstGeom>
          <a:solidFill>
            <a:srgbClr val="1A3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18288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00FF41"/>
                </a:solidFill>
                <a:latin typeface="Consolas"/>
              </a:rPr>
              <a:t>Firebase Rules 분석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1828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D32A"/>
                </a:solidFill>
                <a:latin typeface="Consolas"/>
              </a:rPr>
              <a:t>학생 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1828800"/>
            <a:ext cx="6309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00B32D"/>
                </a:solidFill>
                <a:latin typeface="Consolas"/>
              </a:rPr>
              <a:t>브라우저 네트워크 탭·콘솔 분석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239572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00FF41"/>
                </a:solidFill>
                <a:latin typeface="Consolas"/>
              </a:rPr>
              <a:t>DB REST API 직접 호출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239572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D32A"/>
                </a:solidFill>
                <a:latin typeface="Consolas"/>
              </a:rPr>
              <a:t>학생 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2395728"/>
            <a:ext cx="6309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00B32D"/>
                </a:solidFill>
                <a:latin typeface="Consolas"/>
              </a:rPr>
              <a:t>Firebase REST API PUT 요청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2962656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00FF41"/>
                </a:solidFill>
                <a:latin typeface="Consolas"/>
              </a:rPr>
              <a:t>기존 레코드 덮어쓰기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2962656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D32A"/>
                </a:solidFill>
                <a:latin typeface="Consolas"/>
              </a:rPr>
              <a:t>학생 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0" y="2962656"/>
            <a:ext cx="6309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00B32D"/>
                </a:solidFill>
                <a:latin typeface="Consolas"/>
              </a:rPr>
              <a:t>인증 없이 PUT으로 기존 데이터 교체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3529584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00FF41"/>
                </a:solidFill>
                <a:latin typeface="Consolas"/>
              </a:rPr>
              <a:t>Firebase 계정 직접 생성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31920" y="3529584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D32A"/>
                </a:solidFill>
                <a:latin typeface="Consolas"/>
              </a:rPr>
              <a:t>학생 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0" y="3529584"/>
            <a:ext cx="6309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00B32D"/>
                </a:solidFill>
                <a:latin typeface="Consolas"/>
              </a:rPr>
              <a:t>신규 가입으로 인증 토큰 획득 후 직접 접근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409651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00FF41"/>
                </a:solidFill>
                <a:latin typeface="Consolas"/>
              </a:rPr>
              <a:t>멀티스레드 병렬 요청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31920" y="409651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D32A"/>
                </a:solidFill>
                <a:latin typeface="Consolas"/>
              </a:rPr>
              <a:t>학생 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0" y="4096512"/>
            <a:ext cx="6309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00B32D"/>
                </a:solidFill>
                <a:latin typeface="Consolas"/>
              </a:rPr>
              <a:t>AI가 threading 모듈 제안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46634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00FF41"/>
                </a:solidFill>
                <a:latin typeface="Consolas"/>
              </a:rPr>
              <a:t>브라우저 콘솔 JS 실행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31920" y="46634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D32A"/>
                </a:solidFill>
                <a:latin typeface="Consolas"/>
              </a:rPr>
              <a:t>학생 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0" y="4663440"/>
            <a:ext cx="6309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00B32D"/>
                </a:solidFill>
                <a:latin typeface="Consolas"/>
              </a:rPr>
              <a:t>Promise.all()로 1000개 동시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" y="53218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0040"/>
                </a:solidFill>
                <a:latin typeface="Consolas"/>
              </a:rPr>
              <a:t>* 이 중 어느 것도 선생님이 먼저 가르쳐준 것이 없다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00FF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FF41"/>
                </a:solidFill>
                <a:latin typeface="Consolas"/>
              </a:rPr>
              <a:t>이 수업이 일반 수업과 다른 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onsolas"/>
              </a:rPr>
              <a:t>20 / 30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5303520" cy="3474720"/>
          </a:xfrm>
          <a:prstGeom prst="rect">
            <a:avLst/>
          </a:prstGeom>
          <a:solidFill>
            <a:srgbClr val="0510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5303520" cy="54864"/>
          </a:xfrm>
          <a:prstGeom prst="rect">
            <a:avLst/>
          </a:prstGeom>
          <a:solidFill>
            <a:srgbClr val="00B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4630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B32D"/>
                </a:solidFill>
                <a:latin typeface="Consolas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82880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0B32D"/>
                </a:solidFill>
                <a:latin typeface="Consolas"/>
              </a:rPr>
              <a:t>일반 수업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423160"/>
            <a:ext cx="4754880" cy="18288"/>
          </a:xfrm>
          <a:prstGeom prst="rect">
            <a:avLst/>
          </a:prstGeom>
          <a:solidFill>
            <a:srgbClr val="1A3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560320"/>
            <a:ext cx="50292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00B32D"/>
                </a:solidFill>
                <a:latin typeface="Consolas"/>
              </a:rPr>
              <a:t>▸  선생님이 내용을 가르친다</a:t>
            </a:r>
          </a:p>
          <a:p>
            <a:r>
              <a:rPr sz="1700">
                <a:solidFill>
                  <a:srgbClr val="00B32D"/>
                </a:solidFill>
                <a:latin typeface="Consolas"/>
              </a:rPr>
              <a:t>▸  학생은 정해진 방법으로 따라한다</a:t>
            </a:r>
          </a:p>
          <a:p>
            <a:r>
              <a:rPr sz="1700">
                <a:solidFill>
                  <a:srgbClr val="00B32D"/>
                </a:solidFill>
                <a:latin typeface="Consolas"/>
              </a:rPr>
              <a:t>▸  정답이 있고, 틀리면 감점된다</a:t>
            </a:r>
          </a:p>
          <a:p>
            <a:r>
              <a:rPr sz="1700">
                <a:solidFill>
                  <a:srgbClr val="00B32D"/>
                </a:solidFill>
                <a:latin typeface="Consolas"/>
              </a:rPr>
              <a:t>▸  모르면 물어보거나 포기한다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371600"/>
            <a:ext cx="5303520" cy="3474720"/>
          </a:xfrm>
          <a:prstGeom prst="rect">
            <a:avLst/>
          </a:prstGeom>
          <a:solidFill>
            <a:srgbClr val="0510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1371600"/>
            <a:ext cx="5303520" cy="54864"/>
          </a:xfrm>
          <a:prstGeom prst="rect">
            <a:avLst/>
          </a:prstGeom>
          <a:solidFill>
            <a:srgbClr val="00FF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4630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FF41"/>
                </a:solidFill>
                <a:latin typeface="Consolas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182880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0FF41"/>
                </a:solidFill>
                <a:latin typeface="Consolas"/>
              </a:rPr>
              <a:t>이 수업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0" y="2423160"/>
            <a:ext cx="4754880" cy="18288"/>
          </a:xfrm>
          <a:prstGeom prst="rect">
            <a:avLst/>
          </a:prstGeom>
          <a:solidFill>
            <a:srgbClr val="1A3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2560320"/>
            <a:ext cx="50292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00B32D"/>
                </a:solidFill>
                <a:latin typeface="Consolas"/>
              </a:rPr>
              <a:t>▸  선생님은 환경만 만든다</a:t>
            </a:r>
          </a:p>
          <a:p>
            <a:r>
              <a:rPr sz="1700">
                <a:solidFill>
                  <a:srgbClr val="00B32D"/>
                </a:solidFill>
                <a:latin typeface="Consolas"/>
              </a:rPr>
              <a:t>▸  학생은 방법을 스스로 찾는다</a:t>
            </a:r>
          </a:p>
          <a:p>
            <a:r>
              <a:rPr sz="1700">
                <a:solidFill>
                  <a:srgbClr val="00B32D"/>
                </a:solidFill>
                <a:latin typeface="Consolas"/>
              </a:rPr>
              <a:t>▸  정답이 없고, 실패해도 다시 시도한다</a:t>
            </a:r>
          </a:p>
          <a:p>
            <a:r>
              <a:rPr sz="1700">
                <a:solidFill>
                  <a:srgbClr val="00B32D"/>
                </a:solidFill>
                <a:latin typeface="Consolas"/>
              </a:rPr>
              <a:t>▸  모르면 AI에게 물어보며 계속 나아간다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2120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D32A"/>
                </a:solidFill>
                <a:latin typeface="Consolas"/>
              </a:rPr>
              <a:t>차이를 만든 것: 이기고 싶다는 동기 하나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00FF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FF41"/>
                </a:solidFill>
                <a:latin typeface="Consolas"/>
              </a:rPr>
              <a:t>느낀 점 1 — 공방이 만들어낸 효능감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0B32D"/>
                </a:solidFill>
                <a:latin typeface="Consolas"/>
              </a:rPr>
              <a:t>막히면 더 하고 싶어지는 심리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onsolas"/>
              </a:rPr>
              <a:t>21 / 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417320"/>
            <a:ext cx="5303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0FF41"/>
                </a:solidFill>
                <a:latin typeface="Consolas"/>
              </a:rPr>
              <a:t>학생 시점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920240"/>
            <a:ext cx="5303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00FF41"/>
                </a:solidFill>
                <a:latin typeface="Consolas"/>
              </a:rPr>
              <a:t>▸  선생님이 이거 막아버렸는데?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359152"/>
            <a:ext cx="5303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00FF41"/>
                </a:solidFill>
                <a:latin typeface="Consolas"/>
              </a:rPr>
              <a:t>▸  이거 또 뚫어보자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798064"/>
            <a:ext cx="5303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00FF41"/>
                </a:solidFill>
                <a:latin typeface="Consolas"/>
              </a:rPr>
              <a:t>▸  선생님이 만든 걸 뚫었다는 성취감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236976"/>
            <a:ext cx="5303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00FF41"/>
                </a:solidFill>
                <a:latin typeface="Consolas"/>
              </a:rPr>
              <a:t>▸  막힐수록 오히려 더 의욕이 생김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675887"/>
            <a:ext cx="5303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00FF41"/>
                </a:solidFill>
                <a:latin typeface="Consolas"/>
              </a:rPr>
              <a:t>▸  실패해도 포기하지 않고 다른 방법 탐색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114800"/>
            <a:ext cx="5303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00B32D"/>
                </a:solidFill>
                <a:latin typeface="Consolas"/>
              </a:rPr>
              <a:t>   · AI에게 물어보며 스스로 해결책 발견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0" y="1371600"/>
            <a:ext cx="36576" cy="4572000"/>
          </a:xfrm>
          <a:prstGeom prst="rect">
            <a:avLst/>
          </a:prstGeom>
          <a:solidFill>
            <a:srgbClr val="1A3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0" y="1417320"/>
            <a:ext cx="5669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FD32A"/>
                </a:solidFill>
                <a:latin typeface="Consolas"/>
              </a:rPr>
              <a:t>선생님 시점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1920240"/>
            <a:ext cx="5669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D32A"/>
                </a:solidFill>
                <a:latin typeface="Consolas"/>
              </a:rPr>
              <a:t>▸  학생들이 예상을 뛰어넘는 방법을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2359152"/>
            <a:ext cx="5669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00B32D"/>
                </a:solidFill>
                <a:latin typeface="Consolas"/>
              </a:rPr>
              <a:t>   찾아올 때마다 흥미로웠음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2798064"/>
            <a:ext cx="5669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D32A"/>
                </a:solidFill>
                <a:latin typeface="Consolas"/>
              </a:rPr>
              <a:t>▸  내가 만든 걸 누군가 진지하게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3236976"/>
            <a:ext cx="5669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00B32D"/>
                </a:solidFill>
                <a:latin typeface="Consolas"/>
              </a:rPr>
              <a:t>   분석하고 있다는 것 자체가 재밌었음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989320"/>
            <a:ext cx="11247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555555"/>
                </a:solidFill>
                <a:latin typeface="Consolas"/>
              </a:rPr>
              <a:t>막고 뚫는 이 과정이 학생도, 선생님도 가장 재밌었던 순간이었다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00FF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FF41"/>
                </a:solidFill>
                <a:latin typeface="Consolas"/>
              </a:rPr>
              <a:t>느낀 점 2 — 개념은 몰라도 느낌은 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0B32D"/>
                </a:solidFill>
                <a:latin typeface="Consolas"/>
              </a:rPr>
              <a:t>학생들이 이 모든 개념을 자세하게 아는 건 아니다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onsolas"/>
              </a:rPr>
              <a:t>22 / 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37160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D32A"/>
                </a:solidFill>
                <a:latin typeface="Consolas"/>
              </a:rPr>
              <a:t>대화 1 — DB 직접 접근 발견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773936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FF41"/>
                </a:solidFill>
                <a:latin typeface="Consolas"/>
              </a:rPr>
              <a:t>선생님: "야 너 예매 중지 눌렀는데 어떻게 뚫고 예매했어?"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139696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FF41"/>
                </a:solidFill>
                <a:latin typeface="Consolas"/>
              </a:rPr>
              <a:t>학생: "아, 이거 예매사이트에서 직접 데이터베이스에 접근된다고 하던데요?"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505456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B32D"/>
                </a:solidFill>
                <a:latin typeface="Consolas"/>
              </a:rPr>
              <a:t>→ Firebase REST API를 정확히는 모르지만, 직접 접근된다는 느낌은 알고 있음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38328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D32A"/>
                </a:solidFill>
                <a:latin typeface="Consolas"/>
              </a:rPr>
              <a:t>대화 2 — 멀티스레드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785616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FF41"/>
                </a:solidFill>
                <a:latin typeface="Consolas"/>
              </a:rPr>
              <a:t>선생님: "야 너 어떻게 한꺼번에 1000개씩 예매하는 거야?"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151376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FF41"/>
                </a:solidFill>
                <a:latin typeface="Consolas"/>
              </a:rPr>
              <a:t>학생: "저도 잘은 모르는데요, 멀티스레드 쓰면 빠르더라고요"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517136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B32D"/>
                </a:solidFill>
                <a:latin typeface="Consolas"/>
              </a:rPr>
              <a:t>→ 정확한 원리는 모르지만 효과는 체감함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00B32D"/>
                </a:solidFill>
                <a:latin typeface="Consolas"/>
              </a:rPr>
              <a:t>완전히 이해하지 않아도 — AI와 함께라면 직관으로 해낸다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00FF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FF41"/>
                </a:solidFill>
                <a:latin typeface="Consolas"/>
              </a:rPr>
              <a:t>느낀 점 2 — AI의 위력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0B32D"/>
                </a:solidFill>
                <a:latin typeface="Consolas"/>
              </a:rPr>
              <a:t>개발 경험 유무가 무의미해졌다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onsolas"/>
              </a:rPr>
              <a:t>23 / 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00FF41"/>
                </a:solidFill>
                <a:latin typeface="Consolas"/>
              </a:rPr>
              <a:t>▸  코딩을 전혀 모르는 학생도 AI에게 물어보며 시스템 구조를 분석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1051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00FF41"/>
                </a:solidFill>
                <a:latin typeface="Consolas"/>
              </a:rPr>
              <a:t>▸  어떻게 하면 더 빠르게 할 수 있어? 라고 AI에 물어본 것이 전부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49424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00FF41"/>
                </a:solidFill>
                <a:latin typeface="Consolas"/>
              </a:rPr>
              <a:t>▸  개발자 수준의 시도가 중학생에게서 나옴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88336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00FF41"/>
                </a:solidFill>
                <a:latin typeface="Consolas"/>
              </a:rPr>
              <a:t>▸  멀티스레드, REST API, 병렬 처리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127248"/>
            <a:ext cx="10927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00B32D"/>
                </a:solidFill>
                <a:latin typeface="Consolas"/>
              </a:rPr>
              <a:t>   · 배운 적 없지만 AI가 알려줬다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931920"/>
            <a:ext cx="8229600" cy="1280160"/>
          </a:xfrm>
          <a:prstGeom prst="rect">
            <a:avLst/>
          </a:prstGeom>
          <a:solidFill>
            <a:srgbClr val="003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931920"/>
            <a:ext cx="54864" cy="1280160"/>
          </a:xfrm>
          <a:prstGeom prst="rect">
            <a:avLst/>
          </a:prstGeom>
          <a:solidFill>
            <a:srgbClr val="00FF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4069080"/>
            <a:ext cx="7863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FF41"/>
                </a:solidFill>
                <a:latin typeface="Consolas"/>
              </a:rPr>
              <a:t>AI를 활용하니
배운 사람과 안 배운 사람의 차이가 사라졌다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00FF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FF41"/>
                </a:solidFill>
                <a:latin typeface="Consolas"/>
              </a:rPr>
              <a:t>느낀 점 3 — 동기의 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0B32D"/>
                </a:solidFill>
                <a:latin typeface="Consolas"/>
              </a:rPr>
              <a:t>"내가 해냈다"는 성취감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onsolas"/>
              </a:rPr>
              <a:t>24 / 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00FF41"/>
                </a:solidFill>
                <a:latin typeface="Consolas"/>
              </a:rPr>
              <a:t>▸  학생들이 평소보다 훨씬 높은 집중력과 창의력을 발휘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1051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00FF41"/>
                </a:solidFill>
                <a:latin typeface="Consolas"/>
              </a:rPr>
              <a:t>▸  실패해도 포기하지 않고 다른 방법을 스스로 탐색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49424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00FF41"/>
                </a:solidFill>
                <a:latin typeface="Consolas"/>
              </a:rPr>
              <a:t>▸  "내가 해냈다"는 뿌듯함  →  강력한 학습 동기로 연결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88336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00FF41"/>
                </a:solidFill>
                <a:latin typeface="Consolas"/>
              </a:rPr>
              <a:t>▸  서로 시도하고 대응하는 과정이 수업보다 재미있었음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749039"/>
            <a:ext cx="8229600" cy="1280160"/>
          </a:xfrm>
          <a:prstGeom prst="rect">
            <a:avLst/>
          </a:prstGeom>
          <a:solidFill>
            <a:srgbClr val="003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749039"/>
            <a:ext cx="54864" cy="1280160"/>
          </a:xfrm>
          <a:prstGeom prst="rect">
            <a:avLst/>
          </a:prstGeom>
          <a:solidFill>
            <a:srgbClr val="FFD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886200"/>
            <a:ext cx="7863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D32A"/>
                </a:solidFill>
                <a:latin typeface="Consolas"/>
              </a:rPr>
              <a:t>정답이 정해진 문제가 아니라,
실제로 작동하는 시스템이어야 한다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00FF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FF41"/>
                </a:solidFill>
                <a:latin typeface="Consolas"/>
              </a:rPr>
              <a:t>느낀 점 4 — AI 시대, 교사의 역할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0B32D"/>
                </a:solidFill>
                <a:latin typeface="Consolas"/>
              </a:rPr>
              <a:t>지식 전달에서 환경 설계로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onsolas"/>
              </a:rPr>
              <a:t>25 / 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00FF41"/>
                </a:solidFill>
                <a:latin typeface="Consolas"/>
              </a:rPr>
              <a:t>▸  AI를 활용하면 코딩 경험이 없어도 생각 이상의 성과를 낸다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1051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00FF41"/>
                </a:solidFill>
                <a:latin typeface="Consolas"/>
              </a:rPr>
              <a:t>▸  배경 지식의 차이보다 동기의 차이가 결과를 가른다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49424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00FF41"/>
                </a:solidFill>
                <a:latin typeface="Consolas"/>
              </a:rPr>
              <a:t>▸  학생 스스로 문제를 찾고 해결하게 만드는 환경이 핵심이다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88336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00FF41"/>
                </a:solidFill>
                <a:latin typeface="Consolas"/>
              </a:rPr>
              <a:t>▸  교사의 역할은 가르치는 것이 아니라 하고 싶게 만드는 것이다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474720"/>
            <a:ext cx="5029200" cy="2377440"/>
          </a:xfrm>
          <a:prstGeom prst="rect">
            <a:avLst/>
          </a:prstGeom>
          <a:solidFill>
            <a:srgbClr val="0510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3474720"/>
            <a:ext cx="5029200" cy="54864"/>
          </a:xfrm>
          <a:prstGeom prst="rect">
            <a:avLst/>
          </a:prstGeom>
          <a:solidFill>
            <a:srgbClr val="00B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3566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B32D"/>
                </a:solidFill>
                <a:latin typeface="Consolas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93192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0B32D"/>
                </a:solidFill>
                <a:latin typeface="Consolas"/>
              </a:rPr>
              <a:t>이 수업에서 선생님이 직접 가르친 것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526279"/>
            <a:ext cx="4480560" cy="18288"/>
          </a:xfrm>
          <a:prstGeom prst="rect">
            <a:avLst/>
          </a:prstGeom>
          <a:solidFill>
            <a:srgbClr val="1A3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466344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00B32D"/>
                </a:solidFill>
                <a:latin typeface="Consolas"/>
              </a:rPr>
              <a:t>파이썬 매크로 프로그램</a:t>
            </a:r>
          </a:p>
          <a:p>
            <a:r>
              <a:rPr sz="1700">
                <a:solidFill>
                  <a:srgbClr val="00B32D"/>
                </a:solidFill>
                <a:latin typeface="Consolas"/>
              </a:rPr>
              <a:t>기초 및 사용법만 설명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92240" y="3474720"/>
            <a:ext cx="5029200" cy="2377440"/>
          </a:xfrm>
          <a:prstGeom prst="rect">
            <a:avLst/>
          </a:prstGeom>
          <a:solidFill>
            <a:srgbClr val="0510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92240" y="3474720"/>
            <a:ext cx="5029200" cy="54864"/>
          </a:xfrm>
          <a:prstGeom prst="rect">
            <a:avLst/>
          </a:prstGeom>
          <a:solidFill>
            <a:srgbClr val="00FF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3566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FF41"/>
                </a:solidFill>
                <a:latin typeface="Consolas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93192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0FF41"/>
                </a:solidFill>
                <a:latin typeface="Consolas"/>
              </a:rPr>
              <a:t>학생들이 AI로 스스로 발견한 것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766559" y="4526279"/>
            <a:ext cx="4480560" cy="18288"/>
          </a:xfrm>
          <a:prstGeom prst="rect">
            <a:avLst/>
          </a:prstGeom>
          <a:solidFill>
            <a:srgbClr val="1A3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9400" y="466344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00B32D"/>
                </a:solidFill>
                <a:latin typeface="Consolas"/>
              </a:rPr>
              <a:t>REST API</a:t>
            </a:r>
          </a:p>
          <a:p>
            <a:r>
              <a:rPr sz="1700">
                <a:solidFill>
                  <a:srgbClr val="00B32D"/>
                </a:solidFill>
                <a:latin typeface="Consolas"/>
              </a:rPr>
              <a:t>멀티스레드</a:t>
            </a:r>
          </a:p>
          <a:p>
            <a:r>
              <a:rPr sz="1700">
                <a:solidFill>
                  <a:srgbClr val="00B32D"/>
                </a:solidFill>
                <a:latin typeface="Consolas"/>
              </a:rPr>
              <a:t>비동기 병렬처리...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77840" y="429768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555555"/>
                </a:solidFill>
                <a:latin typeface="Consolas"/>
              </a:rPr>
              <a:t>vs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00FF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FF41"/>
                </a:solidFill>
                <a:latin typeface="Consolas"/>
              </a:rPr>
              <a:t>다른 교과·상황에 적용한다면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0B32D"/>
                </a:solidFill>
                <a:latin typeface="Consolas"/>
              </a:rPr>
              <a:t>환경 설계의 핵심 조건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onsolas"/>
              </a:rPr>
              <a:t>26 / 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417320"/>
            <a:ext cx="5303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FD32A"/>
                </a:solidFill>
                <a:latin typeface="Consolas"/>
              </a:rPr>
              <a:t>핵심 조건 3가지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920240"/>
            <a:ext cx="5303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FF41"/>
                </a:solidFill>
                <a:latin typeface="Consolas"/>
              </a:rPr>
              <a:t>1.  이기고 싶게 만드는 목표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322576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B32D"/>
                </a:solidFill>
                <a:latin typeface="Consolas"/>
              </a:rPr>
              <a:t>   경쟁, 기록 갱신, 상대 뚫기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834640"/>
            <a:ext cx="5303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FF41"/>
                </a:solidFill>
                <a:latin typeface="Consolas"/>
              </a:rPr>
              <a:t>2.  실패해도 괜찮은 환경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236976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B32D"/>
                </a:solidFill>
                <a:latin typeface="Consolas"/>
              </a:rPr>
              <a:t>   틀려도 감점 없음, 재시도 가능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749039"/>
            <a:ext cx="5303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FF41"/>
                </a:solidFill>
                <a:latin typeface="Consolas"/>
              </a:rPr>
              <a:t>3.  AI를 활용할 수 있는 자유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151376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B32D"/>
                </a:solidFill>
                <a:latin typeface="Consolas"/>
              </a:rPr>
              <a:t>   방법 제한 없음, 도구 제한 없음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0" y="1371600"/>
            <a:ext cx="36576" cy="4572000"/>
          </a:xfrm>
          <a:prstGeom prst="rect">
            <a:avLst/>
          </a:prstGeom>
          <a:solidFill>
            <a:srgbClr val="1A3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0" y="1417320"/>
            <a:ext cx="5669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FD32A"/>
                </a:solidFill>
                <a:latin typeface="Consolas"/>
              </a:rPr>
              <a:t>교과별 적용 예시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1920240"/>
            <a:ext cx="5669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FF41"/>
                </a:solidFill>
                <a:latin typeface="Consolas"/>
              </a:rPr>
              <a:t>▸  국어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2322576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B32D"/>
                </a:solidFill>
                <a:latin typeface="Consolas"/>
              </a:rPr>
              <a:t>가장 설득력 있는 글을 AI로 써서 대결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2834640"/>
            <a:ext cx="5669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FF41"/>
                </a:solidFill>
                <a:latin typeface="Consolas"/>
              </a:rPr>
              <a:t>▸  수학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3236976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B32D"/>
                </a:solidFill>
                <a:latin typeface="Consolas"/>
              </a:rPr>
              <a:t>AI로 문제를 만들고 서로 풀기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3749039"/>
            <a:ext cx="5669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FF41"/>
                </a:solidFill>
                <a:latin typeface="Consolas"/>
              </a:rPr>
              <a:t>▸  과학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4151376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B32D"/>
                </a:solidFill>
                <a:latin typeface="Consolas"/>
              </a:rPr>
              <a:t>AI로 실험 설계하고 결과 예측 대결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00FF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FF41"/>
                </a:solidFill>
                <a:latin typeface="Consolas"/>
              </a:rPr>
              <a:t>정리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onsolas"/>
              </a:rPr>
              <a:t>27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00FF41"/>
                </a:solidFill>
                <a:latin typeface="Consolas"/>
              </a:rPr>
              <a:t>▸  AI를 활용하면 코딩 경험이 없어도 생각 이상의 성과를 낸다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00FF41"/>
                </a:solidFill>
                <a:latin typeface="Consolas"/>
              </a:rPr>
              <a:t>▸  배경 지식의 차이보다 동기의 차이가 결과를 가른다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23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00FF41"/>
                </a:solidFill>
                <a:latin typeface="Consolas"/>
              </a:rPr>
              <a:t>▸  학생 스스로 문제를 찾고 해결하게 만드는 환경이 핵심이다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00FF41"/>
                </a:solidFill>
                <a:latin typeface="Consolas"/>
              </a:rPr>
              <a:t>▸  교사의 역할은 가르치는 것이 아니라 하고 싶게 만드는 것이다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8686800" cy="1463040"/>
          </a:xfrm>
          <a:prstGeom prst="rect">
            <a:avLst/>
          </a:prstGeom>
          <a:solidFill>
            <a:srgbClr val="003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3931920"/>
            <a:ext cx="54864" cy="1463040"/>
          </a:xfrm>
          <a:prstGeom prst="rect">
            <a:avLst/>
          </a:prstGeom>
          <a:solidFill>
            <a:srgbClr val="00FF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069080"/>
            <a:ext cx="8321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FF41"/>
                </a:solidFill>
                <a:latin typeface="Consolas"/>
              </a:rPr>
              <a:t>AI 시대, 교사가 해야 할 일
학생이 해보고 싶게 만드는 것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00FF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FF41"/>
                </a:solidFill>
                <a:latin typeface="Consolas"/>
              </a:rPr>
              <a:t>오늘 연수 안내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0B32D"/>
                </a:solidFill>
                <a:latin typeface="Consolas"/>
              </a:rPr>
              <a:t>지금까지: 1차시 사례 발표 완료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onsolas"/>
              </a:rPr>
              <a:t>28 / 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D32A"/>
                </a:solidFill>
                <a:latin typeface="Consolas"/>
              </a:rPr>
              <a:t>앞으로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920240"/>
            <a:ext cx="5303520" cy="2377440"/>
          </a:xfrm>
          <a:prstGeom prst="rect">
            <a:avLst/>
          </a:prstGeom>
          <a:solidFill>
            <a:srgbClr val="0510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920240"/>
            <a:ext cx="5303520" cy="54864"/>
          </a:xfrm>
          <a:prstGeom prst="rect">
            <a:avLst/>
          </a:prstGeom>
          <a:solidFill>
            <a:srgbClr val="00FF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20116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FF41"/>
                </a:solidFill>
                <a:latin typeface="Consolas"/>
              </a:rPr>
              <a:t>2차시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37744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0FF41"/>
                </a:solidFill>
                <a:latin typeface="Consolas"/>
              </a:rPr>
              <a:t>AI와 함께 문제 해결 방법 탐색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971800"/>
            <a:ext cx="4754880" cy="18288"/>
          </a:xfrm>
          <a:prstGeom prst="rect">
            <a:avLst/>
          </a:prstGeom>
          <a:solidFill>
            <a:srgbClr val="1A3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10896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00B32D"/>
                </a:solidFill>
                <a:latin typeface="Consolas"/>
              </a:rPr>
              <a:t>▸  참가자 학생 입장으로 전환</a:t>
            </a:r>
          </a:p>
          <a:p>
            <a:r>
              <a:rPr sz="1700">
                <a:solidFill>
                  <a:srgbClr val="00B32D"/>
                </a:solidFill>
                <a:latin typeface="Consolas"/>
              </a:rPr>
              <a:t>▸  AI 도구 활용해 스스로 과제 해결 방법 탐색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920240"/>
            <a:ext cx="5303520" cy="2377440"/>
          </a:xfrm>
          <a:prstGeom prst="rect">
            <a:avLst/>
          </a:prstGeom>
          <a:solidFill>
            <a:srgbClr val="0510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1920240"/>
            <a:ext cx="5303520" cy="54864"/>
          </a:xfrm>
          <a:prstGeom prst="rect">
            <a:avLst/>
          </a:prstGeom>
          <a:solidFill>
            <a:srgbClr val="FFD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20116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D32A"/>
                </a:solidFill>
                <a:latin typeface="Consolas"/>
              </a:rPr>
              <a:t>3차시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37744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FD32A"/>
                </a:solidFill>
                <a:latin typeface="Consolas"/>
              </a:rPr>
              <a:t>참가자 간 실전 시합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0" y="2971800"/>
            <a:ext cx="4754880" cy="18288"/>
          </a:xfrm>
          <a:prstGeom prst="rect">
            <a:avLst/>
          </a:prstGeom>
          <a:solidFill>
            <a:srgbClr val="1A3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10896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00B32D"/>
                </a:solidFill>
                <a:latin typeface="Consolas"/>
              </a:rPr>
              <a:t>▸  실시간 순위 공개</a:t>
            </a:r>
          </a:p>
          <a:p>
            <a:r>
              <a:rPr sz="1700">
                <a:solidFill>
                  <a:srgbClr val="00B32D"/>
                </a:solidFill>
                <a:latin typeface="Consolas"/>
              </a:rPr>
              <a:t>▸  상위 참가자 소정의 상품 증정 이벤트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663440"/>
            <a:ext cx="11247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00B32D"/>
                </a:solidFill>
                <a:latin typeface="Consolas"/>
              </a:rPr>
              <a:t>지금 체험할 사이트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074920"/>
            <a:ext cx="11247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00FF41"/>
                </a:solidFill>
                <a:latin typeface="Consolas"/>
              </a:rPr>
              <a:t>https://macro-classroom.shk-8b6.workers.dev/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1645920"/>
            <a:ext cx="9418320" cy="3657600"/>
          </a:xfrm>
          <a:prstGeom prst="rect">
            <a:avLst/>
          </a:prstGeom>
          <a:solidFill>
            <a:srgbClr val="001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0" y="3794760"/>
            <a:ext cx="4846320" cy="27432"/>
          </a:xfrm>
          <a:prstGeom prst="rect">
            <a:avLst/>
          </a:prstGeom>
          <a:solidFill>
            <a:srgbClr val="00B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2011680"/>
            <a:ext cx="9144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>
                <a:solidFill>
                  <a:srgbClr val="00FF41"/>
                </a:solidFill>
                <a:latin typeface="Consolas"/>
              </a:rPr>
              <a:t>Q &amp;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33832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00B32D"/>
                </a:solidFill>
                <a:latin typeface="Consolas"/>
              </a:rPr>
              <a:t>질문 받겠습니다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onsolas"/>
              </a:rPr>
              <a:t>29 / 30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1645920"/>
            <a:ext cx="9418320" cy="3657600"/>
          </a:xfrm>
          <a:prstGeom prst="rect">
            <a:avLst/>
          </a:prstGeom>
          <a:solidFill>
            <a:srgbClr val="001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0" y="3794760"/>
            <a:ext cx="4846320" cy="27432"/>
          </a:xfrm>
          <a:prstGeom prst="rect">
            <a:avLst/>
          </a:prstGeom>
          <a:solidFill>
            <a:srgbClr val="00B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201168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00FF41"/>
                </a:solidFill>
                <a:latin typeface="Consolas"/>
              </a:rPr>
              <a:t>감사합니다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32461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00B32D"/>
                </a:solidFill>
                <a:latin typeface="Consolas"/>
              </a:rPr>
              <a:t>가르치지 않아도 배운다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onsolas"/>
              </a:rPr>
              <a:t>30 / 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