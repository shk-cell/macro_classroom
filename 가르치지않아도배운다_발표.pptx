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acro-classroom.shk-8b6.workers.dev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00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00FF41"/>
                </a:solidFill>
                <a:latin typeface="Consolas"/>
              </a:rPr>
              <a:t>가르치지 않아도 배운다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00B32D"/>
                </a:solidFill>
                <a:latin typeface="Consolas"/>
              </a:rPr>
              <a:t>매크로 자동화 수업에서 발견한 AI 시대의 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794760"/>
            <a:ext cx="4846320" cy="27432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onsolas"/>
              </a:rPr>
              <a:t>BOOKING 1000 SEATS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어떤 수업이었나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수업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00FF41"/>
                </a:solidFill>
                <a:latin typeface="Consolas"/>
              </a:rPr>
              <a:t>▸ 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매크로</a:t>
            </a:r>
            <a:r>
              <a:rPr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자동화를</a:t>
            </a:r>
            <a:r>
              <a:rPr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가르치기</a:t>
            </a:r>
            <a:r>
              <a:rPr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위해</a:t>
            </a:r>
            <a:r>
              <a:rPr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직접</a:t>
            </a:r>
            <a:r>
              <a:rPr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예매</a:t>
            </a:r>
            <a:r>
              <a:rPr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사이트</a:t>
            </a:r>
            <a:r>
              <a:rPr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00FF41"/>
                </a:solidFill>
                <a:latin typeface="Consolas"/>
              </a:rPr>
              <a:t>제작</a:t>
            </a:r>
            <a:r>
              <a:rPr lang="en-US" sz="2000"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lang="en-US" sz="1200" b="0" i="0" dirty="0">
                <a:solidFill>
                  <a:srgbClr val="00FF41"/>
                </a:solidFill>
                <a:latin typeface="Consolas"/>
                <a:hlinkClick r:id="rId2"/>
              </a:rPr>
              <a:t>https://macro-classroom.shk-8b6.workers.dev/</a:t>
            </a:r>
            <a:endParaRPr sz="2000" b="0" i="0" dirty="0">
              <a:solidFill>
                <a:srgbClr val="00FF41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32D"/>
                </a:solidFill>
                <a:latin typeface="Consolas"/>
              </a:rPr>
              <a:t>   · "1000개 좌석을 먼저 예매하는 사람이 이긴다"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9424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학생들은 AI를 활용해 매크로 프로그램을 직접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32D"/>
                </a:solidFill>
                <a:latin typeface="Consolas"/>
              </a:rPr>
              <a:t>   · Python (pyautogui / Selenium) 3가지 난이도로 제공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D32A"/>
                </a:solidFill>
                <a:latin typeface="Consolas"/>
              </a:rPr>
              <a:t>▸  선생님 vs 학생들의 공방이 시작됨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5029200"/>
            <a:ext cx="4114800" cy="14630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0" y="5029200"/>
            <a:ext cx="54864" cy="146304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512064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32D"/>
                </a:solidFill>
                <a:latin typeface="Consolas"/>
              </a:rPr>
              <a:t>처음엔 단순한 자동화 실습이었다.
그런데...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처음 예매 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Before — 초기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2560320" cy="109728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73152" cy="109728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FF41"/>
                </a:solidFill>
                <a:latin typeface="Consolas"/>
              </a:rPr>
              <a:t>예매 사이트
(index.html)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0040"/>
                </a:solidFill>
                <a:latin typeface="Consolas"/>
              </a:rPr>
              <a:t>직접 Firebase API 호출  ──────────▶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194560"/>
            <a:ext cx="2560320" cy="1097280"/>
          </a:xfrm>
          <a:prstGeom prst="rect">
            <a:avLst/>
          </a:prstGeom>
          <a:solidFill>
            <a:srgbClr val="1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0" y="2194560"/>
            <a:ext cx="73152" cy="109728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2377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0040"/>
                </a:solidFill>
                <a:latin typeface="Consolas"/>
              </a:rPr>
              <a:t>Firebase DB
(인증 없음)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0040"/>
                </a:solidFill>
                <a:latin typeface="Consolas"/>
              </a:rPr>
              <a:t>▸  웹사이트에서 Firebase에 직접 읽기/쓰기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2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0040"/>
                </a:solidFill>
                <a:latin typeface="Consolas"/>
              </a:rPr>
              <a:t>   · 별도 서버 없음 — 인증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35424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0040"/>
                </a:solidFill>
                <a:latin typeface="Consolas"/>
              </a:rPr>
              <a:t>   · Firebase Rules 기본값: 누구나 읽기/쓰기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74336"/>
            <a:ext cx="1124712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>
                <a:solidFill>
                  <a:srgbClr val="FFD32A"/>
                </a:solidFill>
                <a:latin typeface="Consolas"/>
              </a:rPr>
              <a:t>▸  </a:t>
            </a:r>
            <a:r>
              <a:rPr sz="1900" b="0" i="0" dirty="0" err="1">
                <a:solidFill>
                  <a:srgbClr val="FFD32A"/>
                </a:solidFill>
                <a:latin typeface="Consolas"/>
              </a:rPr>
              <a:t>이게</a:t>
            </a:r>
            <a:r>
              <a:rPr sz="1900" b="0" i="0" dirty="0">
                <a:solidFill>
                  <a:srgbClr val="FFD32A"/>
                </a:solidFill>
                <a:latin typeface="Consolas"/>
              </a:rPr>
              <a:t> </a:t>
            </a:r>
            <a:r>
              <a:rPr sz="1900" b="0" i="0" dirty="0" err="1">
                <a:solidFill>
                  <a:srgbClr val="FFD32A"/>
                </a:solidFill>
                <a:latin typeface="Consolas"/>
              </a:rPr>
              <a:t>문제의</a:t>
            </a:r>
            <a:r>
              <a:rPr sz="1900" b="0" i="0" dirty="0">
                <a:solidFill>
                  <a:srgbClr val="FFD32A"/>
                </a:solidFill>
                <a:latin typeface="Consolas"/>
              </a:rPr>
              <a:t> </a:t>
            </a:r>
            <a:r>
              <a:rPr sz="1900" b="0" i="0" dirty="0" err="1">
                <a:solidFill>
                  <a:srgbClr val="FFD32A"/>
                </a:solidFill>
                <a:latin typeface="Consolas"/>
              </a:rPr>
              <a:t>시작</a:t>
            </a:r>
            <a:endParaRPr sz="1900" b="0" i="0" dirty="0">
              <a:solidFill>
                <a:srgbClr val="FFD32A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1막 — 처음엔 귀여웠다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미숙한 시도들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43891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41"/>
                </a:solidFill>
                <a:latin typeface="Consolas"/>
              </a:rPr>
              <a:t>학생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FF41"/>
                </a:solidFill>
                <a:latin typeface="Consolas"/>
              </a:rPr>
              <a:t>타이밍 실수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31089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B32D"/>
                </a:solidFill>
                <a:latin typeface="Consolas"/>
              </a:rPr>
              <a:t>대기 시간을 너무 짧게 설정
→ 이름 입력할 시간 없어서
   예매 실패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43891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32A"/>
                </a:solidFill>
                <a:latin typeface="Consolas"/>
              </a:rPr>
              <a:t>학생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D32A"/>
                </a:solidFill>
                <a:latin typeface="Consolas"/>
              </a:rPr>
              <a:t>좌표 실수 + 멈춤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423160"/>
            <a:ext cx="31089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5603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B32D"/>
                </a:solidFill>
                <a:latin typeface="Consolas"/>
              </a:rPr>
              <a:t>좌표를 잘못 잡은 채로 실행
→ STOP 기능 없어서
   프로그램 끄느라 우왕좌왕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657600" cy="43891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F43"/>
                </a:solidFill>
                <a:latin typeface="Consolas"/>
              </a:rPr>
              <a:t>학생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9F43"/>
                </a:solidFill>
                <a:latin typeface="Consolas"/>
              </a:rPr>
              <a:t>브라우저 폭탄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2423160"/>
            <a:ext cx="3108960" cy="18288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25603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B32D"/>
                </a:solidFill>
                <a:latin typeface="Consolas"/>
              </a:rPr>
              <a:t>크로미움으로 브라우저 창
50개~100개씩 한번에 실행
→ 과부하... 엄청난 렉
→ 창 하나하나 직접 닫느라
   혼자 고생하고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555555"/>
                </a:solidFill>
                <a:latin typeface="Consolas"/>
              </a:rPr>
              <a:t>"아직 미숙하다... 고 생각했다."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5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2막 — 예상치 못한 일이 벌어졌다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학생 4 : 시스템 구조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206240"/>
          </a:xfrm>
          <a:prstGeom prst="rect">
            <a:avLst/>
          </a:prstGeom>
          <a:solidFill>
            <a:srgbClr val="0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420624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FF41"/>
                </a:solidFill>
                <a:latin typeface="Consolas"/>
              </a:rPr>
              <a:t>▸  Start 버튼이 Firebase에 직접 쓰기를 한다는 것을 발견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10652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32D"/>
                </a:solidFill>
                <a:latin typeface="Consolas"/>
              </a:rPr>
              <a:t>   · 브라우저 네트워크 탭 / Firebase 콘솔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3230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FF41"/>
                </a:solidFill>
                <a:latin typeface="Consolas"/>
              </a:rPr>
              <a:t>▸  Firebase Rules가 열려 있다는 것을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71216"/>
            <a:ext cx="10652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32D"/>
                </a:solidFill>
                <a:latin typeface="Consolas"/>
              </a:rPr>
              <a:t>   · 읽기/쓰기 권한이 누구에게나 열려 있음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931920"/>
            <a:ext cx="9418320" cy="1371600"/>
          </a:xfrm>
          <a:prstGeom prst="rect">
            <a:avLst/>
          </a:prstGeom>
          <a:solidFill>
            <a:srgbClr val="2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0040"/>
                </a:solidFill>
                <a:latin typeface="Consolas"/>
              </a:rPr>
              <a:t>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976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0040"/>
                </a:solidFill>
                <a:latin typeface="Consolas"/>
              </a:rPr>
              <a:t>선생님이 Start를 누르기도 전에
학생 혼자 먼저 게임을 시작해버림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6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2막 — DB에 직접 접근하다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학생 5 &amp; 6 + REST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4572000" cy="3017520"/>
          </a:xfrm>
          <a:prstGeom prst="rect">
            <a:avLst/>
          </a:prstGeom>
          <a:solidFill>
            <a:srgbClr val="05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457200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32A"/>
                </a:solidFill>
                <a:latin typeface="Consolas"/>
              </a:rPr>
              <a:t>학생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32A"/>
                </a:solidFill>
                <a:latin typeface="Consolas"/>
              </a:rPr>
              <a:t>Firebase REST API 직접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FF41"/>
                </a:solidFill>
                <a:latin typeface="Consolas"/>
              </a:rPr>
              <a:t>▸  Firebase REST API로 DB 직접 접근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2432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▸  1000개 좌석을 한 번에 동시 쓰기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08376"/>
            <a:ext cx="3977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   · 게임 시작 전에 이미 전부 예매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280160"/>
            <a:ext cx="4572000" cy="3017520"/>
          </a:xfrm>
          <a:prstGeom prst="rect">
            <a:avLst/>
          </a:prstGeom>
          <a:solidFill>
            <a:srgbClr val="0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1280160"/>
            <a:ext cx="4572000" cy="54864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0040"/>
                </a:solidFill>
                <a:latin typeface="Consolas"/>
              </a:rPr>
              <a:t>학생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7373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0040"/>
                </a:solidFill>
                <a:latin typeface="Consolas"/>
              </a:rPr>
              <a:t>기존 예매 덮어쓰기 (PUT)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24028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0040"/>
                </a:solidFill>
                <a:latin typeface="Consolas"/>
              </a:rPr>
              <a:t>▸  남이 예매한 좌석도 자신의 이름으로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62432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0040"/>
                </a:solidFill>
                <a:latin typeface="Consolas"/>
              </a:rPr>
              <a:t>▸  자신 외에는 단 한 명도 예매 불가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008376"/>
            <a:ext cx="3977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0040"/>
                </a:solidFill>
                <a:latin typeface="Consolas"/>
              </a:rPr>
              <a:t>   · 1000석 전부 독점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280160"/>
            <a:ext cx="2103120" cy="301752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75520" y="1280160"/>
            <a:ext cx="2103120" cy="54864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48672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D3"/>
                </a:solidFill>
                <a:latin typeface="Consolas"/>
              </a:rPr>
              <a:t>REST API?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1828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2D3"/>
                </a:solidFill>
                <a:latin typeface="Consolas"/>
              </a:rPr>
              <a:t>GET  읽기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2286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41"/>
                </a:solidFill>
                <a:latin typeface="Consolas"/>
              </a:rPr>
              <a:t>POST 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743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32A"/>
                </a:solidFill>
                <a:latin typeface="Consolas"/>
              </a:rPr>
              <a:t>PUT  덮어쓰기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3200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0040"/>
                </a:solidFill>
                <a:latin typeface="Consolas"/>
              </a:rPr>
              <a:t>DELETE  삭제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11612880" cy="960120"/>
          </a:xfrm>
          <a:prstGeom prst="rect">
            <a:avLst/>
          </a:prstGeom>
          <a:solidFill>
            <a:srgbClr val="10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480560"/>
            <a:ext cx="54864" cy="96012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D32A"/>
                </a:solidFill>
                <a:latin typeface="Consolas"/>
              </a:rPr>
              <a:t>가능했던 이유: Firebase DB는 REST API로 접근 가능 — URL만 알면 누구나 PUT 요청으로 데이터를 덮어쓸 수 있었음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7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선생님의 첫 번째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Cloudflare Worker 방어선 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0" cy="2011680"/>
          </a:xfrm>
          <a:prstGeom prst="rect">
            <a:avLst/>
          </a:prstGeom>
          <a:solidFill>
            <a:srgbClr val="0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201168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40"/>
                </a:solidFill>
                <a:latin typeface="Consola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0040"/>
                </a:solidFill>
                <a:latin typeface="Consolas"/>
              </a:rPr>
              <a:t>예매 사이트  →  Firebase DB
(누구나 직접 접근 가능)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FF41"/>
                </a:solidFill>
                <a:latin typeface="Consola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5212080" cy="201168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54864" cy="201168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41"/>
                </a:solidFill>
                <a:latin typeface="Consola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874519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FF41"/>
                </a:solidFill>
                <a:latin typeface="Consolas"/>
              </a:rPr>
              <a:t>예매 사이트
→ Cloudflare Worker (방어선)
→ Firebase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11247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▸  Cloudflare Worker 중간 서버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9352"/>
            <a:ext cx="10927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B32D"/>
                </a:solidFill>
                <a:latin typeface="Consolas"/>
              </a:rPr>
              <a:t>   · 학생은 Worker의 /claim 엔드포인트만 호출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52544"/>
            <a:ext cx="11247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▸  좌석 중복 확인 — 이미 예매된 좌석 덮어쓰기 방지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5736"/>
            <a:ext cx="112471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▸  Firebase 직접 접근 차단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FD32A"/>
                </a:solidFill>
                <a:latin typeface="Consolas"/>
              </a:rPr>
              <a:t>그런데...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8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Worker를 우회하다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학생 : Firebase 계정 직접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3200400"/>
          </a:xfrm>
          <a:prstGeom prst="rect">
            <a:avLst/>
          </a:prstGeom>
          <a:solidFill>
            <a:srgbClr val="0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3200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Cloudflare Worker가 방어선임을 파악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Worker를 거치지 않고 Firebase에 직접 접근할 방법을 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0040"/>
                </a:solidFill>
                <a:latin typeface="Consolas"/>
              </a:rPr>
              <a:t>▸  Firebase에 직접 계정(이메일/비밀번호)을 만들어버림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25496"/>
            <a:ext cx="10652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0040"/>
                </a:solidFill>
                <a:latin typeface="Consolas"/>
              </a:rPr>
              <a:t>   · 해당 계정으로 인증 토큰 획득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6440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0040"/>
                </a:solidFill>
                <a:latin typeface="Consolas"/>
              </a:rPr>
              <a:t>▸  토큰으로 Firebase DB에 직접 쓰기 성공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10652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0040"/>
                </a:solidFill>
                <a:latin typeface="Consolas"/>
              </a:rPr>
              <a:t>   · → Cloudflare Worker를 완전히 우회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80"/>
            <a:ext cx="11430000" cy="1371600"/>
          </a:xfrm>
          <a:prstGeom prst="rect">
            <a:avLst/>
          </a:prstGeom>
          <a:solidFill>
            <a:srgbClr val="1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0040"/>
                </a:solidFill>
                <a:latin typeface="Consolas"/>
              </a:rPr>
              <a:t>학생 브라우저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0040"/>
                </a:solidFill>
                <a:latin typeface="Consolas"/>
              </a:rPr>
              <a:t>──── 우회! ────▶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4846320"/>
            <a:ext cx="2286000" cy="82296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48920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onsolas"/>
              </a:rPr>
              <a:t>Cloudflare
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0040"/>
                </a:solidFill>
                <a:latin typeface="Consolas"/>
              </a:rPr>
              <a:t>────────────▶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8920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0040"/>
                </a:solidFill>
                <a:latin typeface="Consolas"/>
              </a:rPr>
              <a:t>Firebase DB
(직접 접근 성공)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9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선생님의 두 번째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Firebase Auth 추가 — 신규 가입 차단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914400"/>
          </a:xfrm>
          <a:prstGeom prst="rect">
            <a:avLst/>
          </a:prstGeom>
          <a:solidFill>
            <a:srgbClr val="0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9144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문제: 누구나 Firebase에 계정을 만들어서 직접 접근 가능했음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▸  Firebase Auth 이메일 인증 활성화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▸  Firebase Rules: 인증된 계정만 쓰기 허용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▸  신규 가입(계정 생성) 완전 비활성화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10927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B32D"/>
                </a:solidFill>
                <a:latin typeface="Consolas"/>
              </a:rPr>
              <a:t>   · → Admin 계정 하나만 존재, 더 이상 계정 생성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FF41"/>
                </a:solidFill>
                <a:latin typeface="Consolas"/>
              </a:rPr>
              <a:t>▸  학생의 임의 계정 생성으로 우회하는 방법 차단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120640"/>
            <a:ext cx="9418320" cy="137160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71600" y="5120640"/>
            <a:ext cx="941832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521208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0FF41"/>
                </a:solidFill>
                <a:latin typeface="Consolas"/>
              </a:rPr>
              <a:t>이제 학생들이 데이터베이스에 직접 접근하는 모든 경로 차단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10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3막 — DB를 막자 다른 길을 찾았다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학생 6 재등장 : 멀티스레드 발견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201168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201168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DB 직접 접근 경로가 모두 막힘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Worker /claim 엔드포인트를 멀티스레드로 동시 다발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D32A"/>
                </a:solidFill>
                <a:latin typeface="Consolas"/>
              </a:rPr>
              <a:t>▸  </a:t>
            </a:r>
            <a:r>
              <a:rPr sz="2000" b="0" i="0" dirty="0" err="1">
                <a:solidFill>
                  <a:srgbClr val="FFD32A"/>
                </a:solidFill>
                <a:latin typeface="Consolas"/>
              </a:rPr>
              <a:t>본인도</a:t>
            </a:r>
            <a:r>
              <a:rPr sz="2000" b="0" i="0" dirty="0">
                <a:solidFill>
                  <a:srgbClr val="FFD3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FFD32A"/>
                </a:solidFill>
                <a:latin typeface="Consolas"/>
              </a:rPr>
              <a:t>모르는</a:t>
            </a:r>
            <a:r>
              <a:rPr sz="2000" b="0" i="0" dirty="0">
                <a:solidFill>
                  <a:srgbClr val="FFD3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FFD32A"/>
                </a:solidFill>
                <a:latin typeface="Consolas"/>
              </a:rPr>
              <a:t>사이</a:t>
            </a:r>
            <a:r>
              <a:rPr sz="2000" b="0" i="0" dirty="0">
                <a:solidFill>
                  <a:srgbClr val="FFD3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FFD32A"/>
                </a:solidFill>
                <a:latin typeface="Consolas"/>
              </a:rPr>
              <a:t>멀티스레드를</a:t>
            </a:r>
            <a:r>
              <a:rPr sz="2000" b="0" i="0" dirty="0">
                <a:solidFill>
                  <a:srgbClr val="FFD32A"/>
                </a:solidFill>
                <a:latin typeface="Consolas"/>
              </a:rPr>
              <a:t> </a:t>
            </a:r>
            <a:r>
              <a:rPr lang="ko-KR" altLang="en-US" sz="2000" dirty="0">
                <a:solidFill>
                  <a:srgbClr val="FFD32A"/>
                </a:solidFill>
                <a:latin typeface="Consolas"/>
              </a:rPr>
              <a:t>사용하고 있음</a:t>
            </a:r>
            <a:r>
              <a:rPr lang="en-US" altLang="ko-KR" sz="2000" dirty="0">
                <a:solidFill>
                  <a:srgbClr val="FFD32A"/>
                </a:solidFill>
                <a:latin typeface="Consolas"/>
              </a:rPr>
              <a:t>.</a:t>
            </a:r>
            <a:endParaRPr sz="2000" b="0" i="0" dirty="0">
              <a:solidFill>
                <a:srgbClr val="FFD32A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9418320" cy="1188720"/>
          </a:xfrm>
          <a:prstGeom prst="rect">
            <a:avLst/>
          </a:prstGeom>
          <a:solidFill>
            <a:srgbClr val="10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611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32A"/>
                </a:solidFill>
                <a:latin typeface="Consolas"/>
              </a:rPr>
              <a:t>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5020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32A"/>
                </a:solidFill>
                <a:latin typeface="Consolas"/>
              </a:rPr>
              <a:t>하나씩 예매하던 것이 → 순식간에 수백 개 동시 예매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11247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555555"/>
                </a:solidFill>
                <a:latin typeface="Consolas"/>
              </a:rPr>
              <a:t>* </a:t>
            </a:r>
            <a:r>
              <a:rPr lang="ko-KR" altLang="en-US" sz="1700" i="1" dirty="0">
                <a:solidFill>
                  <a:srgbClr val="555555"/>
                </a:solidFill>
                <a:latin typeface="Consolas"/>
              </a:rPr>
              <a:t>따로 프로그래밍</a:t>
            </a:r>
            <a:r>
              <a:rPr sz="1700" b="0" i="1" dirty="0">
                <a:solidFill>
                  <a:srgbClr val="555555"/>
                </a:solidFill>
                <a:latin typeface="Consolas"/>
              </a:rPr>
              <a:t>을 </a:t>
            </a:r>
            <a:r>
              <a:rPr sz="1700" b="0" i="1" dirty="0" err="1">
                <a:solidFill>
                  <a:srgbClr val="555555"/>
                </a:solidFill>
                <a:latin typeface="Consolas"/>
              </a:rPr>
              <a:t>배운</a:t>
            </a:r>
            <a:r>
              <a:rPr sz="1700" b="0" i="1" dirty="0">
                <a:solidFill>
                  <a:srgbClr val="555555"/>
                </a:solidFill>
                <a:latin typeface="Consolas"/>
              </a:rPr>
              <a:t> </a:t>
            </a:r>
            <a:r>
              <a:rPr sz="1700" b="0" i="1" dirty="0" err="1">
                <a:solidFill>
                  <a:srgbClr val="555555"/>
                </a:solidFill>
                <a:latin typeface="Consolas"/>
              </a:rPr>
              <a:t>것도</a:t>
            </a:r>
            <a:r>
              <a:rPr sz="1700" b="0" i="1" dirty="0">
                <a:solidFill>
                  <a:srgbClr val="555555"/>
                </a:solidFill>
                <a:latin typeface="Consolas"/>
              </a:rPr>
              <a:t> </a:t>
            </a:r>
            <a:r>
              <a:rPr sz="1700" b="0" i="1" dirty="0" err="1">
                <a:solidFill>
                  <a:srgbClr val="555555"/>
                </a:solidFill>
                <a:latin typeface="Consolas"/>
              </a:rPr>
              <a:t>아닌데</a:t>
            </a:r>
            <a:r>
              <a:rPr sz="1700" b="0" i="1" dirty="0">
                <a:solidFill>
                  <a:srgbClr val="555555"/>
                </a:solidFill>
                <a:latin typeface="Consolas"/>
              </a:rPr>
              <a:t>, </a:t>
            </a:r>
            <a:r>
              <a:rPr lang="ko-KR" altLang="en-US" sz="1700" b="0" i="1" dirty="0">
                <a:solidFill>
                  <a:srgbClr val="555555"/>
                </a:solidFill>
                <a:latin typeface="Consolas"/>
              </a:rPr>
              <a:t>잘한다</a:t>
            </a:r>
            <a:r>
              <a:rPr lang="en-US" altLang="ko-KR" sz="1700" b="0" i="1" dirty="0">
                <a:solidFill>
                  <a:srgbClr val="555555"/>
                </a:solidFill>
                <a:latin typeface="Consolas"/>
              </a:rPr>
              <a:t>…</a:t>
            </a:r>
            <a:endParaRPr sz="1700" b="0" i="1" dirty="0">
              <a:solidFill>
                <a:srgbClr val="555555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12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학생들끼리의 선의의 경쟁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더 빨리, 더 많이 — 다음 강자의 등장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3200400"/>
          </a:xfrm>
          <a:prstGeom prst="rect">
            <a:avLst/>
          </a:prstGeom>
          <a:solidFill>
            <a:srgbClr val="0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32A"/>
                </a:solidFill>
                <a:latin typeface="Consolas"/>
              </a:rPr>
              <a:t>멀티스레드 학생 (기존 강자)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D32A"/>
                </a:solidFill>
                <a:latin typeface="Consolas"/>
              </a:rPr>
              <a:t>"나 지금 제일 빠른 거 아니야?"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Python 멀티스레드로 수백 개 동시 예매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9776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다른 학생들보다 압도적으로 빠름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32A"/>
                </a:solidFill>
                <a:latin typeface="Consolas"/>
              </a:rPr>
              <a:t>▸  자신이 1등인 줄 알고 기세등등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103120"/>
            <a:ext cx="914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FF0040"/>
                </a:solidFill>
                <a:latin typeface="Consolas"/>
              </a:rPr>
              <a:t>다음</a:t>
            </a:r>
            <a:r>
              <a:rPr sz="1400" b="1" i="0" dirty="0">
                <a:solidFill>
                  <a:srgbClr val="FF0040"/>
                </a:solidFill>
                <a:latin typeface="Consolas"/>
              </a:rPr>
              <a:t> </a:t>
            </a:r>
            <a:endParaRPr lang="en-US" sz="1400" b="1" i="0" dirty="0">
              <a:solidFill>
                <a:srgbClr val="FF0040"/>
              </a:solidFill>
              <a:latin typeface="Consolas"/>
            </a:endParaRPr>
          </a:p>
          <a:p>
            <a:pPr algn="ctr"/>
            <a:r>
              <a:rPr sz="1400" b="1" i="0" dirty="0" err="1">
                <a:solidFill>
                  <a:srgbClr val="FF0040"/>
                </a:solidFill>
                <a:latin typeface="Consolas"/>
              </a:rPr>
              <a:t>강자</a:t>
            </a:r>
            <a:r>
              <a:rPr sz="1400" b="1" i="0" dirty="0">
                <a:solidFill>
                  <a:srgbClr val="FF0040"/>
                </a:solidFill>
                <a:latin typeface="Consolas"/>
              </a:rPr>
              <a:t>
</a:t>
            </a:r>
            <a:r>
              <a:rPr sz="1400" b="1" i="0" dirty="0" err="1">
                <a:solidFill>
                  <a:srgbClr val="FF0040"/>
                </a:solidFill>
                <a:latin typeface="Consolas"/>
              </a:rPr>
              <a:t>등장</a:t>
            </a:r>
            <a:r>
              <a:rPr sz="1400" b="1" i="0" dirty="0">
                <a:solidFill>
                  <a:srgbClr val="FF0040"/>
                </a:solidFill>
                <a:latin typeface="Consola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926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0040"/>
                </a:solidFill>
                <a:latin typeface="Consolas"/>
              </a:rPr>
              <a:t>▶▶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280160"/>
            <a:ext cx="5029200" cy="3200400"/>
          </a:xfrm>
          <a:prstGeom prst="rect">
            <a:avLst/>
          </a:prstGeom>
          <a:solidFill>
            <a:srgbClr val="02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280160"/>
            <a:ext cx="502920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1371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41"/>
                </a:solidFill>
                <a:latin typeface="Consolas"/>
              </a:rPr>
              <a:t>새 학생 등장 (새 강자)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FF41"/>
                </a:solidFill>
                <a:latin typeface="Consolas"/>
              </a:rPr>
              <a:t>"파이썬 안 써도 되는데요?"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377440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Python + Selenium = 브라우저 제어 오버헤드 간파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779776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브라우저 콘솔에서 JS로 바로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182112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Promise.all() 비동기 병렬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84448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32A"/>
                </a:solidFill>
                <a:latin typeface="Consolas"/>
              </a:rPr>
              <a:t>▸  → 멀티스레드보다 압도적으로 빠름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986784"/>
            <a:ext cx="47548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→ 이 친구가 최종 우승!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11430000" cy="73152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1143000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FF41"/>
                </a:solidFill>
                <a:latin typeface="Consolas"/>
              </a:rPr>
              <a:t>▸  선생님을 뚫는 경쟁이 어느새 학생들끼리의 경쟁으로 발전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D32A"/>
                </a:solidFill>
                <a:latin typeface="Consolas"/>
              </a:rPr>
              <a:t>▸  더 빨리, 더 많이 — 서로 방법을 갈아치우며 자연스러운 선의의 경쟁 발생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23560"/>
            <a:ext cx="11430000" cy="731520"/>
          </a:xfrm>
          <a:prstGeom prst="rect">
            <a:avLst/>
          </a:prstGeom>
          <a:solidFill>
            <a:srgbClr val="10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5623560"/>
            <a:ext cx="54864" cy="7315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715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9F43"/>
                </a:solidFill>
                <a:latin typeface="Consolas"/>
              </a:rPr>
              <a:t>선생님: "솔직히 말하면... 이렇게 애들이 잘할 줄 몰랐다."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13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Python 멀티스레드 vs JS Promise.all()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기술 배경 ③ — 왜 브라우저 콘솔이 더 빨랐나?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393192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9496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32A"/>
                </a:solidFill>
                <a:latin typeface="Consolas"/>
              </a:rPr>
              <a:t>Python 멀티스레드 (학생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여러 스레드가 번갈아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0040"/>
                </a:solidFill>
                <a:latin typeface="Consolas"/>
              </a:rPr>
              <a:t>▸  Selenium 오버헤드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0040"/>
                </a:solidFill>
                <a:latin typeface="Consolas"/>
              </a:rPr>
              <a:t>   · 요청마다: DOM 탐색 →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0040"/>
                </a:solidFill>
                <a:latin typeface="Consolas"/>
              </a:rPr>
              <a:t>   · → 모달 대기 → 입력 → 제출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0040"/>
                </a:solidFill>
                <a:latin typeface="Consolas"/>
              </a:rPr>
              <a:t>▸  요청 하나당 수십 단계 작업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49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0040"/>
                </a:solidFill>
                <a:latin typeface="Consolas"/>
              </a:rPr>
              <a:t>▸  스레드 생성 / 전환 비용 발생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394960" cy="3931920"/>
          </a:xfrm>
          <a:prstGeom prst="rect">
            <a:avLst/>
          </a:prstGeom>
          <a:solidFill>
            <a:srgbClr val="02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280160"/>
            <a:ext cx="539496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41"/>
                </a:solidFill>
                <a:latin typeface="Consolas"/>
              </a:rPr>
              <a:t>JS Promise.all() + fetch() (학생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JS 코드는 싱글스레드지만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fetch()는 브라우저 네트워킹(C++)에 위임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517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   · → 실제 네트워크 I/O는 완전 병렬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DOM 조작 없음 — HTTP 패킷만 전송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요청 하나당 단 1단계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49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1000개가 거의 동시에 큐에 등록됨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32A"/>
                </a:solidFill>
                <a:latin typeface="Consolas"/>
              </a:rPr>
              <a:t>핵심: 'JS 싱글스레드' = JS 코드만 싱글스레드. 네트워크 I/O는 브라우저가 병렬 처리.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32D"/>
                </a:solidFill>
                <a:latin typeface="Consolas"/>
              </a:rPr>
              <a:t>[ 기술 배경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14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3막 — 브라우저 콘솔로 더 빠르게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학생 7 : JavaScript 병렬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8288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18288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Python + Selenium보다 더 빠른 방법 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브라우저 개발자 콘솔에서 JavaScript로 직접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Promise.all()로 1000개 요청을 동시에 발사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337560"/>
            <a:ext cx="9418320" cy="1508760"/>
          </a:xfrm>
          <a:prstGeom prst="rect">
            <a:avLst/>
          </a:prstGeom>
          <a:solidFill>
            <a:srgbClr val="00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3337560"/>
            <a:ext cx="45720" cy="1508760"/>
          </a:xfrm>
          <a:prstGeom prst="rect">
            <a:avLst/>
          </a:prstGeom>
          <a:solidFill>
            <a:srgbClr val="00B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3429000"/>
            <a:ext cx="9189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// 브라우저 콘솔에서 실행
Promise.all(
  Array.from({length: 1000}, (_, i) =&gt;
    fetch('/claim', { method: 'POST', ... })
  )
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983480"/>
            <a:ext cx="9418320" cy="1371600"/>
          </a:xfrm>
          <a:prstGeom prst="rect">
            <a:avLst/>
          </a:prstGeom>
          <a:solidFill>
            <a:srgbClr val="2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0040"/>
                </a:solidFill>
                <a:latin typeface="Consolas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7667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0040"/>
                </a:solidFill>
                <a:latin typeface="Consolas"/>
              </a:rPr>
              <a:t>게임 Start 누르자마자  1초도 안 돼서  1000석 전부 예매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15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선생님의 세 번째 대응... 그리고 패배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Rate Limit → KV 무료 한도 소진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914400"/>
          </a:xfrm>
          <a:prstGeom prst="rect">
            <a:avLst/>
          </a:prstGeom>
          <a:solidFill>
            <a:srgbClr val="0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9144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00FF41"/>
                </a:solidFill>
                <a:latin typeface="Consolas"/>
              </a:rPr>
              <a:t>대응</a:t>
            </a:r>
            <a:r>
              <a:rPr sz="2000" b="1" i="0" dirty="0">
                <a:solidFill>
                  <a:srgbClr val="00FF41"/>
                </a:solidFill>
                <a:latin typeface="Consolas"/>
              </a:rPr>
              <a:t>: Cloudflare </a:t>
            </a:r>
            <a:r>
              <a:rPr sz="2000" b="1" i="0" dirty="0" err="1">
                <a:solidFill>
                  <a:srgbClr val="00FF41"/>
                </a:solidFill>
                <a:latin typeface="Consolas"/>
              </a:rPr>
              <a:t>KV로</a:t>
            </a:r>
            <a:r>
              <a:rPr sz="2000" b="1" i="0" dirty="0">
                <a:solidFill>
                  <a:srgbClr val="00FF41"/>
                </a:solidFill>
                <a:latin typeface="Consolas"/>
              </a:rPr>
              <a:t> </a:t>
            </a:r>
            <a:r>
              <a:rPr lang="ko-KR" altLang="en-US" sz="2000" b="1" i="0" dirty="0">
                <a:solidFill>
                  <a:srgbClr val="00FF41"/>
                </a:solidFill>
                <a:latin typeface="Consolas"/>
              </a:rPr>
              <a:t>한 </a:t>
            </a:r>
            <a:r>
              <a:rPr sz="2000" b="1" i="0" dirty="0" err="1">
                <a:solidFill>
                  <a:srgbClr val="00FF41"/>
                </a:solidFill>
                <a:latin typeface="Consolas"/>
              </a:rPr>
              <a:t>IP당</a:t>
            </a:r>
            <a:r>
              <a:rPr sz="2000" b="1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1" i="0" dirty="0" err="1">
                <a:solidFill>
                  <a:srgbClr val="00FF41"/>
                </a:solidFill>
                <a:latin typeface="Consolas"/>
              </a:rPr>
              <a:t>초당</a:t>
            </a:r>
            <a:r>
              <a:rPr sz="2000" b="1" i="0" dirty="0">
                <a:solidFill>
                  <a:srgbClr val="00FF41"/>
                </a:solidFill>
                <a:latin typeface="Consolas"/>
              </a:rPr>
              <a:t> 100회 </a:t>
            </a:r>
            <a:r>
              <a:rPr sz="2000" b="1" i="0" dirty="0" err="1">
                <a:solidFill>
                  <a:srgbClr val="00FF41"/>
                </a:solidFill>
                <a:latin typeface="Consolas"/>
              </a:rPr>
              <a:t>요청</a:t>
            </a:r>
            <a:r>
              <a:rPr sz="2000" b="1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1" i="0" dirty="0" err="1">
                <a:solidFill>
                  <a:srgbClr val="00FF41"/>
                </a:solidFill>
                <a:latin typeface="Consolas"/>
              </a:rPr>
              <a:t>제한</a:t>
            </a:r>
            <a:r>
              <a:rPr sz="2000" b="1" i="0" dirty="0">
                <a:solidFill>
                  <a:srgbClr val="00FF41"/>
                </a:solidFill>
                <a:latin typeface="Consolas"/>
              </a:rPr>
              <a:t> </a:t>
            </a:r>
            <a:r>
              <a:rPr sz="2000" b="1" i="0" dirty="0" err="1">
                <a:solidFill>
                  <a:srgbClr val="00FF41"/>
                </a:solidFill>
                <a:latin typeface="Consolas"/>
              </a:rPr>
              <a:t>적용</a:t>
            </a:r>
            <a:endParaRPr sz="2000" b="1" i="0" dirty="0">
              <a:solidFill>
                <a:srgbClr val="00FF41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00FF41"/>
                </a:solidFill>
                <a:latin typeface="Consolas"/>
              </a:rPr>
              <a:t>▸  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학생들</a:t>
            </a:r>
            <a:r>
              <a:rPr b="0" i="0" dirty="0">
                <a:solidFill>
                  <a:srgbClr val="00FF41"/>
                </a:solidFill>
                <a:latin typeface="Consolas"/>
              </a:rPr>
              <a:t> '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한꺼번에</a:t>
            </a:r>
            <a:r>
              <a:rPr b="0" i="0" dirty="0">
                <a:solidFill>
                  <a:srgbClr val="00FF41"/>
                </a:solidFill>
                <a:latin typeface="Consolas"/>
              </a:rPr>
              <a:t> 못 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하게</a:t>
            </a:r>
            <a:r>
              <a:rPr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됐다</a:t>
            </a:r>
            <a:r>
              <a:rPr b="0" i="0" dirty="0">
                <a:solidFill>
                  <a:srgbClr val="00FF41"/>
                </a:solidFill>
                <a:latin typeface="Consolas"/>
              </a:rPr>
              <a:t>' 며 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슬퍼함</a:t>
            </a:r>
            <a:r>
              <a:rPr b="0" i="0" dirty="0">
                <a:solidFill>
                  <a:srgbClr val="00FF41"/>
                </a:solidFill>
                <a:latin typeface="Consolas"/>
              </a:rPr>
              <a:t>... </a:t>
            </a:r>
            <a:r>
              <a:rPr lang="ko-KR" altLang="en-US" b="0" i="0" dirty="0">
                <a:solidFill>
                  <a:srgbClr val="00FF41"/>
                </a:solidFill>
                <a:latin typeface="Consolas"/>
              </a:rPr>
              <a:t>근데 뚫으려고 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계속</a:t>
            </a:r>
            <a:r>
              <a:rPr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트라이</a:t>
            </a:r>
            <a:r>
              <a:rPr b="0" i="0" dirty="0">
                <a:solidFill>
                  <a:srgbClr val="00FF41"/>
                </a:solidFill>
                <a:latin typeface="Consolas"/>
              </a:rPr>
              <a:t> </a:t>
            </a:r>
            <a:r>
              <a:rPr b="0" i="0" dirty="0" err="1">
                <a:solidFill>
                  <a:srgbClr val="00FF41"/>
                </a:solidFill>
                <a:latin typeface="Consolas"/>
              </a:rPr>
              <a:t>시도</a:t>
            </a:r>
            <a:r>
              <a:rPr lang="ko-KR" altLang="en-US" b="0" i="0" dirty="0">
                <a:solidFill>
                  <a:srgbClr val="00FF41"/>
                </a:solidFill>
                <a:latin typeface="Consolas"/>
              </a:rPr>
              <a:t>하고 있음</a:t>
            </a:r>
            <a:r>
              <a:rPr lang="en-US" altLang="ko-KR" b="0" i="0" dirty="0">
                <a:solidFill>
                  <a:srgbClr val="00FF41"/>
                </a:solidFill>
                <a:latin typeface="Consolas"/>
              </a:rPr>
              <a:t>.</a:t>
            </a:r>
            <a:endParaRPr sz="2000" b="0" i="0" dirty="0">
              <a:solidFill>
                <a:srgbClr val="00FF41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1430000" cy="2286000"/>
          </a:xfrm>
          <a:prstGeom prst="rect">
            <a:avLst/>
          </a:prstGeom>
          <a:solidFill>
            <a:srgbClr val="1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4864" cy="22860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0040"/>
                </a:solidFill>
                <a:latin typeface="Consolas"/>
              </a:rPr>
              <a:t>예상치 못한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0040"/>
                </a:solidFill>
                <a:latin typeface="Consolas"/>
              </a:rPr>
              <a:t>▸  Cloudflare KV 무료 플랜 — 일일 쓰기 1,000회 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22776"/>
            <a:ext cx="10972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>
                <a:solidFill>
                  <a:srgbClr val="FF0040"/>
                </a:solidFill>
                <a:latin typeface="Consolas"/>
              </a:rPr>
              <a:t>▸  </a:t>
            </a:r>
            <a:r>
              <a:rPr lang="ko-KR" altLang="en-US" sz="1900" b="0" i="0" dirty="0">
                <a:solidFill>
                  <a:srgbClr val="FF0040"/>
                </a:solidFill>
                <a:latin typeface="Consolas"/>
              </a:rPr>
              <a:t>수정한지 </a:t>
            </a:r>
            <a:r>
              <a:rPr lang="en-US" altLang="ko-KR" sz="1900" b="0" i="0" dirty="0">
                <a:solidFill>
                  <a:srgbClr val="FF0040"/>
                </a:solidFill>
                <a:latin typeface="Consolas"/>
              </a:rPr>
              <a:t>5</a:t>
            </a:r>
            <a:r>
              <a:rPr sz="1900" b="0" i="0" dirty="0">
                <a:solidFill>
                  <a:srgbClr val="FF0040"/>
                </a:solidFill>
                <a:latin typeface="Consolas"/>
              </a:rPr>
              <a:t>분도 안 </a:t>
            </a:r>
            <a:r>
              <a:rPr sz="1900" b="0" i="0" dirty="0" err="1">
                <a:solidFill>
                  <a:srgbClr val="FF0040"/>
                </a:solidFill>
                <a:latin typeface="Consolas"/>
              </a:rPr>
              <a:t>되어</a:t>
            </a:r>
            <a:r>
              <a:rPr sz="1900" b="0" i="0" dirty="0">
                <a:solidFill>
                  <a:srgbClr val="FF0040"/>
                </a:solidFill>
                <a:latin typeface="Consolas"/>
              </a:rPr>
              <a:t> </a:t>
            </a:r>
            <a:r>
              <a:rPr sz="1900" b="0" i="0" dirty="0" err="1">
                <a:solidFill>
                  <a:srgbClr val="FF0040"/>
                </a:solidFill>
                <a:latin typeface="Consolas"/>
              </a:rPr>
              <a:t>일일</a:t>
            </a:r>
            <a:r>
              <a:rPr sz="1900" b="0" i="0" dirty="0">
                <a:solidFill>
                  <a:srgbClr val="FF0040"/>
                </a:solidFill>
                <a:latin typeface="Consolas"/>
              </a:rPr>
              <a:t> </a:t>
            </a:r>
            <a:r>
              <a:rPr sz="1900" b="0" i="0" dirty="0" err="1">
                <a:solidFill>
                  <a:srgbClr val="FF0040"/>
                </a:solidFill>
                <a:latin typeface="Consolas"/>
              </a:rPr>
              <a:t>무료</a:t>
            </a:r>
            <a:r>
              <a:rPr sz="1900" b="0" i="0" dirty="0">
                <a:solidFill>
                  <a:srgbClr val="FF0040"/>
                </a:solidFill>
                <a:latin typeface="Consolas"/>
              </a:rPr>
              <a:t> </a:t>
            </a:r>
            <a:r>
              <a:rPr sz="1900" b="0" i="0" dirty="0" err="1">
                <a:solidFill>
                  <a:srgbClr val="FF0040"/>
                </a:solidFill>
                <a:latin typeface="Consolas"/>
              </a:rPr>
              <a:t>한도</a:t>
            </a:r>
            <a:r>
              <a:rPr sz="1900" b="0" i="0" dirty="0">
                <a:solidFill>
                  <a:srgbClr val="FF0040"/>
                </a:solidFill>
                <a:latin typeface="Consolas"/>
              </a:rPr>
              <a:t> </a:t>
            </a:r>
            <a:r>
              <a:rPr sz="1900" b="0" i="0" dirty="0" err="1">
                <a:solidFill>
                  <a:srgbClr val="FF0040"/>
                </a:solidFill>
                <a:latin typeface="Consolas"/>
              </a:rPr>
              <a:t>전부</a:t>
            </a:r>
            <a:r>
              <a:rPr sz="1900" b="0" i="0" dirty="0">
                <a:solidFill>
                  <a:srgbClr val="FF0040"/>
                </a:solidFill>
                <a:latin typeface="Consolas"/>
              </a:rPr>
              <a:t> </a:t>
            </a:r>
            <a:r>
              <a:rPr sz="1900" b="0" i="0" dirty="0" err="1">
                <a:solidFill>
                  <a:srgbClr val="FF0040"/>
                </a:solidFill>
                <a:latin typeface="Consolas"/>
              </a:rPr>
              <a:t>소진</a:t>
            </a:r>
            <a:endParaRPr sz="1900" b="0" i="0" dirty="0">
              <a:solidFill>
                <a:srgbClr val="FF0040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D32A"/>
                </a:solidFill>
                <a:latin typeface="Consolas"/>
              </a:rPr>
              <a:t>▸  → Rate Limit 어쩔 수 없이 제거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27448"/>
            <a:ext cx="10652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D32A"/>
                </a:solidFill>
                <a:latin typeface="Consolas"/>
              </a:rPr>
              <a:t>   · → 학생들 다시 대량 예매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1">
                <a:solidFill>
                  <a:srgbClr val="FF0040"/>
                </a:solidFill>
                <a:latin typeface="Consolas"/>
              </a:rPr>
              <a:t>"선생님이 졌다."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16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공방의 전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시도하고 대응하고, 또 시도하고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61872"/>
            <a:ext cx="822960" cy="548640"/>
          </a:xfrm>
          <a:prstGeom prst="rect">
            <a:avLst/>
          </a:prstGeom>
          <a:solidFill>
            <a:srgbClr val="1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1289304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1R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298448"/>
            <a:ext cx="1280160" cy="457200"/>
          </a:xfrm>
          <a:prstGeom prst="rect">
            <a:avLst/>
          </a:prstGeom>
          <a:solidFill>
            <a:srgbClr val="10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133502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학생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335024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2D"/>
                </a:solidFill>
                <a:latin typeface="Consolas"/>
              </a:rPr>
              <a:t>Firebase Rules 열려있음 확인 → Start 없이 게임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874519"/>
            <a:ext cx="1280160" cy="45720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1911095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41"/>
                </a:solidFill>
                <a:latin typeface="Consolas"/>
              </a:rPr>
              <a:t>선생님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911095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41"/>
                </a:solidFill>
                <a:latin typeface="Consolas"/>
              </a:rPr>
              <a:t>Firebase Rules 수정 (인증 없으면 쓰기 불가)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414015"/>
            <a:ext cx="822960" cy="548640"/>
          </a:xfrm>
          <a:prstGeom prst="rect">
            <a:avLst/>
          </a:prstGeom>
          <a:solidFill>
            <a:srgbClr val="1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" y="2441447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2R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450591"/>
            <a:ext cx="1280160" cy="457200"/>
          </a:xfrm>
          <a:prstGeom prst="rect">
            <a:avLst/>
          </a:prstGeom>
          <a:solidFill>
            <a:srgbClr val="10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2487167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학생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487167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2D"/>
                </a:solidFill>
                <a:latin typeface="Consolas"/>
              </a:rPr>
              <a:t>REST API로 1000석 한번에 쓰기 / 남의 좌석 덮어쓰기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026664"/>
            <a:ext cx="1280160" cy="45720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06324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41"/>
                </a:solidFill>
                <a:latin typeface="Consolas"/>
              </a:rPr>
              <a:t>선생님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0632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41"/>
                </a:solidFill>
                <a:latin typeface="Consolas"/>
              </a:rPr>
              <a:t>Cloudflare Worker 도입 + /claim 엔드포인트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566160"/>
            <a:ext cx="822960" cy="548640"/>
          </a:xfrm>
          <a:prstGeom prst="rect">
            <a:avLst/>
          </a:prstGeom>
          <a:solidFill>
            <a:srgbClr val="1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" y="3593592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3R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602736"/>
            <a:ext cx="1280160" cy="457200"/>
          </a:xfrm>
          <a:prstGeom prst="rect">
            <a:avLst/>
          </a:prstGeom>
          <a:solidFill>
            <a:srgbClr val="10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3639312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학생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639312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2D"/>
                </a:solidFill>
                <a:latin typeface="Consolas"/>
              </a:rPr>
              <a:t>Firebase에 직접 계정 생성 → 인증 토큰으로 DB 직접 접근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178808"/>
            <a:ext cx="1280160" cy="45720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21538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41"/>
                </a:solidFill>
                <a:latin typeface="Consolas"/>
              </a:rPr>
              <a:t>선생님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215384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41"/>
                </a:solidFill>
                <a:latin typeface="Consolas"/>
              </a:rPr>
              <a:t>Firebase Auth 활성화 + 신규 가입 차단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718304"/>
            <a:ext cx="822960" cy="548640"/>
          </a:xfrm>
          <a:prstGeom prst="rect">
            <a:avLst/>
          </a:prstGeom>
          <a:solidFill>
            <a:srgbClr val="1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1168" y="4745736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4R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4754880"/>
            <a:ext cx="1280160" cy="457200"/>
          </a:xfrm>
          <a:prstGeom prst="rect">
            <a:avLst/>
          </a:prstGeom>
          <a:solidFill>
            <a:srgbClr val="10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15568" y="479145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0040"/>
                </a:solidFill>
                <a:latin typeface="Consolas"/>
              </a:rPr>
              <a:t>학생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791456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32D"/>
                </a:solidFill>
                <a:latin typeface="Consolas"/>
              </a:rPr>
              <a:t>Worker /claim을 멀티스레드 + 브라우저 콘솔 Promise.all()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5330952"/>
            <a:ext cx="1280160" cy="45720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5568" y="53675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41"/>
                </a:solidFill>
                <a:latin typeface="Consolas"/>
              </a:rPr>
              <a:t>선생님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367528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41"/>
                </a:solidFill>
                <a:latin typeface="Consolas"/>
              </a:rPr>
              <a:t>Cloudflare KV Rate Limit 추가 (초당 100회)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5870448"/>
            <a:ext cx="822960" cy="548640"/>
          </a:xfrm>
          <a:prstGeom prst="rect">
            <a:avLst/>
          </a:prstGeom>
          <a:solidFill>
            <a:srgbClr val="15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1168" y="589788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32A"/>
                </a:solidFill>
                <a:latin typeface="Consolas"/>
              </a:rPr>
              <a:t>결말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907024"/>
            <a:ext cx="1280160" cy="457200"/>
          </a:xfrm>
          <a:prstGeom prst="rect">
            <a:avLst/>
          </a:prstGeom>
          <a:solidFill>
            <a:srgbClr val="10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15568" y="59436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32A"/>
                </a:solidFill>
                <a:latin typeface="Consolas"/>
              </a:rPr>
              <a:t>현실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94360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32A"/>
                </a:solidFill>
                <a:latin typeface="Consolas"/>
              </a:rPr>
              <a:t>KV 무료 한도 10분 만에 소진 → Rate Limit 제거 → 학생 승리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18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학생들이 스스로 발견한 기술들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선생님이 가르쳐준 것은 하나도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429000" cy="45720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41"/>
                </a:solidFill>
                <a:latin typeface="Consolas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371600"/>
            <a:ext cx="1417320" cy="45720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86200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41"/>
                </a:solidFill>
                <a:latin typeface="Consolas"/>
              </a:rPr>
              <a:t>학생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71600"/>
            <a:ext cx="6629400" cy="45720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417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41"/>
                </a:solidFill>
                <a:latin typeface="Consolas"/>
              </a:rPr>
              <a:t>어떻게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11704320" cy="603504"/>
          </a:xfrm>
          <a:prstGeom prst="rect">
            <a:avLst/>
          </a:prstGeom>
          <a:solidFill>
            <a:srgbClr val="05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659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FF41"/>
                </a:solidFill>
                <a:latin typeface="Consolas"/>
              </a:rPr>
              <a:t>Firebase Rules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96595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학생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65959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브라우저 네트워크 탭 / 콘솔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32887"/>
            <a:ext cx="11704320" cy="603504"/>
          </a:xfrm>
          <a:prstGeom prst="rect">
            <a:avLst/>
          </a:prstGeom>
          <a:solidFill>
            <a:srgbClr val="020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62432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FF41"/>
                </a:solidFill>
                <a:latin typeface="Consolas"/>
              </a:rPr>
              <a:t>DB REST API 직접 호출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624327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학생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624327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Firebase REST API PUT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91256"/>
            <a:ext cx="11704320" cy="603504"/>
          </a:xfrm>
          <a:prstGeom prst="rect">
            <a:avLst/>
          </a:prstGeom>
          <a:solidFill>
            <a:srgbClr val="05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2826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FF41"/>
                </a:solidFill>
                <a:latin typeface="Consolas"/>
              </a:rPr>
              <a:t>기존 레코드 덮어쓰기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2826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학생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82696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인증 없이 PUT으로 기존 데이터 교체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9624"/>
            <a:ext cx="11704320" cy="603504"/>
          </a:xfrm>
          <a:prstGeom prst="rect">
            <a:avLst/>
          </a:prstGeom>
          <a:solidFill>
            <a:srgbClr val="020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94106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FF41"/>
                </a:solidFill>
                <a:latin typeface="Consolas"/>
              </a:rPr>
              <a:t>Firebase 계정 직접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94106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학생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106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신규 가입으로 인증 토큰 획득 후 직접 접근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07992"/>
            <a:ext cx="11704320" cy="603504"/>
          </a:xfrm>
          <a:prstGeom prst="rect">
            <a:avLst/>
          </a:prstGeom>
          <a:solidFill>
            <a:srgbClr val="05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599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FF41"/>
                </a:solidFill>
                <a:latin typeface="Consolas"/>
              </a:rPr>
              <a:t>멀티스레드 병렬 요청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59943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학생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459943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AI가 threading 모듈 제안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66359"/>
            <a:ext cx="11704320" cy="603504"/>
          </a:xfrm>
          <a:prstGeom prst="rect">
            <a:avLst/>
          </a:prstGeom>
          <a:solidFill>
            <a:srgbClr val="020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25779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FF41"/>
                </a:solidFill>
                <a:latin typeface="Consolas"/>
              </a:rPr>
              <a:t>브라우저 콘솔 JS 실행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5779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32A"/>
                </a:solidFill>
                <a:latin typeface="Consolas"/>
              </a:rPr>
              <a:t>학생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5257799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Promise.all()로 1000개 동시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onsolas"/>
              </a:rPr>
              <a:t>* 이 중 어느 것도 선생님이 먼저 가르쳐준 것이 없다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19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느낀 점 1 — 공방이 만들어낸 효능감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막히면 더 하고 싶어지는 심리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94960" cy="3931920"/>
          </a:xfrm>
          <a:prstGeom prst="rect">
            <a:avLst/>
          </a:prstGeom>
          <a:solidFill>
            <a:srgbClr val="05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54864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32A"/>
                </a:solidFill>
                <a:latin typeface="Consolas"/>
              </a:rPr>
              <a:t>학생 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32A"/>
                </a:solidFill>
                <a:latin typeface="Consolas"/>
              </a:rPr>
              <a:t>▸  "야 선생님이 이거 막아버렸는데?"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13432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"야 이거 또 뚫어보자"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06624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선생님이 만든 걸 뚫었다는 성취감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99816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막힐수록 오히려 더 의욕이 생김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8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실패해도 포기하지 않고 다른 방법 탐색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4800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32D"/>
                </a:solidFill>
                <a:latin typeface="Consolas"/>
              </a:rPr>
              <a:t>   · AI에게 물어보며 스스로 해결책 발견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394960" cy="3931920"/>
          </a:xfrm>
          <a:prstGeom prst="rect">
            <a:avLst/>
          </a:prstGeom>
          <a:solidFill>
            <a:srgbClr val="0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9496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41"/>
                </a:solidFill>
                <a:latin typeface="Consolas"/>
              </a:rPr>
              <a:t>선생님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"어쭈, 이놈들봐라?"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13432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나도 막아야 하니까 AI 계속 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06624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학생들이 예상을 뛰어넘는 방법을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99816"/>
            <a:ext cx="4800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32D"/>
                </a:solidFill>
                <a:latin typeface="Consolas"/>
              </a:rPr>
              <a:t>   · 찾아올 때마다 나도 흥미로웠음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93008"/>
            <a:ext cx="51206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F41"/>
                </a:solidFill>
                <a:latin typeface="Consolas"/>
              </a:rPr>
              <a:t>▸  내가 만든 걸 누군가 진지하게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86200"/>
            <a:ext cx="48006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32D"/>
                </a:solidFill>
                <a:latin typeface="Consolas"/>
              </a:rPr>
              <a:t>   · 분석하고 있다는 것 자체가 재밌었음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32A"/>
                </a:solidFill>
                <a:latin typeface="Consolas"/>
              </a:rPr>
              <a:t>막고 뚫는 이 과정이 학생도, 선생님도 가장 재밌었던 순간이었다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20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느낀 점 2 — 개념은 몰라도 느낌은 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학생들이 이 모든 개념을 자세하게 아는 건 아니다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1828800" cy="32004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167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F43"/>
                </a:solidFill>
                <a:latin typeface="Consolas"/>
              </a:rPr>
              <a:t>참신한 아이디어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298448"/>
            <a:ext cx="9692640" cy="731520"/>
          </a:xfrm>
          <a:prstGeom prst="rect">
            <a:avLst/>
          </a:prstGeom>
          <a:solidFill>
            <a:srgbClr val="05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0" y="1298448"/>
            <a:ext cx="45720" cy="7315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1335024"/>
            <a:ext cx="9326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F43"/>
                </a:solidFill>
                <a:latin typeface="Consolas"/>
              </a:rPr>
              <a:t>"선생님, 이거 브라우저 100개씩 열어서
한꺼번에 예매해도 되나요?"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7568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onsolas"/>
              </a:rPr>
              <a:t>→ 나중에 창 100개 하나씩 닫느라 혼자 고생함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96896"/>
            <a:ext cx="1828800" cy="32004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615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40"/>
                </a:solidFill>
                <a:latin typeface="Consolas"/>
              </a:rPr>
              <a:t>대화 1 — DB 직접 접근 발견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596896"/>
            <a:ext cx="9692640" cy="731520"/>
          </a:xfrm>
          <a:prstGeom prst="rect">
            <a:avLst/>
          </a:prstGeom>
          <a:solidFill>
            <a:srgbClr val="05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94560" y="2596896"/>
            <a:ext cx="45720" cy="73152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2633472"/>
            <a:ext cx="9326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0040"/>
                </a:solidFill>
                <a:latin typeface="Consolas"/>
              </a:rPr>
              <a:t>선생님: "야 너 예매 중지 눌렀는데 어떻게 뚫고 예매했어?"
학생: "아, 이거 예매사이트에서 직접 데이터베이스에 접근된다고 하던데요?"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374136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32D"/>
                </a:solidFill>
                <a:latin typeface="Consolas"/>
              </a:rPr>
              <a:t>→ Firebase REST API를 정확히는 모르지만, 직접 접근된다는 느낌은 알고 있음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95344"/>
            <a:ext cx="1828800" cy="32004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913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32A"/>
                </a:solidFill>
                <a:latin typeface="Consolas"/>
              </a:rPr>
              <a:t>대화 2 — 멀티스레드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895344"/>
            <a:ext cx="9692640" cy="731520"/>
          </a:xfrm>
          <a:prstGeom prst="rect">
            <a:avLst/>
          </a:prstGeom>
          <a:solidFill>
            <a:srgbClr val="05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94560" y="3895344"/>
            <a:ext cx="45720" cy="73152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31720" y="3931920"/>
            <a:ext cx="9326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32A"/>
                </a:solidFill>
                <a:latin typeface="Consolas"/>
              </a:rPr>
              <a:t>선생님: "야 너 어떻게 한꺼번에 1000개씩 예매하는 거야?"
학생: "저도 잘은 모르는데요, 멀티스레드 쓰면 빠르더라고요"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672584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32D"/>
                </a:solidFill>
                <a:latin typeface="Consolas"/>
              </a:rPr>
              <a:t>→ 정확한 원리는 모르지만 효과는 체감함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93792"/>
            <a:ext cx="1828800" cy="32004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41"/>
                </a:solidFill>
                <a:latin typeface="Consolas"/>
              </a:rPr>
              <a:t>대화 3 — Promise.all()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5193792"/>
            <a:ext cx="9692640" cy="731520"/>
          </a:xfrm>
          <a:prstGeom prst="rect">
            <a:avLst/>
          </a:prstGeom>
          <a:solidFill>
            <a:srgbClr val="05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94560" y="5193792"/>
            <a:ext cx="45720" cy="73152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31720" y="5230368"/>
            <a:ext cx="9326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41"/>
                </a:solidFill>
                <a:latin typeface="Consolas"/>
              </a:rPr>
              <a:t>선생님: "야 너 멀티스레드 맞아? 쟤보다 훨씬 빠른데?"
학생: "저도 잘은 모르는데요, 그냥 브라우저에서 바로 promise.all() 쓰는게 더 빠르던데요"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97103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32D"/>
                </a:solidFill>
                <a:latin typeface="Consolas"/>
              </a:rPr>
              <a:t>→ JS 비동기를 이해한 게 아니라 AI가 알려준 대로 해봤더니 빨랐음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32A"/>
                </a:solidFill>
                <a:latin typeface="Consolas"/>
              </a:rPr>
              <a:t>완전히 이해하지 않아도 — AI와 함께라면 직관으로 해낸다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21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느낀 점 2 — AI의 위력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개발 경험 유무가 무의미해졌다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3200400"/>
          </a:xfrm>
          <a:prstGeom prst="rect">
            <a:avLst/>
          </a:prstGeom>
          <a:solidFill>
            <a:srgbClr val="0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" cy="32004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FF41"/>
                </a:solidFill>
                <a:latin typeface="Consolas"/>
              </a:rPr>
              <a:t>▸  코딩을 전혀 모르는 학생도 AI에게 물어보며 시스템 구조를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FF41"/>
                </a:solidFill>
                <a:latin typeface="Consolas"/>
              </a:rPr>
              <a:t>▸  '어떻게 하면 더 빠르게 할 수 있어?' 라고 AI에 물어본 것이 전부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D32A"/>
                </a:solidFill>
                <a:latin typeface="Consolas"/>
              </a:rPr>
              <a:t>▸  개발자 수준의 시도가 중학생에게서 나옴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39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FF41"/>
                </a:solidFill>
                <a:latin typeface="Consolas"/>
              </a:rPr>
              <a:t>▸  멀티스레드, REST API, 병렬 처리 — 배운 적 없지만 AI가 알려줬다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846320"/>
            <a:ext cx="9418320" cy="14630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493776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00FF41"/>
                </a:solidFill>
                <a:latin typeface="Consolas"/>
              </a:rPr>
              <a:t>"AI를 활용하니
배운 사람과 안 배운 사람의 차이가 사라졌다"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22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느낀 점 3 — 동기의 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"내가 해냈다"는 성취감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FF41"/>
                </a:solidFill>
                <a:latin typeface="Consolas"/>
              </a:rPr>
              <a:t>▸  학생들이 평소보다 훨씬 높은 집중력과 창의력을 발휘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FF41"/>
                </a:solidFill>
                <a:latin typeface="Consolas"/>
              </a:rPr>
              <a:t>▸  실패해도 포기하지 않고 다른 방법을 스스로 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D32A"/>
                </a:solidFill>
                <a:latin typeface="Consolas"/>
              </a:rPr>
              <a:t>▸  '내가 해냈다'는 뿌듯함 → 강력한 학습 동기로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5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FF41"/>
                </a:solidFill>
                <a:latin typeface="Consolas"/>
              </a:rPr>
              <a:t>▸  서로 시도하고 대응하는 과정이 수업보다 재미있었음 — 학생도, 선생님도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846320"/>
            <a:ext cx="9418320" cy="1554480"/>
          </a:xfrm>
          <a:prstGeom prst="rect">
            <a:avLst/>
          </a:prstGeom>
          <a:solidFill>
            <a:srgbClr val="0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0" y="4846320"/>
            <a:ext cx="9418320" cy="54864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937760"/>
            <a:ext cx="8961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00FF41"/>
                </a:solidFill>
                <a:latin typeface="Consolas"/>
              </a:rPr>
              <a:t>"정답이 정해진 문제가 아니라,
실제로 작동하는 시스템이어야 한다"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23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FF41"/>
                </a:solidFill>
                <a:latin typeface="Consolas"/>
              </a:rPr>
              <a:t>느낀 점 4 — AI 시대, 교사의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32D"/>
                </a:solidFill>
                <a:latin typeface="Consolas"/>
              </a:rPr>
              <a:t>지식 전달에서 환경 설계로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FF41"/>
                </a:solidFill>
                <a:latin typeface="Consolas"/>
              </a:rPr>
              <a:t>▸  AI를 활용하면 코딩 경험이 없어도 생각 이상의 성과를 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FF41"/>
                </a:solidFill>
                <a:latin typeface="Consolas"/>
              </a:rPr>
              <a:t>▸  배경 지식의 차이보다 동기의 차이가 결과를 가른다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FF41"/>
                </a:solidFill>
                <a:latin typeface="Consolas"/>
              </a:rPr>
              <a:t>▸  학생 스스로 문제를 찾고 해결하게 만드는 환경이 핵심이다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8416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32A"/>
                </a:solidFill>
                <a:latin typeface="Consolas"/>
              </a:rPr>
              <a:t>▸  교사의 역할은 가르치는 것이 아니라 하고 싶게 만드는 것이다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47120" cy="36576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onsolas"/>
              </a:rPr>
              <a:t>이 수업에서 선생님이 직접 가르친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onsolas"/>
              </a:rPr>
              <a:t>학생들이 AI로 스스로 발견한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i="0" dirty="0">
                <a:solidFill>
                  <a:srgbClr val="FF0040"/>
                </a:solidFill>
                <a:latin typeface="Consolas"/>
              </a:rPr>
              <a:t>파이썬 매크로 프로그램 기초 및 사용법만 설명</a:t>
            </a:r>
            <a:endParaRPr sz="1600" b="1" i="0" dirty="0">
              <a:solidFill>
                <a:srgbClr val="FF0040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5166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55555"/>
                </a:solidFill>
                <a:latin typeface="Consolas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66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FF41"/>
                </a:solidFill>
                <a:latin typeface="Consolas"/>
              </a:rPr>
              <a:t>REST API, 멀티스레드, 비동기 병렬처리...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24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32D"/>
                </a:solidFill>
                <a:latin typeface="Consolas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AI를 활용하면 코딩 경험이 없어도 생각 이상의 성과를 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배경 지식의 차이보다 동기의 차이가 결과를 가른다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41"/>
                </a:solidFill>
                <a:latin typeface="Consolas"/>
              </a:rPr>
              <a:t>▸  학생 스스로 문제를 찾고 해결하게 만드는 환경이 핵심이다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D32A"/>
                </a:solidFill>
                <a:latin typeface="Consolas"/>
              </a:rPr>
              <a:t>▸  교사의 역할은 가르치는 것이 아니라 하고 싶게 만드는 것이다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11247120" cy="2560320"/>
          </a:xfrm>
          <a:prstGeom prst="rect">
            <a:avLst/>
          </a:prstGeom>
          <a:solidFill>
            <a:srgbClr val="00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11247120" cy="64008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6153912"/>
            <a:ext cx="11247120" cy="64008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8813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00FF41"/>
                </a:solidFill>
                <a:latin typeface="Consolas"/>
              </a:rPr>
              <a:t>"AI </a:t>
            </a:r>
            <a:r>
              <a:rPr sz="3200" b="1" i="1" dirty="0" err="1">
                <a:solidFill>
                  <a:srgbClr val="00FF41"/>
                </a:solidFill>
                <a:latin typeface="Consolas"/>
              </a:rPr>
              <a:t>시대</a:t>
            </a:r>
            <a:r>
              <a:rPr sz="3200" b="1" i="1" dirty="0">
                <a:solidFill>
                  <a:srgbClr val="00FF41"/>
                </a:solidFill>
                <a:latin typeface="Consolas"/>
              </a:rPr>
              <a:t>, </a:t>
            </a:r>
            <a:r>
              <a:rPr lang="ko-KR" altLang="en-US" sz="3200" b="1" i="1" dirty="0">
                <a:solidFill>
                  <a:srgbClr val="00FF41"/>
                </a:solidFill>
                <a:latin typeface="Consolas"/>
              </a:rPr>
              <a:t>교사가 해야 할 일</a:t>
            </a:r>
            <a:r>
              <a:rPr sz="3200" b="1" i="1" dirty="0">
                <a:solidFill>
                  <a:srgbClr val="00FF41"/>
                </a:solidFill>
                <a:latin typeface="Consolas"/>
              </a:rPr>
              <a:t>
</a:t>
            </a:r>
            <a:r>
              <a:rPr sz="3200" b="1" i="1" dirty="0" err="1">
                <a:solidFill>
                  <a:srgbClr val="00FF41"/>
                </a:solidFill>
                <a:latin typeface="Consolas"/>
              </a:rPr>
              <a:t>학생이</a:t>
            </a:r>
            <a:r>
              <a:rPr sz="3200" b="1" i="1" dirty="0">
                <a:solidFill>
                  <a:srgbClr val="00FF41"/>
                </a:solidFill>
                <a:latin typeface="Consolas"/>
              </a:rPr>
              <a:t> </a:t>
            </a:r>
            <a:r>
              <a:rPr sz="3200" b="1" i="1" dirty="0" err="1">
                <a:solidFill>
                  <a:srgbClr val="00FF41"/>
                </a:solidFill>
                <a:latin typeface="Consolas"/>
              </a:rPr>
              <a:t>해보고</a:t>
            </a:r>
            <a:r>
              <a:rPr sz="3200" b="1" i="1" dirty="0">
                <a:solidFill>
                  <a:srgbClr val="00FF41"/>
                </a:solidFill>
                <a:latin typeface="Consolas"/>
              </a:rPr>
              <a:t> </a:t>
            </a:r>
            <a:r>
              <a:rPr sz="3200" b="1" i="1" dirty="0" err="1">
                <a:solidFill>
                  <a:srgbClr val="00FF41"/>
                </a:solidFill>
                <a:latin typeface="Consolas"/>
              </a:rPr>
              <a:t>싶게</a:t>
            </a:r>
            <a:r>
              <a:rPr sz="3200" b="1" i="1" dirty="0">
                <a:solidFill>
                  <a:srgbClr val="00FF41"/>
                </a:solidFill>
                <a:latin typeface="Consolas"/>
              </a:rPr>
              <a:t> </a:t>
            </a:r>
            <a:r>
              <a:rPr sz="3200" b="1" i="1" dirty="0" err="1">
                <a:solidFill>
                  <a:srgbClr val="00FF41"/>
                </a:solidFill>
                <a:latin typeface="Consolas"/>
              </a:rPr>
              <a:t>만드는</a:t>
            </a:r>
            <a:r>
              <a:rPr sz="3200" b="1" i="1" dirty="0">
                <a:solidFill>
                  <a:srgbClr val="00FF41"/>
                </a:solidFill>
                <a:latin typeface="Consolas"/>
              </a:rPr>
              <a:t> 것"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onsolas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1969</Words>
  <Application>Microsoft Office PowerPoint</Application>
  <PresentationFormat>사용자 지정</PresentationFormat>
  <Paragraphs>290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권순홍</cp:lastModifiedBy>
  <cp:revision>7</cp:revision>
  <dcterms:created xsi:type="dcterms:W3CDTF">2013-01-27T09:14:16Z</dcterms:created>
  <dcterms:modified xsi:type="dcterms:W3CDTF">2026-08-19T13:52:19Z</dcterms:modified>
  <cp:category/>
</cp:coreProperties>
</file>