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3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12192000"/>
  <p:embeddedFontLst>
    <p:embeddedFont>
      <p:font typeface="Jua" panose="020B0600000101010101" charset="-127"/>
      <p:regular r:id="rId35"/>
    </p:embeddedFont>
    <p:embeddedFont>
      <p:font typeface="Malgun Gothic" panose="020B0503020000020004" pitchFamily="50" charset="-127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3.fntdata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5" name="Google Shape;85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" name="Google Shape;101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" name="Google Shape;114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8" name="Google Shape;228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9" name="Google Shape;229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9" name="Google Shape;239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2" name="Google Shape;26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3" name="Google Shape;28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1" name="Google Shape;291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4" name="Google Shape;32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5" name="Google Shape;355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5" name="Google Shape;365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6" name="Google Shape;366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0" name="Google Shape;390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8" name="Google Shape;398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9" name="Google Shape;39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0" name="Google Shape;410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9" name="Google Shape;419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2" name="Google Shape;432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0" name="Google Shape;44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1" name="Google Shape;44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0" name="Google Shape;450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1" name="Google Shape;451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2" name="Google Shape;462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4" name="Google Shape;474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5" name="Google Shape;475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Malgun Gothic"/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fld>
            <a:endParaRPr sz="18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4" name="Google Shape;484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5" name="Google Shape;485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8" name="Google Shape;508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5" name="Google Shape;515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16" name="Google Shape;516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7" name="Google Shape;547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48" name="Google Shape;548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7" name="Google Shape;577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8" name="Google Shape;578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28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29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30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31:notes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403965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2"/>
          </p:nvPr>
        </p:nvSpPr>
        <p:spPr>
          <a:xfrm>
            <a:off x="4649411" y="1600201"/>
            <a:ext cx="403965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2"/>
          </p:nvPr>
        </p:nvSpPr>
        <p:spPr>
          <a:xfrm>
            <a:off x="457319" y="2174875"/>
            <a:ext cx="404124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3"/>
          </p:nvPr>
        </p:nvSpPr>
        <p:spPr>
          <a:xfrm>
            <a:off x="4646235" y="1535113"/>
            <a:ext cx="404282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4"/>
          </p:nvPr>
        </p:nvSpPr>
        <p:spPr>
          <a:xfrm>
            <a:off x="4646235" y="2174875"/>
            <a:ext cx="404282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575981" y="273051"/>
            <a:ext cx="5113082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2"/>
          </p:nvPr>
        </p:nvSpPr>
        <p:spPr>
          <a:xfrm>
            <a:off x="457319" y="1435101"/>
            <a:ext cx="3009097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pic" idx="2"/>
          </p:nvPr>
        </p:nvSpPr>
        <p:spPr>
          <a:xfrm>
            <a:off x="1792755" y="612775"/>
            <a:ext cx="5487829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1792755" y="5367338"/>
            <a:ext cx="5487829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 rot="5400000">
            <a:off x="2310210" y="-252690"/>
            <a:ext cx="4525963" cy="823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 rot="5400000">
            <a:off x="4734333" y="2171434"/>
            <a:ext cx="5851525" cy="2057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 rot="5400000">
            <a:off x="542240" y="189717"/>
            <a:ext cx="5851525" cy="6021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3"/>
          <p:cNvSpPr txBox="1"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3"/>
          <p:cNvSpPr txBox="1"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"/>
          <p:cNvSpPr txBox="1">
            <a:spLocks noGrp="1"/>
          </p:cNvSpPr>
          <p:nvPr>
            <p:ph type="dt" idx="10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ftr" idx="11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ldNum" idx="12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 descr="preencoded.png"/>
          <p:cNvPicPr preferRelativeResize="0"/>
          <p:nvPr/>
        </p:nvPicPr>
        <p:blipFill rotWithShape="1">
          <a:blip r:embed="rId3">
            <a:alphaModFix amt="22000"/>
          </a:blip>
          <a:srcRect/>
          <a:stretch/>
        </p:blipFill>
        <p:spPr>
          <a:xfrm>
            <a:off x="6609805" y="1166948"/>
            <a:ext cx="4846320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2500"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En la era del vibe coding con IA,</a:t>
            </a:r>
            <a:endParaRPr sz="4000" i="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AI를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활용한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바이브코딩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시대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,</a:t>
            </a:r>
            <a:endParaRPr sz="130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el</a:t>
            </a: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rol</a:t>
            </a: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del </a:t>
            </a: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docente</a:t>
            </a: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y </a:t>
            </a: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el</a:t>
            </a: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diseño</a:t>
            </a:r>
            <a:r>
              <a:rPr lang="en-US" sz="4000" i="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de la </a:t>
            </a:r>
            <a:r>
              <a:rPr lang="en-US" sz="4000" i="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enseñanza</a:t>
            </a:r>
            <a:endParaRPr sz="4000" i="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교사의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역할과</a:t>
            </a:r>
            <a:r>
              <a:rPr lang="en-US" sz="1300" u="none" strike="noStrike" cap="none" dirty="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1300" u="none" strike="noStrike" cap="none" dirty="0" err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교수학습설계</a:t>
            </a:r>
            <a:endParaRPr sz="260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89" name="Google Shape;89;p15"/>
          <p:cNvSpPr/>
          <p:nvPr/>
        </p:nvSpPr>
        <p:spPr>
          <a:xfrm>
            <a:off x="640079" y="4343400"/>
            <a:ext cx="108160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25000" lnSpcReduction="20000"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Los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estudiantes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atacan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con IA la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plataforma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creada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por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el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profesor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,</a:t>
            </a:r>
            <a:endParaRPr sz="9600" i="0" u="none" strike="noStrike" cap="none" dirty="0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학생들은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만든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수업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플랫폼을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AI로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공략하고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endParaRPr sz="4800" u="none" strike="noStrike" cap="none" dirty="0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y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el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profesor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se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defiende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: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el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caso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de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una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clase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sobre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una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batalla</a:t>
            </a:r>
            <a:r>
              <a:rPr lang="en-US" sz="9600" i="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9600" i="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cibernética</a:t>
            </a:r>
            <a:endParaRPr sz="9600" i="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500"/>
              <a:buFont typeface="Arial"/>
              <a:buNone/>
            </a:pP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선생님은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그런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학생들을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방어하는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사이버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공방전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수업</a:t>
            </a:r>
            <a:r>
              <a:rPr lang="en-US" sz="4800" u="none" strike="noStrike" cap="none" dirty="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 </a:t>
            </a:r>
            <a:r>
              <a:rPr lang="en-US" sz="4800" u="none" strike="noStrike" cap="none" dirty="0" err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사례</a:t>
            </a:r>
            <a:endParaRPr sz="4800" u="none" strike="noStrike" cap="none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6" name="Google Shape;96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Diseño de la clase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187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Diseño de la clase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La clase que planeé al principio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초기에 기획했던 수업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932687" y="2383966"/>
            <a:ext cx="798489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Que los estudiantes crearan programas de automatización usando vibe coding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바이브 코딩을 이용해서 학생들이 자동화 프로그램 만들도록 하는 것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7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Algo como una práctica con pyautogui o selenium en Python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파이썬의 pyautogui 나 selenium 실습정도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932687" y="3700702"/>
            <a:ext cx="782813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Le pedí a la IA: “Voy a dar esta clase, hazme un sitio adecuado”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AI에게 “ ~ 이런 수업을 할 꺼니까 적당한 사이트 만들어줘”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Diseño de la clase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Booking 1000 Seats Competition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" name="Google Shape;119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2157801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8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Al hacer clic en un asiento vacío aparece un cuadro para el nombre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빈 좌석을 클릭하면 이름 입력창이 뜬다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2" name="Google Shape;122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2779593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8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Al escribir el nombre, ese asiento queda reservado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이름을 입력하면 그 자리가  예매된다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5" name="Google Shape;125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3401385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8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Una tabla de clasificación en vivo muestra quién reservó más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누가 가장 많이 예매했는지 리더보드로 실시간 경쟁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" name="Google Shape;128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4023177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8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“IA, hazlo tú” — creado con un clic de vibe coding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 만들어줘,  바이브코딩 딸깍으로 제작</a:t>
            </a:r>
            <a:endParaRPr sz="14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8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Arial"/>
                <a:ea typeface="Arial"/>
                <a:cs typeface="Arial"/>
                <a:sym typeface="Arial"/>
              </a:rPr>
              <a:t>BOOKING 1000 SEATS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8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8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8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8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8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8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8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8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8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8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1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 cap="flat" cmpd="sng">
            <a:solidFill>
              <a:srgbClr val="F9CA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 cap="flat" cmpd="sng">
            <a:solidFill>
              <a:srgbClr val="FF47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 cap="flat" cmpd="sng">
            <a:solidFill>
              <a:srgbClr val="FF9F4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8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 cap="flat" cmpd="sng">
            <a:solidFill>
              <a:srgbClr val="48DBF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 cap="flat" cmpd="sng">
            <a:solidFill>
              <a:srgbClr val="54A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8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 cap="flat" cmpd="sng">
            <a:solidFill>
              <a:srgbClr val="A55E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8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8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8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8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 cap="flat" cmpd="sng">
            <a:solidFill>
              <a:srgbClr val="FD79A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8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 cap="flat" cmpd="sng">
            <a:solidFill>
              <a:srgbClr val="26DE8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 cap="flat" cmpd="sng">
            <a:solidFill>
              <a:srgbClr val="00CC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8"/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4" name="Google Shape;224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4761" y="4646275"/>
            <a:ext cx="311262" cy="31126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8"/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50"/>
              <a:buFont typeface="Arial"/>
              <a:buNone/>
            </a:pPr>
            <a:r>
              <a:rPr lang="en-US" sz="1450" b="1" u="sng">
                <a:solidFill>
                  <a:schemeClr val="hlink"/>
                </a:solidFill>
                <a:latin typeface="Jua"/>
                <a:ea typeface="Jua"/>
                <a:cs typeface="Jua"/>
                <a:sym typeface="Jua"/>
                <a:hlinkClick r:id="rId4"/>
              </a:rPr>
              <a:t>https://macro-classroom.shk-8b6.workers.dev/</a:t>
            </a:r>
            <a:endParaRPr sz="1450" b="1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Diseño de la clase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b="1" i="1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수업 설계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Desarrollo de la clase: Booking 1000 Seats Competition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b="1" i="1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Booking 1000 Seats Competition 수업 진행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Se les muestra a los estudiantes el programa de automatización en Python preparado de antemano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미리 준비해 놓은 파이썬 자동화 프로그램을 학생들에게 공개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“Ahora ustedes le enseñan esto a la IA y crean, por su cuenta, un programa más rápido~”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자 이제 너희들이 이걸 AI에게 학습시켜서 알아서 빠른 자동화 프로그램을 만들어보거라~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“Más tarde competimos a ver quién reserva más rápido~”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이따가 누가 더 예매 빠르게 많이 하는지 시합해보자~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Escenas del comienzo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초반 풍경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Al principio todo salió como estaba planeado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초반에는 의도대로 흘러감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0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5" name="Google Shape;245;p2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9274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0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Tiempo de espera demasiado corto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너무 짧은 대기시간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Fallaban la reserva sin tiempo ni para escribir el nombre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이름을 입력할 시간도 없이 예매 실패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0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0" name="Google Shape;250;p2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08372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0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Clics en el lugar equivocado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엉뚱한 곳 클릭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Seguían fallando al pulsar fuera de los asientos vacíos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빈 좌석이 아닌 곳을 눌러 계속 실패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3" name="Google Shape;253;p2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5" name="Google Shape;255;p2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67471" y="2603754"/>
            <a:ext cx="507492" cy="507492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0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100 navegadores abiertos a la vez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브라우저 100개 동시 실행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Abrirlos era automático; cerrarlos, manual todo el día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4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여는 건 자동, 닫는 건 하루 종일 수동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58" name="Google Shape;258;p20"/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Al principio hubo muchos errores típicos de estudiantes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US" sz="99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초반에는 학생들이 할만한 실수들이 많이 나왔음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Comienza la batalla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공방전 시작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Poco a poco, los estudiantes buscan otros métodos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슬슬 다른 방법을 찾는 학생들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1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8" name="Google Shape;268;p2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1428" y="2508748"/>
            <a:ext cx="487192" cy="48719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En cierto momento, aun pulsando STOP, las reservas seguían empezando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어느 순간부터 STOP을 눌렀는데 예매가 시작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Habíamos bloqueado la reserva, pero apareció un estudiante que la burló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분명 예매를 잠가놨는데, 그걸 뚫고 예매를 계속하는 학생 등장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75795" y="2508748"/>
            <a:ext cx="487192" cy="487192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1"/>
          <p:cNvSpPr/>
          <p:nvPr/>
        </p:nvSpPr>
        <p:spPr>
          <a:xfrm>
            <a:off x="7513168" y="2573073"/>
            <a:ext cx="37641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Sobrescriben el asiento de otro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남의 좌석을 덮어쓴다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5" name="Google Shape;275;p21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12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Reemplazan con su nombre un asiento ya reservado por otro estudiante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5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이미 다른 학생이 예매한 자리를 자신의 이름으로 덮어써 버림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Profe: “¿Qué es esto? ¿Cómo lo hicieron?”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정보쌤 : “ 야 이거 뭐냐, 이거 어떻게 했냐? 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8" name="Google Shape;278;p21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Estudiantes: “¡Hackeamos el sitio del profe~!”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학생들 : “ 선생님 사이트 해킹했다~ ”</a:t>
            </a:r>
            <a:endParaRPr sz="2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79" name="Google Shape;279;p21"/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→ Los estudiantes empiezan a analizar con IA las vulnerabilidades del sitio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-&gt; 학생들이 AI로  사이트의 취약점을 분석하기 시작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2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6" name="Google Shape;286;p2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2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Comienza la batalla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187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공방전 시작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3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1 · Causa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1라운드 · 원인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Causa: el sitio se hizo con un clic de IA, sin revisión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원인 : 사이트 제작을 AI 딸깍으로 만들고 검토 X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7" name="Google Shape;297;p2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69110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3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Herramientas de desarrollador (F12)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F12 개발자 도구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Las solicitudes quedaban expuestas en la pestaña Red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네트워크 탭에 요청이 그대로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00" name="Google Shape;300;p23"/>
          <p:cNvCxnSpPr/>
          <p:nvPr/>
        </p:nvCxnSpPr>
        <p:spPr>
          <a:xfrm>
            <a:off x="3026664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1" name="Google Shape;301;p23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3" name="Google Shape;303;p2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9049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3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Clave de API y URL de la base de datos expuestas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API 키·DB URL 노출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La configuración de Firebase estaba tal cual en el código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Firebase 설정이 코드에 그대로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06" name="Google Shape;306;p23"/>
          <p:cNvCxnSpPr/>
          <p:nvPr/>
        </p:nvCxnSpPr>
        <p:spPr>
          <a:xfrm>
            <a:off x="5886602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07" name="Google Shape;307;p23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2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9" name="Google Shape;309;p2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88987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3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Reglas totalmente abiertas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Rules 전면 개방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Cualquiera podía leer y escribir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누구나 읽고 쓸 수 있는 상태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12" name="Google Shape;312;p23"/>
          <p:cNvCxnSpPr/>
          <p:nvPr/>
        </p:nvCxnSpPr>
        <p:spPr>
          <a:xfrm>
            <a:off x="8746541" y="3429000"/>
            <a:ext cx="418490" cy="9144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13" name="Google Shape;313;p23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23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 cap="flat" cmpd="sng">
            <a:solidFill>
              <a:srgbClr val="3A0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15" name="Google Shape;315;p2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48926" y="2780690"/>
            <a:ext cx="473659" cy="473659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3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Acceso directo a la base de datos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DB 직접 접근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7" name="Google Shape;317;p23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Los estudiantes escribían directamente en Firebase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학생이 Firebase에 곧장 기록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640080" y="5120640"/>
            <a:ext cx="11003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Sabía que la clave y las reglas estaban abiertas, pero no pensé que unos estudiantes de secundaria pudieran aprovecharlo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키값과  rules가 열려있다는 걸 알았지만, 학생들이 중학생이라서 이걸 이용할  수 있을 거라고 생각하지 못함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19" name="Google Shape;319;p23"/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La API Key de Firebase y la URL de la base de datos quedaron totalmente expuestas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Firebase API Key, 데이터베이스 URL 이 그대로 노출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0" name="Google Shape;320;p23"/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Ellos también usaban IA como yo — subestimé demasiado a los estudiantes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상대는 나와 마찬가지로 AI를 돌리고 있는데  학생들을 너무 과소평가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4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1 · Defensa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1라운드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7" name="Google Shape;327;p24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1ª defensa: instalar dos puertas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1차 방어 - 문을 두 개 달다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28" name="Google Shape;328;p24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4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0" name="Google Shape;330;p2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560" y="2515880"/>
            <a:ext cx="527792" cy="527792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Reforzar las reglas de Firebase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907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Firebase Rules 강화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2" name="Google Shape;332;p24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4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Prompt para la IA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4" name="Google Shape;334;p24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Modifica las reglas para permitir escritura solo a cuentas autenticadas.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Rules 수정해서 인증된 계정만 쓰기 허용하세요.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24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7" name="Google Shape;337;p2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82928" y="2515880"/>
            <a:ext cx="527792" cy="527792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4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165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Servidor intermediario con Cloudflare Worker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50"/>
              <a:buFont typeface="Arial"/>
              <a:buNone/>
            </a:pPr>
            <a:r>
              <a:rPr lang="en-US" sz="907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Cloudflare Worker 중계서버</a:t>
            </a:r>
            <a:endParaRPr sz="16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Prompt para la IA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1" name="Google Shape;341;p24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Verifica si está en START y si hay reservas duplicadas antes de pedir nada a la base de datos.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4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START 여부·중복 예매 여부를 점검한 뒤 DB에 요청하세요.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2" name="Google Shape;342;p24"/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IA, defiéndeme de los estudiantes que reservan aunque pulsé STOP.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AI야, STOP 눌렀는데도 마음대로 바꾸는 학생들을 방어해줘.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43" name="Google Shape;343;p24"/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IA, defiéndeme de los estudiantes que sobrescriben asientos ya reservados por otros.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AI야, 다른 학생이 예매한 자리를 마음대로 덮어쓰는 학생을 방어해줘.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5"/>
          <p:cNvSpPr/>
          <p:nvPr/>
        </p:nvSpPr>
        <p:spPr>
          <a:xfrm>
            <a:off x="640080" y="1087311"/>
            <a:ext cx="10058400" cy="666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“Chicos, intenten de nuevo. Ya lo bloqueé todo.” (con orgullo)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애들아, 다시 해보렴. 내가 다 막아놨다. ”(의기양양)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47065" y="2566392"/>
            <a:ext cx="971628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Vuelven a burlarlo: los estudiantes siguen reservando y sobrescribiendo…</a:t>
            </a:r>
            <a:endParaRPr sz="2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800"/>
              <a:buFont typeface="Arial"/>
              <a:buNone/>
            </a:pPr>
            <a:r>
              <a:rPr lang="en-US" sz="1540" i="1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또 뚫림, 학생들은 여전히 마음대로 예매하고 예매 덮어쓰기중…</a:t>
            </a:r>
            <a:endParaRPr sz="2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1" name="Google Shape;351;p25"/>
          <p:cNvSpPr/>
          <p:nvPr/>
        </p:nvSpPr>
        <p:spPr>
          <a:xfrm>
            <a:off x="747065" y="4156508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El orgullo duró poco: la defensa que dio la IA tenía huecos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의기양양했던 것도 잠시 – AI가 준 방어방법에는  허점이 존재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6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2 · Causa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2라운드 · 원인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En realidad, la solución que me dio la IA antes tenía fallos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사실 아까 AI에게 받은 해결책에는 허점이 존재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59" name="Google Shape;359;p26"/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Solución 1 de la IA: modifica las reglas de Firebase para permitir escritura solo a cuentas autenticadas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전에 AI가 제시했던 해결책1 : Firebase rules 수정해서 인증된 계정만 쓰기 허용하세요 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0" name="Google Shape;360;p26"/>
          <p:cNvSpPr/>
          <p:nvPr/>
        </p:nvSpPr>
        <p:spPr>
          <a:xfrm>
            <a:off x="640080" y="2567631"/>
            <a:ext cx="10881360" cy="601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Truco del estudiante: crear una cuenta nueva en Firebase y usarla — el registro nuevo aún no estaba bloqueado</a:t>
            </a: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학생이 찾은 파훼법  Firebase 새로운 계정 만들고 그 계정으로 요청하면 통과가능 아직 신규 가입이 차단되지 않음</a:t>
            </a: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b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</a:b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640080" y="36831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Solución 2 de la IA: pon un servidor intermediario con Cloudflare Worker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전에 AI가 제시했던 해결책2 : cloudfare worker 중계서버를 두세요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640080" y="4792441"/>
            <a:ext cx="10881360" cy="601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Truco del estudiante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학생이 찾은 파훼법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¿Eh? Solo agregaron la ruta del Worker sin bloquear la ruta anterior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어!? 기존 경로를 막지 않고 그냥 worker 중계서버 경로만 추가했네?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Entonces basta con no pasar por el Worker para colarse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07825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107825"/>
                </a:solidFill>
                <a:latin typeface="Jua"/>
                <a:ea typeface="Jua"/>
                <a:cs typeface="Jua"/>
                <a:sym typeface="Jua"/>
              </a:rPr>
              <a:t>그럼 그냥 worker 서버 안거치면 통과가능</a:t>
            </a: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sz="2000">
              <a:solidFill>
                <a:srgbClr val="107825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2 · Defensa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2라운드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69" name="Google Shape;369;p27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2ª defensa: reducir todo a una sola ruta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2차 방어 — 경로를 하나로 좁히다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0" name="Google Shape;370;p27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27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950"/>
              <a:buFont typeface="Arial"/>
              <a:buNone/>
            </a:pPr>
            <a:r>
              <a:rPr lang="en-US" sz="95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Prompt para la IA</a:t>
            </a:r>
            <a:endParaRPr sz="9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95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 프롬프트</a:t>
            </a:r>
            <a:endParaRPr sz="9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2" name="Google Shape;372;p27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IA: bloquea por completo el registro nuevo en Firebase y permite acceder a la base de datos solo a través del Worker.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800"/>
              <a:buFont typeface="Arial"/>
              <a:buNone/>
            </a:pPr>
            <a:r>
              <a:rPr lang="en-US" sz="99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AI : Firebase 신규 가입을 완전 차단하고, DB 접근 경로를 Worker 하나로만 가능하게 하세요.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73" name="Google Shape;373;p27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 cap="flat" cmpd="sng">
            <a:solidFill>
              <a:srgbClr val="FF3B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7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Registro nuevo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신규 회원가입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75" name="Google Shape;375;p27"/>
          <p:cNvCxnSpPr/>
          <p:nvPr/>
        </p:nvCxnSpPr>
        <p:spPr>
          <a:xfrm>
            <a:off x="4892040" y="4233672"/>
            <a:ext cx="594360" cy="182880"/>
          </a:xfrm>
          <a:prstGeom prst="straightConnector1">
            <a:avLst/>
          </a:prstGeom>
          <a:noFill/>
          <a:ln w="15875" cap="flat" cmpd="sng">
            <a:solidFill>
              <a:srgbClr val="FF3B5C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76" name="Google Shape;376;p27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 cap="flat" cmpd="sng">
            <a:solidFill>
              <a:srgbClr val="FF3B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27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Cuentas existentes sin admin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8FA3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FF8FA3"/>
                </a:solidFill>
                <a:latin typeface="Jua"/>
                <a:ea typeface="Jua"/>
                <a:cs typeface="Jua"/>
                <a:sym typeface="Jua"/>
              </a:rPr>
              <a:t>✕  기존 비-admin 계정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78" name="Google Shape;378;p27"/>
          <p:cNvCxnSpPr/>
          <p:nvPr/>
        </p:nvCxnSpPr>
        <p:spPr>
          <a:xfrm rot="10800000" flipH="1">
            <a:off x="4892040" y="4416552"/>
            <a:ext cx="594360" cy="502920"/>
          </a:xfrm>
          <a:prstGeom prst="straightConnector1">
            <a:avLst/>
          </a:prstGeom>
          <a:noFill/>
          <a:ln w="15875" cap="flat" cmpd="sng">
            <a:solidFill>
              <a:srgbClr val="FF3B5C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79" name="Google Shape;379;p27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 cap="flat" cmpd="sng">
            <a:solidFill>
              <a:srgbClr val="00FF4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27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✓  Worker (secreto de admin)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1300"/>
              <a:buFont typeface="Arial"/>
              <a:buNone/>
            </a:pPr>
            <a:r>
              <a:rPr lang="en-US" sz="9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✓  Worker (admin 시크릿)</a:t>
            </a:r>
            <a:endParaRPr sz="13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381" name="Google Shape;381;p27"/>
          <p:cNvCxnSpPr/>
          <p:nvPr/>
        </p:nvCxnSpPr>
        <p:spPr>
          <a:xfrm rot="10800000" flipH="1">
            <a:off x="4892040" y="4160520"/>
            <a:ext cx="2971800" cy="1444752"/>
          </a:xfrm>
          <a:prstGeom prst="straightConnector1">
            <a:avLst/>
          </a:prstGeom>
          <a:noFill/>
          <a:ln w="22225" cap="flat" cmpd="sng">
            <a:solidFill>
              <a:srgbClr val="00FF4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82" name="Google Shape;382;p27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4" name="Google Shape;384;p2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55203" y="395752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7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400"/>
              <a:buFont typeface="Arial"/>
              <a:buNone/>
            </a:pPr>
            <a:r>
              <a:rPr lang="en-US" sz="14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Firebase DB</a:t>
            </a:r>
            <a:endParaRPr sz="1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86" name="Google Shape;386;p27"/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Profe: hice justo lo que me dijiste antes y de todos modos lo burlan, dame otra solución.</a:t>
            </a:r>
            <a:endParaRPr sz="1800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en-US" sz="990" i="1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정보쌤 : 야 이거 아까 너가 하란대로 하라고 해서 했는데 다 뚫린다, 해결책 다시 알려줘.</a:t>
            </a:r>
            <a:endParaRPr sz="1800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8"/>
          <p:cNvSpPr/>
          <p:nvPr/>
        </p:nvSpPr>
        <p:spPr>
          <a:xfrm>
            <a:off x="640080" y="1097282"/>
            <a:ext cx="10058400" cy="849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“Intenten de nuevo, ahora sí que no podrán burlarlo.”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“ 야 다시 해봐, 이제 너네 절대 못뚫어. 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24605" y="2081808"/>
            <a:ext cx="8722093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3000"/>
              <a:buFont typeface="Arial"/>
              <a:buNone/>
            </a:pPr>
            <a:r>
              <a:rPr lang="en-US" sz="3000" i="0" u="none" strike="noStrike" cap="none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“Vale, lo burlaremos.”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“네, 뚫을게요.”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24605" y="314425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Se logró defender con éxito la sobrescritura de reservas y el control indebido de START/STOP</a:t>
            </a:r>
            <a:endParaRPr sz="18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99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예매 덮어쓰기와 START/STOP 를 마음대로  제어는 성공적으로 방어에 성공</a:t>
            </a:r>
            <a:endParaRPr sz="18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24605" y="365805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El profe pensó que había ganado, pero surgió otro problema…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99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정보쌤 승리인 줄 알았으나 다른 문제 발생…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3 · Ataque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공략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2" name="Google Shape;402;p2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Ronda 3. La velocidad de reserva de los estudiantes es increíble…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3라운드. 학생들의 예매 속도가 너무나도 빠르다…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3" name="Google Shape;403;p2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Estudiante: ¿Eh? De verdad bloquearon todos los métodos anteriores. Pues uso otro método.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 : 어!? 진짜로 이전 방법들은 다 막혔네? 그럼 다른 방법 쓰면 돼.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            Basta con enviar mil solicitudes de reserva a la vez.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             한번에 예매 요청 천개 동시에 해버리면 그만이야.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A432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4A432"/>
                </a:solidFill>
                <a:latin typeface="Jua"/>
                <a:ea typeface="Jua"/>
                <a:cs typeface="Jua"/>
                <a:sym typeface="Jua"/>
              </a:rPr>
              <a:t>→ Al pulsar Start, uno solo reserva mil asientos al instante…</a:t>
            </a:r>
            <a:endParaRPr sz="2400">
              <a:solidFill>
                <a:srgbClr val="14A432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4A432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14A432"/>
                </a:solidFill>
                <a:latin typeface="Jua"/>
                <a:ea typeface="Jua"/>
                <a:cs typeface="Jua"/>
                <a:sym typeface="Jua"/>
              </a:rPr>
              <a:t>-&gt; Start  누르자마자 한명이 1천개 동시에 순식간에 예매… </a:t>
            </a:r>
            <a:endParaRPr sz="2400">
              <a:solidFill>
                <a:srgbClr val="14A432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800"/>
              <a:buFont typeface="Arial"/>
              <a:buNone/>
            </a:pPr>
            <a:r>
              <a:rPr lang="en-US" sz="28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Profe: “¿Cómo reservas tantos a la vez?” (sin idea real)</a:t>
            </a:r>
            <a:endParaRPr sz="2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800"/>
              <a:buFont typeface="Arial"/>
              <a:buNone/>
            </a:pPr>
            <a:r>
              <a:rPr lang="en-US" sz="154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너 이거 어떻게  한번에  동시에 예매하냐?”(진짜 방법 모름)</a:t>
            </a:r>
            <a:endParaRPr sz="2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3" name="Google Shape;413;p30"/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Estudiante: “Usé multihilos”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멀티쓰레드 썼는데요”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4" name="Google Shape;414;p30"/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Profe: “¿Sabes hacer eso?”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너 그런 것도 할 줄 아니?”</a:t>
            </a:r>
            <a:endParaRPr sz="3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15" name="Google Shape;415;p30"/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Estudiante: “Me lo enseña la IA”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AI가 알려주는데요”</a:t>
            </a:r>
            <a:endParaRPr sz="3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 i="0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3 · Ataque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 u="none" strike="noStrike" cap="none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공략</a:t>
            </a:r>
            <a:endParaRPr sz="1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2" name="Google Shape;422;p3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 i="0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Método de los estudiantes: llamar a /claim en el Worker lo más rápido posible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학생들의 공략법 : cloudfare worker에서 /claim을 최대한 빠르게 호출 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3" name="Google Shape;423;p31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1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5" name="Google Shape;425;p3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53805" y="2848555"/>
            <a:ext cx="514259" cy="514259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1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3200"/>
              <a:buFont typeface="Arial"/>
              <a:buNone/>
            </a:pPr>
            <a:r>
              <a:rPr lang="en-US" sz="32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Solicitudes simultáneas a /claim con multihilos en Python</a:t>
            </a:r>
            <a:endParaRPr sz="3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3200"/>
              <a:buFont typeface="Arial"/>
              <a:buNone/>
            </a:pPr>
            <a:r>
              <a:rPr lang="en-US" sz="176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Python 멀티스레드로 /claim 동시다발 요청</a:t>
            </a:r>
            <a:endParaRPr sz="32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27" name="Google Shape;427;p31"/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1"/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 i="0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Aunque haya mil o cinco mil asientos, se reservan al instante igual… no sirve de nada aumentarlos…</a:t>
            </a:r>
            <a:endParaRPr sz="1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990" i="1" u="none" strike="noStrike" cap="none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좌석을 1천개 5천개 늘려도 순식간에 예매되는건 동일… 좌석수를 늘려도 의미가 없다…</a:t>
            </a:r>
            <a:endParaRPr sz="18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2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Estudiante A: “Esto no es nada. Voy primero.”</a:t>
            </a:r>
            <a:endParaRPr sz="3000" i="0" u="none" strike="noStrike" cap="none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학생 A : “야 이거 별거 없네. 내가 일등임”</a:t>
            </a:r>
            <a:endParaRPr sz="3000" i="0" u="none" strike="noStrike" cap="none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5" name="Google Shape;435;p32"/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3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Profe: “Sí, parece que vas a ganar tú.”</a:t>
            </a:r>
            <a:endParaRPr sz="3000" i="0" u="none" strike="noStrike" cap="none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그러네 너가 일등하겠다”</a:t>
            </a:r>
            <a:endParaRPr sz="3000" i="0" u="none" strike="noStrike" cap="none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6" name="Google Shape;436;p32"/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Estudiante B: “Profe, yo soy más rápido.”</a:t>
            </a:r>
            <a:endParaRPr sz="3000" i="0" u="none" strike="noStrike" cap="none">
              <a:solidFill>
                <a:schemeClr val="accent2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학생B : “ 선생님, 제가 더 빠릅니다.”</a:t>
            </a:r>
            <a:endParaRPr sz="3000" i="0" u="none" strike="noStrike" cap="none">
              <a:solidFill>
                <a:schemeClr val="accent2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37" name="Google Shape;437;p32"/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Aparece un estudiante más rápido que el multihilo en Python</a:t>
            </a:r>
            <a:endParaRPr sz="3000" i="0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파이썬 멀티쓰레드보다 더 빠른 학생 등장</a:t>
            </a:r>
            <a:endParaRPr sz="3000" i="0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3"/>
          <p:cNvSpPr/>
          <p:nvPr/>
        </p:nvSpPr>
        <p:spPr>
          <a:xfrm>
            <a:off x="561702" y="247898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Profe: “Vaya, de verdad eres más rápido. ¿Cómo lo hiciste?” (sin idea real)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 : “와 진짜 너가 더 빠르네 어떻게 했냐?”(진짜 모름)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4" name="Google Shape;444;p33"/>
          <p:cNvSpPr/>
          <p:nvPr/>
        </p:nvSpPr>
        <p:spPr>
          <a:xfrm>
            <a:off x="561702" y="1142521"/>
            <a:ext cx="11277295" cy="1852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Estudiante B: “Los que usan Python tienen un retraso inicial mientras arranca el programa y Selenium. Pero si envías la solicitud directo en JavaScript desde la consola del navegador, no hay ese retraso, así que es más rápido.”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 B : “파이썬 쓰는 친구들은 처음에 예매 시작할 때 프로그램 켜지고 셀레니움 켜질 때까지 선딜레이가 있습니다. 하지만 브라우저 콘솔에서 막바로 자바스크립트로 요청하면 선딜레이가 없어서 이 방법이 더 빠릅니다.”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5" name="Google Shape;445;p33"/>
          <p:cNvSpPr/>
          <p:nvPr/>
        </p:nvSpPr>
        <p:spPr>
          <a:xfrm>
            <a:off x="561701" y="2948926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Profe: “¿Y cómo supiste eso?” (sin idea real)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 : “와 그걸 어떻게 알았냐?”(진짜 모름)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6" name="Google Shape;446;p33"/>
          <p:cNvSpPr/>
          <p:nvPr/>
        </p:nvSpPr>
        <p:spPr>
          <a:xfrm>
            <a:off x="561702" y="3863414"/>
            <a:ext cx="11277295" cy="498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Estudiante B: “¿Eso? Me lo dice la IA.”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chemeClr val="accent2"/>
                </a:solidFill>
                <a:latin typeface="Jua"/>
                <a:ea typeface="Jua"/>
                <a:cs typeface="Jua"/>
                <a:sym typeface="Jua"/>
              </a:rPr>
              <a:t>학생B : “아 그거요? AI가 알려줍니다.”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47" name="Google Shape;447;p33"/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¡Experimentaron de forma indirecta la importancia del “cold start” en ingeniería de rendimiento!</a:t>
            </a:r>
            <a:endParaRPr sz="2400" i="1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성능 엔지니어링 콜드 스타트  중요성을 간접적으로 체험!</a:t>
            </a:r>
            <a:endParaRPr sz="2400" i="1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34"/>
          <p:cNvSpPr/>
          <p:nvPr/>
        </p:nvSpPr>
        <p:spPr>
          <a:xfrm>
            <a:off x="435429" y="798128"/>
            <a:ext cx="1127760" cy="606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Profe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정보쌤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4" name="Google Shape;454;p34"/>
          <p:cNvSpPr/>
          <p:nvPr/>
        </p:nvSpPr>
        <p:spPr>
          <a:xfrm>
            <a:off x="435428" y="2506791"/>
            <a:ext cx="10749815" cy="62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En cuanto se pulsa START reservan mil o cinco mil de golpe, así no se puede competir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이거 뭐 START 누르자 마자 천개 오천개 한번에 예매해버리니까 시합을 할 수 가 없네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5" name="Google Shape;455;p34"/>
          <p:cNvSpPr/>
          <p:nvPr/>
        </p:nvSpPr>
        <p:spPr>
          <a:xfrm>
            <a:off x="435427" y="3132461"/>
            <a:ext cx="10749815" cy="606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IA, la situación es esta, dime cómo defenderme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AI야, 현재 상황이 이러한데 방어방법 좀 알려줘 </a:t>
            </a:r>
            <a:endParaRPr sz="24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6" name="Google Shape;456;p34"/>
          <p:cNvSpPr/>
          <p:nvPr/>
        </p:nvSpPr>
        <p:spPr>
          <a:xfrm>
            <a:off x="435427" y="4106217"/>
            <a:ext cx="1127760" cy="474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IA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7" name="Google Shape;457;p34"/>
          <p:cNvSpPr/>
          <p:nvPr/>
        </p:nvSpPr>
        <p:spPr>
          <a:xfrm>
            <a:off x="435429" y="1542596"/>
            <a:ext cx="10749815" cy="83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240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Ah, los de primer año reservan uno por uno normalmente, pero los de tercero usan técnicas raras para atacar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2400"/>
              <a:buFont typeface="Arial"/>
              <a:buNone/>
            </a:pPr>
            <a:r>
              <a:rPr lang="en-US" sz="1320" i="1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아 이게 우리 1학년 친구들은 정석대로 하나하나 예매하는데 3학년 친구들이 자꾸 이상한 기술 써서 공략하네</a:t>
            </a:r>
            <a:endParaRPr sz="2400" i="0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58" name="Google Shape;458;p34"/>
          <p:cNvSpPr/>
          <p:nvPr/>
        </p:nvSpPr>
        <p:spPr>
          <a:xfrm>
            <a:off x="435429" y="4621732"/>
            <a:ext cx="10749815" cy="693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24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¡Limita con Cloudflare KV la cantidad de solicitudes por segundo por IP!</a:t>
            </a:r>
            <a:endParaRPr sz="24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en-US" sz="132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CloudFare KV 로 IP당 초당 요청횟수를 제한하세요!</a:t>
            </a:r>
            <a:endParaRPr sz="24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35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Ronda 3 · Defensa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3라운드 · 방어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65" name="Google Shape;465;p35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3ª defensa: limitar la velocidad misma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3차 방어 — 속도 자체를 제한하다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66" name="Google Shape;466;p35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35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8" name="Google Shape;468;p3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3477" y="2857957"/>
            <a:ext cx="913486" cy="91348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5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3600"/>
              <a:buFont typeface="Arial"/>
              <a:buNone/>
            </a:pPr>
            <a:r>
              <a:rPr lang="en-US" sz="3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Cloudflare KV Rate Limit</a:t>
            </a:r>
            <a:endParaRPr sz="3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0" name="Google Shape;470;p35"/>
          <p:cNvSpPr/>
          <p:nvPr/>
        </p:nvSpPr>
        <p:spPr>
          <a:xfrm>
            <a:off x="2743200" y="3360420"/>
            <a:ext cx="8305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200"/>
              <a:buFont typeface="Arial"/>
              <a:buNone/>
            </a:pPr>
            <a:r>
              <a:rPr lang="en-US" sz="3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Se limita a 100 solicitudes por segundo por IP</a:t>
            </a:r>
            <a:endParaRPr sz="3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3200"/>
              <a:buFont typeface="Arial"/>
              <a:buNone/>
            </a:pPr>
            <a:r>
              <a:rPr lang="en-US" sz="176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한 IP의 초당 요청 횟수를 100회로 제한</a:t>
            </a:r>
            <a:endParaRPr sz="3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1" name="Google Shape;471;p35"/>
          <p:cNvSpPr/>
          <p:nvPr/>
        </p:nvSpPr>
        <p:spPr>
          <a:xfrm>
            <a:off x="720939" y="4943834"/>
            <a:ext cx="10749815" cy="932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3000"/>
              <a:buFont typeface="Arial"/>
              <a:buNone/>
            </a:pPr>
            <a:r>
              <a:rPr lang="en-US" sz="300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Por fin podremos competir en serio…</a:t>
            </a:r>
            <a:endParaRPr sz="30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98F73"/>
              </a:buClr>
              <a:buSzPts val="3000"/>
              <a:buFont typeface="Arial"/>
              <a:buNone/>
            </a:pPr>
            <a:r>
              <a:rPr lang="en-US" sz="1650" i="1" u="none" strike="noStrike" cap="none">
                <a:solidFill>
                  <a:srgbClr val="698F73"/>
                </a:solidFill>
                <a:latin typeface="Jua"/>
                <a:ea typeface="Jua"/>
                <a:cs typeface="Jua"/>
                <a:sym typeface="Jua"/>
              </a:rPr>
              <a:t>이제야 시합을 제대로 해볼 수 있겠네…</a:t>
            </a:r>
            <a:endParaRPr sz="3000" i="1" u="none" strike="noStrike" cap="none">
              <a:solidFill>
                <a:srgbClr val="698F73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6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Profe: “Reserven de nuevo. Ahora ya no podrán reservar mil de golpe, ¿verdad?”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야 너네 다시 예매해봐라. 이제 한번에 천개씩 여러 개 예매  못할 껄?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8" name="Google Shape;478;p36"/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Estudiante: “¿Eh? De verdad no funciona…” (pero sigue intentando burlarlo)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어!? 진짜 안되네…”(근데 뚫으려고 계속 시도 중) 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79" name="Google Shape;479;p36"/>
          <p:cNvSpPr/>
          <p:nvPr/>
        </p:nvSpPr>
        <p:spPr>
          <a:xfrm>
            <a:off x="640081" y="389041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De repente la función de reserva se detiene por completo para todos</a:t>
            </a:r>
            <a:endParaRPr sz="20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chemeClr val="lt1"/>
                </a:solidFill>
                <a:latin typeface="Jua"/>
                <a:ea typeface="Jua"/>
                <a:cs typeface="Jua"/>
                <a:sym typeface="Jua"/>
              </a:rPr>
              <a:t>갑자기 예매 기능이 정지. 다른 학들도 예매가 다같이 안되는 상황</a:t>
            </a:r>
            <a:endParaRPr sz="2000" i="1" u="none" strike="noStrike" cap="none">
              <a:solidFill>
                <a:schemeClr val="lt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0" name="Google Shape;480;p36"/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2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Profe: “¡Por fin gané!”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정보쌤 : “ 드디어 내가 이겼다“</a:t>
            </a:r>
            <a:endParaRPr sz="2000" i="0" u="none" strike="noStrike" cap="none">
              <a:solidFill>
                <a:srgbClr val="000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1" name="Google Shape;481;p36"/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20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Estudiante: “Profe, pero ahora parece que la reserva ya ni funciona…”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33858"/>
              </a:buClr>
              <a:buSzPts val="2000"/>
              <a:buFont typeface="Arial"/>
              <a:buNone/>
            </a:pPr>
            <a:r>
              <a:rPr lang="en-US" sz="1100" i="1" u="none" strike="noStrike" cap="none">
                <a:solidFill>
                  <a:srgbClr val="F33858"/>
                </a:solidFill>
                <a:latin typeface="Jua"/>
                <a:ea typeface="Jua"/>
                <a:cs typeface="Jua"/>
                <a:sym typeface="Jua"/>
              </a:rPr>
              <a:t>학생 : “ 선생님 근데 이제 예매 기능 자체가 잘 안되는 것 같은데요?”</a:t>
            </a:r>
            <a:endParaRPr sz="2000" i="0" u="none" strike="noStrike" cap="none">
              <a:solidFill>
                <a:srgbClr val="F33858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37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Desenlace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결말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8" name="Google Shape;488;p37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lang="en-US" sz="27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El plan gratuito tenía un límite diario.</a:t>
            </a:r>
            <a:endParaRPr sz="27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Arial"/>
              <a:buNone/>
            </a:pPr>
            <a:r>
              <a:rPr lang="en-US" sz="1485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무료플랜에는 일일한도가 있었다.</a:t>
            </a:r>
            <a:endParaRPr sz="27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89" name="Google Shape;489;p37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13000"/>
              <a:buFont typeface="Arial"/>
              <a:buNone/>
            </a:pPr>
            <a:r>
              <a:rPr lang="en-US" sz="130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5</a:t>
            </a:r>
            <a:endParaRPr sz="1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0" name="Google Shape;490;p37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4400"/>
              <a:buFont typeface="Arial"/>
              <a:buNone/>
            </a:pPr>
            <a:r>
              <a:rPr lang="en-US" sz="44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No llegó a tardar 5 minutos.</a:t>
            </a:r>
            <a:endParaRPr sz="4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4400"/>
              <a:buFont typeface="Arial"/>
              <a:buNone/>
            </a:pPr>
            <a:r>
              <a:rPr lang="en-US" sz="2420" i="1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분도 안걸림.</a:t>
            </a:r>
            <a:endParaRPr sz="4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1" name="Google Shape;491;p37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Se agotó por completo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5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 Cloudflare KV 무료 플랜의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el límite diario de escritura del plan gratuito de Cloudflare KV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일일 쓰기 한도를 전부 소진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Para seguir con la clase, no quedó más remedio que quitar el límite de velocidad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수업진행을 위해서 어쩔 수 없이 Rate Limit 제거</a:t>
            </a:r>
            <a:endParaRPr sz="2000">
              <a:solidFill>
                <a:srgbClr val="E9F7E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Y volvió el final de mil reservas simultáneas de golpe…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다시 한꺼번에 1천개 동시 예매 엔딩…</a:t>
            </a:r>
            <a:endParaRPr sz="2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492" name="Google Shape;492;p37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37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Los estudiantes seguían enviando mil solicitudes masivas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dirty="0" err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학생들이 계속 1000개씩 대량 요청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494" name="Google Shape;494;p37"/>
          <p:cNvCxnSpPr/>
          <p:nvPr/>
        </p:nvCxnSpPr>
        <p:spPr>
          <a:xfrm>
            <a:off x="9006840" y="2395728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5" name="Google Shape;495;p37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37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Límite diario de KV agotado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KV 일일 한도 소진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497" name="Google Shape;497;p37"/>
          <p:cNvCxnSpPr/>
          <p:nvPr/>
        </p:nvCxnSpPr>
        <p:spPr>
          <a:xfrm>
            <a:off x="9006840" y="3182112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8" name="Google Shape;498;p37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37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20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Límite de velocidad eliminado por la fuerza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2000"/>
              <a:buFont typeface="Arial"/>
              <a:buNone/>
            </a:pPr>
            <a:r>
              <a:rPr lang="en-US" sz="1100" i="1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Rate Limit 강제 제거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00" name="Google Shape;500;p37"/>
          <p:cNvCxnSpPr/>
          <p:nvPr/>
        </p:nvCxnSpPr>
        <p:spPr>
          <a:xfrm>
            <a:off x="9006840" y="3968496"/>
            <a:ext cx="9144" cy="219456"/>
          </a:xfrm>
          <a:prstGeom prst="straightConnector1">
            <a:avLst/>
          </a:prstGeom>
          <a:noFill/>
          <a:ln w="19050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01" name="Google Shape;501;p37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 cap="flat" cmpd="sng">
            <a:solidFill>
              <a:srgbClr val="00FF4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37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2000"/>
              <a:buFont typeface="Arial"/>
              <a:buNone/>
            </a:pPr>
            <a:r>
              <a:rPr lang="en-US" sz="2000" dirty="0" err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Victoria de los estudiantes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FF41"/>
              </a:buClr>
              <a:buSzPts val="2000"/>
              <a:buFont typeface="Arial"/>
              <a:buNone/>
            </a:pPr>
            <a:r>
              <a:rPr lang="en-US" sz="1100" i="1" dirty="0" err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학생 승리</a:t>
            </a:r>
            <a:endParaRPr sz="20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03" name="Google Shape;503;p37"/>
          <p:cNvSpPr/>
          <p:nvPr/>
        </p:nvSpPr>
        <p:spPr>
          <a:xfrm>
            <a:off x="640080" y="5907024"/>
            <a:ext cx="985105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4000"/>
              <a:buFont typeface="Arial"/>
              <a:buNone/>
            </a:pPr>
            <a:r>
              <a:rPr lang="en-US" sz="40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Ya no hay forma de detenerlos</a:t>
            </a:r>
            <a:endParaRPr sz="4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4000"/>
              <a:buFont typeface="Arial"/>
              <a:buNone/>
            </a:pPr>
            <a:r>
              <a:rPr lang="en-US" sz="22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더 이상 막을 방법이 없다</a:t>
            </a:r>
            <a:endParaRPr sz="4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04" name="Google Shape;504;p37"/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700"/>
              <a:buFont typeface="Arial"/>
              <a:buNone/>
            </a:pPr>
            <a:r>
              <a:rPr lang="en-US" sz="27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Tiempo hasta agotar el límite</a:t>
            </a:r>
            <a:endParaRPr sz="27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3B5C"/>
              </a:buClr>
              <a:buSzPts val="2700"/>
              <a:buFont typeface="Arial"/>
              <a:buNone/>
            </a:pPr>
            <a:r>
              <a:rPr lang="en-US" sz="1485" i="1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한도 다 쓸 때까지 걸리는 시간</a:t>
            </a:r>
            <a:endParaRPr sz="27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6" grpId="0"/>
      <p:bldP spid="50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8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11" name="Google Shape;511;p3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3687" y="2416759"/>
            <a:ext cx="744322" cy="7443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8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Reflexiones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lang="en-US" sz="187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느낀점</a:t>
            </a:r>
            <a:endParaRPr sz="34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9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Repaso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되짚어보기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19" name="Google Shape;519;p39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Conocimientos que los estudiantes descubrieron explorando por su cuenta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학생들이 스스로 탐구하면서 알아낸 지식들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0" name="Google Shape;520;p39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39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2" name="Google Shape;522;p3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4568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39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Descubrimiento de vulnerabilidades del sitio web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웹 사이트의 취약점 발견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4" name="Google Shape;524;p39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39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6" name="Google Shape;526;p3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3186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39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DB REST API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28" name="Google Shape;528;p39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3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0" name="Google Shape;530;p3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1804" y="245132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39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 dirty="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Race Condition</a:t>
            </a:r>
            <a:endParaRPr sz="16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32" name="Google Shape;532;p39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39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4" name="Google Shape;534;p3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4568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39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Auth Bypass</a:t>
            </a:r>
            <a:endParaRPr sz="18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36" name="Google Shape;536;p39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39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8" name="Google Shape;538;p39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03186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39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Python Threading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40" name="Google Shape;540;p39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39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42" name="Google Shape;542;p39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31804" y="4142964"/>
            <a:ext cx="446593" cy="446593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3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JS Event Loop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44" name="Google Shape;544;p39"/>
          <p:cNvSpPr/>
          <p:nvPr/>
        </p:nvSpPr>
        <p:spPr>
          <a:xfrm>
            <a:off x="640080" y="55778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240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De todo esto, el profesor no enseñó nada — todo lo descubrieron solos hablando con la IA</a:t>
            </a:r>
            <a:endParaRPr sz="24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2400"/>
              <a:buFont typeface="Arial"/>
              <a:buNone/>
            </a:pPr>
            <a:r>
              <a:rPr lang="en-US" sz="1320" i="1" dirty="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이 중에서 선생님이 알려준 것은 하나도 없다  - 전부 AI와의 대화에서 스스로 발견</a:t>
            </a:r>
            <a:endParaRPr sz="2400" dirty="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Significado educativo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교육적 의미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51" name="Google Shape;551;p40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La autoeficacia que generó la batalla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공방전이 만든 자기효능감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52" name="Google Shape;552;p40"/>
          <p:cNvCxnSpPr/>
          <p:nvPr/>
        </p:nvCxnSpPr>
        <p:spPr>
          <a:xfrm>
            <a:off x="2669177" y="234695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3" name="Google Shape;553;p40"/>
          <p:cNvCxnSpPr/>
          <p:nvPr/>
        </p:nvCxnSpPr>
        <p:spPr>
          <a:xfrm flipH="1">
            <a:off x="2669177" y="385571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4" name="Google Shape;554;p40"/>
          <p:cNvCxnSpPr/>
          <p:nvPr/>
        </p:nvCxnSpPr>
        <p:spPr>
          <a:xfrm rot="10800000">
            <a:off x="1160417" y="385571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55" name="Google Shape;555;p40"/>
          <p:cNvCxnSpPr/>
          <p:nvPr/>
        </p:nvCxnSpPr>
        <p:spPr>
          <a:xfrm rot="10800000" flipH="1">
            <a:off x="1160417" y="2346959"/>
            <a:ext cx="1508760" cy="1508760"/>
          </a:xfrm>
          <a:prstGeom prst="straightConnector1">
            <a:avLst/>
          </a:prstGeom>
          <a:noFill/>
          <a:ln w="15875" cap="flat" cmpd="sng">
            <a:solidFill>
              <a:srgbClr val="17C93B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56" name="Google Shape;556;p40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7" name="Google Shape;557;p4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98515" y="207629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40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El profesor bloquea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선생님이 막는다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59" name="Google Shape;559;p40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0" name="Google Shape;560;p4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7275" y="358505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40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El estudiante lo burla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학생이 뚫는다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2" name="Google Shape;562;p4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3" name="Google Shape;563;p4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98515" y="509381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40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Logro y motivación ↑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성취감·의욕 ↑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5" name="Google Shape;565;p40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6" name="Google Shape;566;p40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9755" y="3585057"/>
            <a:ext cx="541325" cy="541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40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Explora otro método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1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다른 방법 탐색</a:t>
            </a:r>
            <a:endParaRPr sz="11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68" name="Google Shape;568;p40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40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Profesor: “Vaya, así que lo hicieron así. Hay que bloquearlo.”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선생님: 어쭈, 이걸 이렇게 하네? 막아야지.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0" name="Google Shape;570;p40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Estudiante: “¿Eh? Lo bloquearon. Bueno, otro método.”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학생: 어? 이걸 막네? 응, 다른 방법.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1" name="Google Shape;571;p40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Profesor: “Ah, lo volvieron a burlar. Pues lo bloqueo de nuevo.”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선생님: 아 또 뚫었네, 그럼 또 막아.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2" name="Google Shape;572;p40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Estudiante: “¿Eh? ¿Bloquearon esto también? Bueno, otro método.”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학생: 어? 이걸 막아? 응, 다른 방법.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3" name="Google Shape;573;p40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Aunque fallan, los estudiantes no se rinden y buscan soluciones por su cuenta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학생들은 실패해도 포기하지 않고, 스스로 해결책을 탐색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74" name="Google Shape;574;p40"/>
          <p:cNvSpPr/>
          <p:nvPr/>
        </p:nvSpPr>
        <p:spPr>
          <a:xfrm>
            <a:off x="5440675" y="3758619"/>
            <a:ext cx="5013657" cy="177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La sensación de logro de haber vencido la clase creada por el profesor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만든 수업을 자신이 공략했다는 성취감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Cuanto más bloquea el profesor, más motivación sienten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막을수록 더 의욕이 생김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No se rinden al fallar; exploran otra ruta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실패해도 포기하지 않고 다른 루트를 탐색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Investigan la solución por su cuenta preguntándole a la IA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AI에게 물어보며 스스로 해결법을 연구</a:t>
            </a:r>
            <a:endParaRPr sz="1600" i="1">
              <a:solidFill>
                <a:srgbClr val="6E9679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16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Una experiencia divertida tanto para los estudiantes como para el profesor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6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학생들도 선생님도 재밌던 경험</a:t>
            </a:r>
            <a:endParaRPr sz="16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Observaciones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관찰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1" name="Google Shape;581;p4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Sin conocer los detalles del principio, lo entienden de forma intuitiva.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165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원리는 자세하게 몰라도, 직관적으로 이해하고 있다.</a:t>
            </a:r>
            <a:endParaRPr sz="3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2" name="Google Shape;582;p41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41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4" name="Google Shape;584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85723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41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¿Cómo reservaste burlando el STOP?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STOP을 뚫고 어떻게 예매했냐?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86" name="Google Shape;586;p41"/>
          <p:cNvCxnSpPr/>
          <p:nvPr/>
        </p:nvCxnSpPr>
        <p:spPr>
          <a:xfrm>
            <a:off x="914400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7" name="Google Shape;587;p41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8" name="Google Shape;588;p41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Dicen que basta con acceder directo a la base de datos desde el sitio de reservas.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예매사이트에서 직접 데이터베이스에 접근한다고 하면 되던데요?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89" name="Google Shape;589;p41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No conoce el principio de las solicitudes API, pero solicita directo a la base de datos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API 요청의 원리는 몰라도 디비에 직접 요청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0" name="Google Shape;590;p41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4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92" name="Google Shape;592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44822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593" name="Google Shape;593;p41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¿Cómo reservaste mil de golpe?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어떻게 천 개씩 한꺼번에 예매했냐?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594" name="Google Shape;594;p41"/>
          <p:cNvCxnSpPr/>
          <p:nvPr/>
        </p:nvCxnSpPr>
        <p:spPr>
          <a:xfrm>
            <a:off x="4673498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5" name="Google Shape;595;p41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6" name="Google Shape;596;p41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No lo sé muy bien, pero dicen que con “threading” es más rápido.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이거 잘 모르는데요, 쓰레딩? 그거 쓰면 빠르다고 하더라고요.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7" name="Google Shape;597;p41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No sabe qué es el threading, pero entiende que se envía todo al mismo tiempo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쓰레딩 뭔진 모르지만, 동시에 요청하는 건 이해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598" name="Google Shape;598;p41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41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00" name="Google Shape;600;p4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3920" y="2403043"/>
            <a:ext cx="405994" cy="405994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4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125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¿Cómo fuiste más rápido que él?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9F7EC"/>
              </a:buClr>
              <a:buSzPts val="1250"/>
              <a:buFont typeface="Arial"/>
              <a:buNone/>
            </a:pPr>
            <a:r>
              <a:rPr lang="en-US" sz="900" i="1">
                <a:solidFill>
                  <a:srgbClr val="E9F7EC"/>
                </a:solidFill>
                <a:latin typeface="Jua"/>
                <a:ea typeface="Jua"/>
                <a:cs typeface="Jua"/>
                <a:sym typeface="Jua"/>
              </a:rPr>
              <a:t>쟤보다 어떻게 더 빠르게 했냐?</a:t>
            </a:r>
            <a:endParaRPr sz="125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cxnSp>
        <p:nvCxnSpPr>
          <p:cNvPr id="602" name="Google Shape;602;p41"/>
          <p:cNvCxnSpPr/>
          <p:nvPr/>
        </p:nvCxnSpPr>
        <p:spPr>
          <a:xfrm>
            <a:off x="8432597" y="3886200"/>
            <a:ext cx="2844698" cy="0"/>
          </a:xfrm>
          <a:prstGeom prst="straightConnector1">
            <a:avLst/>
          </a:prstGeom>
          <a:noFill/>
          <a:ln w="12700" cap="flat" cmpd="sng">
            <a:solidFill>
              <a:srgbClr val="17431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3" name="Google Shape;603;p41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Estudiante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0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학생</a:t>
            </a:r>
            <a:endParaRPr sz="10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04" name="Google Shape;604;p41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Es más rápido hacerlo aquí mismo con JS que abrir una ventana con Python.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C93B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17C93B"/>
                </a:solidFill>
                <a:latin typeface="Jua"/>
                <a:ea typeface="Jua"/>
                <a:cs typeface="Jua"/>
                <a:sym typeface="Jua"/>
              </a:rPr>
              <a:t>파이썬으로 창 여는 것보다, 바로 여기서  JS로 하는 게 더 빨라요.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05" name="Google Shape;605;p41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Entiende de forma intuitiva la importancia del cold start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E9679"/>
              </a:buClr>
              <a:buSzPts val="1200"/>
              <a:buFont typeface="Arial"/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콜드 스타트의 중요성을 직관적으로 이해</a:t>
            </a:r>
            <a:endParaRPr sz="1200">
              <a:solidFill>
                <a:schemeClr val="dk1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42"/>
          <p:cNvSpPr/>
          <p:nvPr/>
        </p:nvSpPr>
        <p:spPr>
          <a:xfrm>
            <a:off x="367348" y="1371601"/>
            <a:ext cx="11430000" cy="2057400"/>
          </a:xfrm>
          <a:prstGeom prst="rect">
            <a:avLst/>
          </a:prstGeom>
          <a:solidFill>
            <a:srgbClr val="0E1A0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2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Incluso estudiantes sin conocimientos de programación analizan la estructura del sistema preguntándole a la IA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코딩이나 전문적 지식이 부족한 학생도 AI에게 질문하며 시스템 구조를 분석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2" name="Google Shape;612;p42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Le preguntan a la IA “¿cómo puedo hacerlo más rápido?” e investigan varios métodos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어떻게 하면 더 빠르게 할 수 있어? 라고 AI에 질문하며 다양한 방법 조사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3" name="Google Shape;613;p42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Con la IA, incluso estudiantes de secundaria alcanzan un nivel avanzado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AI와 함께라면 중학생들도 높은 수준의 접근 가능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4" name="Google Shape;614;p42"/>
          <p:cNvSpPr/>
          <p:nvPr/>
        </p:nvSpPr>
        <p:spPr>
          <a:xfrm>
            <a:off x="367348" y="4104379"/>
            <a:ext cx="11430000" cy="1199141"/>
          </a:xfrm>
          <a:prstGeom prst="rect">
            <a:avLst/>
          </a:prstGeom>
          <a:solidFill>
            <a:srgbClr val="0E441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42"/>
          <p:cNvSpPr txBox="1"/>
          <p:nvPr/>
        </p:nvSpPr>
        <p:spPr>
          <a:xfrm>
            <a:off x="733107" y="4213239"/>
            <a:ext cx="10701144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Usar IA puede reducir la brecha de competencias digitales y permitir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AI를 활용하면 디지털역량의 격차를 줄일 수 있고 훨씬 다양한 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clases mucho más variadas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수업이 가능하다</a:t>
            </a:r>
            <a:endParaRPr sz="3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16" name="Google Shape;616;p42"/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Aprender con IA en áreas técnicas genera un efecto de aprendizaje muy potente</a:t>
            </a:r>
            <a:endParaRPr sz="2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기술관련 분야에서 AI와 함께 학습 했을 때 강력한 학습효과 발생</a:t>
            </a:r>
            <a:endParaRPr sz="2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43"/>
          <p:cNvSpPr txBox="1"/>
          <p:nvPr/>
        </p:nvSpPr>
        <p:spPr>
          <a:xfrm>
            <a:off x="458788" y="397429"/>
            <a:ext cx="1143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El poder de la motivación: la sensación de “lo logré yo”</a:t>
            </a:r>
            <a:endParaRPr sz="32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동기의 힘 – 내가 해냈다는 성취감</a:t>
            </a:r>
            <a:endParaRPr sz="32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2" name="Google Shape;622;p43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Los estudiantes muestran mucha más concentración y creatividad de lo habitual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학생들이 평소보다 훨씬 높은 집중력과 창의력을 발휘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3" name="Google Shape;623;p43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Aunque fallan, no se rinden y buscan otros métodos por su cuenta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실패해도 포기하지 않고 다른 방법을 스스로 탐색</a:t>
            </a:r>
            <a:endParaRPr sz="21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4" name="Google Shape;624;p43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El orgullo de “lo logré yo” se convierte en una motivación de aprendizaje muy fuerte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5" i="1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내가 해냈다는 뿌듯함 → 강력한 학습 동기로 연결</a:t>
            </a:r>
            <a:endParaRPr sz="21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25" name="Google Shape;625;p43"/>
          <p:cNvSpPr txBox="1"/>
          <p:nvPr/>
        </p:nvSpPr>
        <p:spPr>
          <a:xfrm>
            <a:off x="391886" y="3882183"/>
            <a:ext cx="11314021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"Aunque se use IA, hace falta diseñar un proceso de enseñanza</a:t>
            </a:r>
            <a:endParaRPr sz="2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"AI를 활용하더라도 학생들이 자유롭게 탐구할 수 있고</a:t>
            </a:r>
            <a:endParaRPr sz="2200" i="1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donde los estudiantes exploren libremente y sientan logro en el camino"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그 과정에서 성취감을 느낄 수 있는 교수학습과정 설계가 필요하다"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44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La era de la IA: el rol del docente</a:t>
            </a:r>
            <a:endParaRPr sz="3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0" i="1">
                <a:solidFill>
                  <a:srgbClr val="FFFFFF"/>
                </a:solidFill>
                <a:latin typeface="Jua"/>
                <a:ea typeface="Jua"/>
                <a:cs typeface="Jua"/>
                <a:sym typeface="Jua"/>
              </a:rPr>
              <a:t>AI 시대, 교사의 역할</a:t>
            </a:r>
            <a:endParaRPr sz="3400">
              <a:solidFill>
                <a:srgbClr val="FFFFFF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1" name="Google Shape;631;p44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Con IA, los estudiantes logran resultados más allá de lo esperado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AI를 활용하면 학생들이 생각 이상의 성과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2" name="Google Shape;632;p44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La motivación pesa más que la diferencia de conocimientos previos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배경 지식의 차이보다 동기부여가 더 강력함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3" name="Google Shape;633;p44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Se necesita un “campo de juego” donde el estudiante encuentre y resuelva problemas por sí mismo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▸  학생 스스로 문제를 찾고 해결하게 만들 수 있는 운동장 필요</a:t>
            </a:r>
            <a:endParaRPr sz="2200">
              <a:solidFill>
                <a:srgbClr val="00FF41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4" name="Google Shape;634;p44"/>
          <p:cNvSpPr txBox="1"/>
          <p:nvPr/>
        </p:nvSpPr>
        <p:spPr>
          <a:xfrm>
            <a:off x="458788" y="3328417"/>
            <a:ext cx="112470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En esta era en la que todos usan IA y hacen vibe coding,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▸  모두가 AI를 활용하고 바이브코딩을 하는 지금 시대에서 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el rol del docente no es solo transmitir conocimiento, sino diseñar la enseñanza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교사의 역할은 지식 전달 뿐만 아니라 학생들이 자유롭게 기술을 탐구하고 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y el “campo de juego” donde exploren, apliquen y se atrevan libremente con la tecnología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i="1">
                <a:solidFill>
                  <a:srgbClr val="FFC000"/>
                </a:solidFill>
                <a:latin typeface="Jua"/>
                <a:ea typeface="Jua"/>
                <a:cs typeface="Jua"/>
                <a:sym typeface="Jua"/>
              </a:rPr>
              <a:t>   적용하며, 도전할 수 있는 교수학습설계, 운동장을 설계 하는 것이 중요</a:t>
            </a:r>
            <a:endParaRPr sz="2200">
              <a:solidFill>
                <a:srgbClr val="FFC000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5" name="Google Shape;635;p44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17431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44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Lo que enseñó directamente el profesor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선생님이 직접 가르친 것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7" name="Google Shape;637;p44"/>
          <p:cNvSpPr txBox="1"/>
          <p:nvPr/>
        </p:nvSpPr>
        <p:spPr>
          <a:xfrm>
            <a:off x="5487988" y="5508858"/>
            <a:ext cx="50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Lo que los estudiantes descubrieron solos con IA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i="1">
                <a:solidFill>
                  <a:srgbClr val="6E9679"/>
                </a:solidFill>
                <a:latin typeface="Jua"/>
                <a:ea typeface="Jua"/>
                <a:cs typeface="Jua"/>
                <a:sym typeface="Jua"/>
              </a:rPr>
              <a:t>학생들이 AI로 스스로 발견한 것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8" name="Google Shape;638;p44"/>
          <p:cNvSpPr txBox="1"/>
          <p:nvPr/>
        </p:nvSpPr>
        <p:spPr>
          <a:xfrm>
            <a:off x="341017" y="5900104"/>
            <a:ext cx="414804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Solo explicó lo básico y el uso de programas de macros en Python</a:t>
            </a:r>
            <a:endParaRPr sz="16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i="1">
                <a:solidFill>
                  <a:srgbClr val="FF3B5C"/>
                </a:solidFill>
                <a:latin typeface="Jua"/>
                <a:ea typeface="Jua"/>
                <a:cs typeface="Jua"/>
                <a:sym typeface="Jua"/>
              </a:rPr>
              <a:t>파이썬 매크로 프로그램 기초 및 사용법만 설명</a:t>
            </a:r>
            <a:endParaRPr sz="1600">
              <a:solidFill>
                <a:srgbClr val="FF3B5C"/>
              </a:solidFill>
              <a:latin typeface="Jua"/>
              <a:ea typeface="Jua"/>
              <a:cs typeface="Jua"/>
              <a:sym typeface="Jua"/>
            </a:endParaRPr>
          </a:p>
        </p:txBody>
      </p:sp>
      <p:sp>
        <p:nvSpPr>
          <p:cNvPr id="639" name="Google Shape;639;p44"/>
          <p:cNvSpPr txBox="1"/>
          <p:nvPr/>
        </p:nvSpPr>
        <p:spPr>
          <a:xfrm>
            <a:off x="3803263" y="5426675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E9679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/>
          </a:p>
        </p:txBody>
      </p:sp>
      <p:sp>
        <p:nvSpPr>
          <p:cNvPr id="640" name="Google Shape;640;p44"/>
          <p:cNvSpPr txBox="1"/>
          <p:nvPr/>
        </p:nvSpPr>
        <p:spPr>
          <a:xfrm>
            <a:off x="5487988" y="5900104"/>
            <a:ext cx="368096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REST API, multihilos, procesamiento paralelo asíncrono...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i="1">
                <a:solidFill>
                  <a:srgbClr val="00FF41"/>
                </a:solidFill>
                <a:latin typeface="Jua"/>
                <a:ea typeface="Jua"/>
                <a:cs typeface="Jua"/>
                <a:sym typeface="Jua"/>
              </a:rPr>
              <a:t>REST API, 멀티스레드, 비동기 병렬처리...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5" name="Google Shape;645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0770" y="583110"/>
            <a:ext cx="3597973" cy="2697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35286" y="583109"/>
            <a:ext cx="3597973" cy="2697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4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16498" y="583111"/>
            <a:ext cx="3597970" cy="269784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4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49490" y="3423982"/>
            <a:ext cx="3597969" cy="269784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4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13432" y="3429000"/>
            <a:ext cx="3591277" cy="2692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3466</Words>
  <Application>Microsoft Office PowerPoint</Application>
  <PresentationFormat>와이드스크린</PresentationFormat>
  <Paragraphs>424</Paragraphs>
  <Slides>31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37" baseType="lpstr">
      <vt:lpstr>Arial</vt:lpstr>
      <vt:lpstr>Calibri</vt:lpstr>
      <vt:lpstr>Malgun Gothic</vt:lpstr>
      <vt:lpstr>Jua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tgr0612@naver.com</cp:lastModifiedBy>
  <cp:revision>6</cp:revision>
  <dcterms:modified xsi:type="dcterms:W3CDTF">2026-08-29T07:38:04Z</dcterms:modified>
</cp:coreProperties>
</file>