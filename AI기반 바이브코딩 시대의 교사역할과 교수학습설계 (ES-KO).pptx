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34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2192000" cy="6858000"/>
  <p:notesSz cx="6858000" cy="12192000"/>
  <p:embeddedFontLst>
    <p:embeddedFont>
      <p:font typeface="Jua" panose="020B0600000101010101" charset="-127"/>
      <p:regular r:id="rId35"/>
    </p:embeddedFont>
    <p:embeddedFont>
      <p:font typeface="Malgun Gothic" panose="020B0503020000020004" pitchFamily="50" charset="-127"/>
      <p:regular r:id="rId36"/>
      <p:bold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8" d="100"/>
          <a:sy n="88" d="100"/>
        </p:scale>
        <p:origin x="90" y="4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viewProps" Target="viewProps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3.fntdata"/><Relationship Id="rId40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font" Target="fonts/font2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font" Target="fonts/font1.fntdata"/><Relationship Id="rId8" Type="http://schemas.openxmlformats.org/officeDocument/2006/relationships/slide" Target="slides/slide6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85" name="Google Shape;85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93" name="Google Shape;93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01" name="Google Shape;101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3" name="Google Shape;113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14" name="Google Shape;114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8" name="Google Shape;228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29" name="Google Shape;229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5</a:t>
            </a:fld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8" name="Google Shape;238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9" name="Google Shape;239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1" name="Google Shape;261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62" name="Google Shape;262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2" name="Google Shape;282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3" name="Google Shape;283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8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91" name="Google Shape;291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9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23" name="Google Shape;323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24" name="Google Shape;324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10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1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47" name="Google Shape;347;p1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11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55" name="Google Shape;355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12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65" name="Google Shape;365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66" name="Google Shape;366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89" name="Google Shape;389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0" name="Google Shape;390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14</a:t>
            </a:fld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8" name="Google Shape;398;p1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399" name="Google Shape;399;p1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15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9" name="Google Shape;409;p1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0" name="Google Shape;410;p1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16</a:t>
            </a:fld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1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19" name="Google Shape;419;p1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17</a:t>
            </a:fld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31" name="Google Shape;431;p1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32" name="Google Shape;432;p1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18</a:t>
            </a:fld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40" name="Google Shape;440;p1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41" name="Google Shape;441;p1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19</a:t>
            </a:fld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50" name="Google Shape;450;p2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51" name="Google Shape;451;p2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20</a:t>
            </a:fld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61" name="Google Shape;461;p2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62" name="Google Shape;462;p2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21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74" name="Google Shape;474;p2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75" name="Google Shape;475;p2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Malgun Gothic"/>
              <a:buNone/>
            </a:pPr>
            <a:fld id="{00000000-1234-1234-1234-123412341234}" type="slidenum">
              <a:rPr lang="en-US" sz="18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22</a:t>
            </a:fld>
            <a:endParaRPr sz="18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84" name="Google Shape;484;p2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485" name="Google Shape;485;p2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23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07" name="Google Shape;507;p2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08" name="Google Shape;508;p2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24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5" name="Google Shape;515;p2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16" name="Google Shape;516;p2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25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47" name="Google Shape;547;p2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48" name="Google Shape;548;p2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26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77" name="Google Shape;577;p2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578" name="Google Shape;578;p2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27</a:t>
            </a:fld>
            <a:endParaRPr sz="1800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28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29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7" name="Google Shape;627;p30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635000" y="914400"/>
            <a:ext cx="8128000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3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4"/>
          <p:cNvSpPr txBox="1">
            <a:spLocks noGrp="1"/>
          </p:cNvSpPr>
          <p:nvPr>
            <p:ph type="dt" idx="10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4"/>
          <p:cNvSpPr txBox="1">
            <a:spLocks noGrp="1"/>
          </p:cNvSpPr>
          <p:nvPr>
            <p:ph type="ftr" idx="11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ldNum" idx="12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ctrTitle"/>
          </p:nvPr>
        </p:nvSpPr>
        <p:spPr>
          <a:xfrm>
            <a:off x="685978" y="2130426"/>
            <a:ext cx="7774425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subTitle" idx="1"/>
          </p:nvPr>
        </p:nvSpPr>
        <p:spPr>
          <a:xfrm>
            <a:off x="1371957" y="3886200"/>
            <a:ext cx="6402467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dt" idx="10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5"/>
          <p:cNvSpPr txBox="1">
            <a:spLocks noGrp="1"/>
          </p:cNvSpPr>
          <p:nvPr>
            <p:ph type="ftr" idx="11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ldNum" idx="12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6"/>
          <p:cNvSpPr txBox="1"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6"/>
          <p:cNvSpPr txBox="1">
            <a:spLocks noGrp="1"/>
          </p:cNvSpPr>
          <p:nvPr>
            <p:ph type="dt" idx="10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ftr" idx="11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6"/>
          <p:cNvSpPr txBox="1">
            <a:spLocks noGrp="1"/>
          </p:cNvSpPr>
          <p:nvPr>
            <p:ph type="sldNum" idx="12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 txBox="1">
            <a:spLocks noGrp="1"/>
          </p:cNvSpPr>
          <p:nvPr>
            <p:ph type="title"/>
          </p:nvPr>
        </p:nvSpPr>
        <p:spPr>
          <a:xfrm>
            <a:off x="722501" y="4406901"/>
            <a:ext cx="7774425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body" idx="1"/>
          </p:nvPr>
        </p:nvSpPr>
        <p:spPr>
          <a:xfrm>
            <a:off x="722501" y="2906713"/>
            <a:ext cx="777442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dt" idx="10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ftr" idx="11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body" idx="1"/>
          </p:nvPr>
        </p:nvSpPr>
        <p:spPr>
          <a:xfrm>
            <a:off x="457319" y="1600201"/>
            <a:ext cx="403965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8" name="Google Shape;38;p8"/>
          <p:cNvSpPr txBox="1">
            <a:spLocks noGrp="1"/>
          </p:cNvSpPr>
          <p:nvPr>
            <p:ph type="body" idx="2"/>
          </p:nvPr>
        </p:nvSpPr>
        <p:spPr>
          <a:xfrm>
            <a:off x="4649411" y="1600201"/>
            <a:ext cx="4039652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dt" idx="10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ftr" idx="11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sldNum" idx="12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body" idx="1"/>
          </p:nvPr>
        </p:nvSpPr>
        <p:spPr>
          <a:xfrm>
            <a:off x="457319" y="1535113"/>
            <a:ext cx="4041240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body" idx="2"/>
          </p:nvPr>
        </p:nvSpPr>
        <p:spPr>
          <a:xfrm>
            <a:off x="457319" y="2174875"/>
            <a:ext cx="4041240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3"/>
          </p:nvPr>
        </p:nvSpPr>
        <p:spPr>
          <a:xfrm>
            <a:off x="4646235" y="1535113"/>
            <a:ext cx="404282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body" idx="4"/>
          </p:nvPr>
        </p:nvSpPr>
        <p:spPr>
          <a:xfrm>
            <a:off x="4646235" y="2174875"/>
            <a:ext cx="404282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dt" idx="10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ftr" idx="11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sldNum" idx="12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0"/>
          <p:cNvSpPr txBox="1"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0"/>
          <p:cNvSpPr txBox="1">
            <a:spLocks noGrp="1"/>
          </p:cNvSpPr>
          <p:nvPr>
            <p:ph type="dt" idx="10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ftr" idx="11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sldNum" idx="12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>
            <a:spLocks noGrp="1"/>
          </p:cNvSpPr>
          <p:nvPr>
            <p:ph type="title"/>
          </p:nvPr>
        </p:nvSpPr>
        <p:spPr>
          <a:xfrm>
            <a:off x="457319" y="273050"/>
            <a:ext cx="3009097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575981" y="273051"/>
            <a:ext cx="5113082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2"/>
          </p:nvPr>
        </p:nvSpPr>
        <p:spPr>
          <a:xfrm>
            <a:off x="457319" y="1435101"/>
            <a:ext cx="3009097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dt" idx="10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1"/>
          <p:cNvSpPr txBox="1">
            <a:spLocks noGrp="1"/>
          </p:cNvSpPr>
          <p:nvPr>
            <p:ph type="ftr" idx="11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1"/>
          <p:cNvSpPr txBox="1">
            <a:spLocks noGrp="1"/>
          </p:cNvSpPr>
          <p:nvPr>
            <p:ph type="sldNum" idx="12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2"/>
          <p:cNvSpPr txBox="1">
            <a:spLocks noGrp="1"/>
          </p:cNvSpPr>
          <p:nvPr>
            <p:ph type="title"/>
          </p:nvPr>
        </p:nvSpPr>
        <p:spPr>
          <a:xfrm>
            <a:off x="1792755" y="4800600"/>
            <a:ext cx="5487829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2"/>
          <p:cNvSpPr>
            <a:spLocks noGrp="1"/>
          </p:cNvSpPr>
          <p:nvPr>
            <p:ph type="pic" idx="2"/>
          </p:nvPr>
        </p:nvSpPr>
        <p:spPr>
          <a:xfrm>
            <a:off x="1792755" y="612775"/>
            <a:ext cx="5487829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6" name="Google Shape;66;p12"/>
          <p:cNvSpPr txBox="1">
            <a:spLocks noGrp="1"/>
          </p:cNvSpPr>
          <p:nvPr>
            <p:ph type="body" idx="1"/>
          </p:nvPr>
        </p:nvSpPr>
        <p:spPr>
          <a:xfrm>
            <a:off x="1792755" y="5367338"/>
            <a:ext cx="5487829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7" name="Google Shape;67;p12"/>
          <p:cNvSpPr txBox="1">
            <a:spLocks noGrp="1"/>
          </p:cNvSpPr>
          <p:nvPr>
            <p:ph type="dt" idx="10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2"/>
          <p:cNvSpPr txBox="1">
            <a:spLocks noGrp="1"/>
          </p:cNvSpPr>
          <p:nvPr>
            <p:ph type="ftr" idx="11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sldNum" idx="12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body" idx="1"/>
          </p:nvPr>
        </p:nvSpPr>
        <p:spPr>
          <a:xfrm rot="5400000">
            <a:off x="2310210" y="-252690"/>
            <a:ext cx="4525963" cy="82317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dt" idx="10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ftr" idx="11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ldNum" idx="12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4"/>
          <p:cNvSpPr txBox="1">
            <a:spLocks noGrp="1"/>
          </p:cNvSpPr>
          <p:nvPr>
            <p:ph type="title"/>
          </p:nvPr>
        </p:nvSpPr>
        <p:spPr>
          <a:xfrm rot="5400000">
            <a:off x="4734333" y="2171434"/>
            <a:ext cx="5851525" cy="2057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4"/>
          <p:cNvSpPr txBox="1">
            <a:spLocks noGrp="1"/>
          </p:cNvSpPr>
          <p:nvPr>
            <p:ph type="body" idx="1"/>
          </p:nvPr>
        </p:nvSpPr>
        <p:spPr>
          <a:xfrm rot="5400000">
            <a:off x="542240" y="189717"/>
            <a:ext cx="5851525" cy="6021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14"/>
          <p:cNvSpPr txBox="1">
            <a:spLocks noGrp="1"/>
          </p:cNvSpPr>
          <p:nvPr>
            <p:ph type="dt" idx="10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4"/>
          <p:cNvSpPr txBox="1">
            <a:spLocks noGrp="1"/>
          </p:cNvSpPr>
          <p:nvPr>
            <p:ph type="ftr" idx="11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4"/>
          <p:cNvSpPr txBox="1">
            <a:spLocks noGrp="1"/>
          </p:cNvSpPr>
          <p:nvPr>
            <p:ph type="sldNum" idx="12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3"/>
          <p:cNvSpPr txBox="1">
            <a:spLocks noGrp="1"/>
          </p:cNvSpPr>
          <p:nvPr>
            <p:ph type="title"/>
          </p:nvPr>
        </p:nvSpPr>
        <p:spPr>
          <a:xfrm>
            <a:off x="457319" y="274638"/>
            <a:ext cx="8231744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3"/>
          <p:cNvSpPr txBox="1">
            <a:spLocks noGrp="1"/>
          </p:cNvSpPr>
          <p:nvPr>
            <p:ph type="body" idx="1"/>
          </p:nvPr>
        </p:nvSpPr>
        <p:spPr>
          <a:xfrm>
            <a:off x="457319" y="1600201"/>
            <a:ext cx="8231744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3"/>
          <p:cNvSpPr txBox="1">
            <a:spLocks noGrp="1"/>
          </p:cNvSpPr>
          <p:nvPr>
            <p:ph type="dt" idx="10"/>
          </p:nvPr>
        </p:nvSpPr>
        <p:spPr>
          <a:xfrm>
            <a:off x="457319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3"/>
          <p:cNvSpPr txBox="1">
            <a:spLocks noGrp="1"/>
          </p:cNvSpPr>
          <p:nvPr>
            <p:ph type="ftr" idx="11"/>
          </p:nvPr>
        </p:nvSpPr>
        <p:spPr>
          <a:xfrm>
            <a:off x="3125014" y="6356351"/>
            <a:ext cx="289635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"/>
          <p:cNvSpPr txBox="1">
            <a:spLocks noGrp="1"/>
          </p:cNvSpPr>
          <p:nvPr>
            <p:ph type="sldNum" idx="12"/>
          </p:nvPr>
        </p:nvSpPr>
        <p:spPr>
          <a:xfrm>
            <a:off x="6554907" y="6356351"/>
            <a:ext cx="2134156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macro-classroom.shk-8b6.workers.dev/" TargetMode="Externa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5" descr="preencoded.png"/>
          <p:cNvPicPr preferRelativeResize="0"/>
          <p:nvPr/>
        </p:nvPicPr>
        <p:blipFill rotWithShape="1">
          <a:blip r:embed="rId3">
            <a:alphaModFix amt="22000"/>
          </a:blip>
          <a:srcRect/>
          <a:stretch/>
        </p:blipFill>
        <p:spPr>
          <a:xfrm>
            <a:off x="6609805" y="1166948"/>
            <a:ext cx="4846320" cy="484632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/>
          <p:nvPr/>
        </p:nvSpPr>
        <p:spPr>
          <a:xfrm>
            <a:off x="640080" y="1923308"/>
            <a:ext cx="9692640" cy="2011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i="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En la era del vibe coding con IA,</a:t>
            </a:r>
            <a:endParaRPr sz="4000" i="0" u="none" strike="noStrike" cap="none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17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AI를</a:t>
            </a:r>
            <a:r>
              <a:rPr lang="en-US" sz="17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7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활용한</a:t>
            </a:r>
            <a:r>
              <a:rPr lang="en-US" sz="17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7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바이브코딩</a:t>
            </a:r>
            <a:r>
              <a:rPr lang="en-US" sz="17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7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시대</a:t>
            </a:r>
            <a:r>
              <a:rPr lang="en-US" sz="17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,</a:t>
            </a:r>
            <a:endParaRPr sz="1700" u="none" strike="noStrike" cap="none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4000" i="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4000" i="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4000" i="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rol</a:t>
            </a:r>
            <a:r>
              <a:rPr lang="en-US" sz="4000" i="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del </a:t>
            </a:r>
            <a:r>
              <a:rPr lang="en-US" sz="4000" i="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docente</a:t>
            </a:r>
            <a:r>
              <a:rPr lang="en-US" sz="4000" i="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y </a:t>
            </a:r>
            <a:r>
              <a:rPr lang="en-US" sz="4000" i="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4000" i="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4000" i="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diseño</a:t>
            </a:r>
            <a:r>
              <a:rPr lang="en-US" sz="4000" i="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de la </a:t>
            </a:r>
            <a:r>
              <a:rPr lang="en-US" sz="4000" i="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enseñanza</a:t>
            </a:r>
            <a:endParaRPr sz="4000" i="0" u="none" strike="noStrike" cap="none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Arial"/>
              <a:buNone/>
            </a:pPr>
            <a:r>
              <a:rPr lang="en-US" sz="17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교사의</a:t>
            </a:r>
            <a:r>
              <a:rPr lang="en-US" sz="17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7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역할과</a:t>
            </a:r>
            <a:r>
              <a:rPr lang="en-US" sz="17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7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교수학습설계</a:t>
            </a:r>
            <a:endParaRPr sz="3500" u="none" strike="noStrike" cap="none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89" name="Google Shape;89;p15"/>
          <p:cNvSpPr/>
          <p:nvPr/>
        </p:nvSpPr>
        <p:spPr>
          <a:xfrm>
            <a:off x="634276" y="4027056"/>
            <a:ext cx="11289869" cy="16725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25000" lnSpcReduction="20000"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500"/>
              <a:buFont typeface="Arial"/>
              <a:buNone/>
            </a:pP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Los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estudiantes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atacan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con IA la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plataforma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creada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por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profesor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,</a:t>
            </a:r>
            <a:endParaRPr sz="9600" i="0" u="none" strike="noStrike" cap="none" dirty="0">
              <a:solidFill>
                <a:srgbClr val="6E9679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500"/>
              <a:buFont typeface="Arial"/>
              <a:buNone/>
            </a:pPr>
            <a:r>
              <a:rPr lang="en-US" sz="64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학생들은</a:t>
            </a:r>
            <a:r>
              <a:rPr lang="en-US" sz="64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64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선생님이</a:t>
            </a:r>
            <a:r>
              <a:rPr lang="en-US" sz="64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64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만든</a:t>
            </a:r>
            <a:r>
              <a:rPr lang="en-US" sz="64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64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수업</a:t>
            </a:r>
            <a:r>
              <a:rPr lang="en-US" sz="64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64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플랫폼을</a:t>
            </a:r>
            <a:r>
              <a:rPr lang="en-US" sz="64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64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AI로</a:t>
            </a:r>
            <a:r>
              <a:rPr lang="en-US" sz="64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64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공략하고</a:t>
            </a:r>
            <a:r>
              <a:rPr lang="en-US" sz="64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endParaRPr sz="6400" u="none" strike="noStrike" cap="none" dirty="0">
              <a:solidFill>
                <a:srgbClr val="6E9679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500"/>
              <a:buFont typeface="Arial"/>
              <a:buNone/>
            </a:pP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y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profesor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se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defiende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: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caso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una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clase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sobre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una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batalla</a:t>
            </a:r>
            <a:r>
              <a:rPr lang="en-US" sz="9600" i="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600" i="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cibernética</a:t>
            </a:r>
            <a:endParaRPr sz="9600" i="0" u="none" strike="noStrike" cap="none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500"/>
              <a:buFont typeface="Arial"/>
              <a:buNone/>
            </a:pPr>
            <a:r>
              <a:rPr lang="en-US" sz="64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선생님은</a:t>
            </a:r>
            <a:r>
              <a:rPr lang="en-US" sz="64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64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그런</a:t>
            </a:r>
            <a:r>
              <a:rPr lang="en-US" sz="64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64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학생들을</a:t>
            </a:r>
            <a:r>
              <a:rPr lang="en-US" sz="64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64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방어하는</a:t>
            </a:r>
            <a:r>
              <a:rPr lang="en-US" sz="64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64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사이버</a:t>
            </a:r>
            <a:r>
              <a:rPr lang="en-US" sz="64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64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공방전</a:t>
            </a:r>
            <a:r>
              <a:rPr lang="en-US" sz="64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64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수업</a:t>
            </a:r>
            <a:r>
              <a:rPr lang="en-US" sz="64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64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사례</a:t>
            </a:r>
            <a:endParaRPr sz="6400" u="none" strike="noStrike" cap="none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6"/>
          <p:cNvSpPr/>
          <p:nvPr/>
        </p:nvSpPr>
        <p:spPr>
          <a:xfrm>
            <a:off x="5592928" y="2286000"/>
            <a:ext cx="1005840" cy="100584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96" name="Google Shape;96;p1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3687" y="2416759"/>
            <a:ext cx="744322" cy="744322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6"/>
          <p:cNvSpPr/>
          <p:nvPr/>
        </p:nvSpPr>
        <p:spPr>
          <a:xfrm>
            <a:off x="0" y="3886200"/>
            <a:ext cx="1219169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Diseño</a:t>
            </a:r>
            <a:r>
              <a:rPr lang="en-US" sz="3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de la </a:t>
            </a:r>
            <a:r>
              <a:rPr lang="en-US" sz="3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clase</a:t>
            </a:r>
            <a:endParaRPr sz="34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187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수업</a:t>
            </a:r>
            <a:r>
              <a:rPr lang="en-US" sz="187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7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설계</a:t>
            </a:r>
            <a:endParaRPr sz="34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 i="0" u="none" strike="noStrike" cap="none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Diseño</a:t>
            </a:r>
            <a:r>
              <a:rPr lang="en-US" sz="1200" i="0" u="none" strike="noStrike" cap="none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de la </a:t>
            </a:r>
            <a:r>
              <a:rPr lang="en-US" sz="1200" i="0" u="none" strike="noStrike" cap="none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clase</a:t>
            </a:r>
            <a:endParaRPr sz="1200" i="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 u="none" strike="noStrike" cap="none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수업</a:t>
            </a:r>
            <a:r>
              <a:rPr lang="en-US" sz="900" u="none" strike="noStrike" cap="none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u="none" strike="noStrike" cap="none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설계</a:t>
            </a:r>
            <a:endParaRPr sz="12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i="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La </a:t>
            </a:r>
            <a:r>
              <a:rPr lang="en-US" sz="3000" i="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clase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que </a:t>
            </a:r>
            <a:r>
              <a:rPr lang="en-US" sz="3000" i="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planeé</a:t>
            </a:r>
            <a:r>
              <a:rPr lang="en-US" sz="3000" i="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al principio</a:t>
            </a:r>
            <a:endParaRPr sz="3000" i="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165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초기에</a:t>
            </a:r>
            <a:r>
              <a:rPr lang="en-US" sz="165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기획했던</a:t>
            </a:r>
            <a:r>
              <a:rPr lang="en-US" sz="165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수업</a:t>
            </a:r>
            <a:endParaRPr sz="30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640080" y="2466262"/>
            <a:ext cx="82296" cy="82296"/>
          </a:xfrm>
          <a:prstGeom prst="ellipse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7"/>
          <p:cNvSpPr/>
          <p:nvPr/>
        </p:nvSpPr>
        <p:spPr>
          <a:xfrm>
            <a:off x="932685" y="2307551"/>
            <a:ext cx="9876827" cy="65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55000" lnSpcReduction="2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40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Que </a:t>
            </a:r>
            <a:r>
              <a:rPr lang="en-US" sz="40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los</a:t>
            </a:r>
            <a:r>
              <a:rPr lang="en-US" sz="40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40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estudiantes</a:t>
            </a:r>
            <a:r>
              <a:rPr lang="en-US" sz="40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40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crearan</a:t>
            </a:r>
            <a:r>
              <a:rPr lang="en-US" sz="40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40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programas</a:t>
            </a:r>
            <a:r>
              <a:rPr lang="en-US" sz="40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40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automatización</a:t>
            </a:r>
            <a:r>
              <a:rPr lang="en-US" sz="40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40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usando</a:t>
            </a:r>
            <a:r>
              <a:rPr lang="en-US" sz="40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vibe coding</a:t>
            </a:r>
            <a:endParaRPr sz="4000" i="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2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바이브</a:t>
            </a:r>
            <a:r>
              <a:rPr lang="en-US" sz="2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코딩을</a:t>
            </a:r>
            <a:r>
              <a:rPr lang="en-US" sz="2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이용해서</a:t>
            </a:r>
            <a:r>
              <a:rPr lang="en-US" sz="2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학생들이</a:t>
            </a:r>
            <a:r>
              <a:rPr lang="en-US" sz="2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자동화</a:t>
            </a:r>
            <a:r>
              <a:rPr lang="en-US" sz="2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프로그램</a:t>
            </a:r>
            <a:r>
              <a:rPr lang="en-US" sz="2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만들도록</a:t>
            </a:r>
            <a:r>
              <a:rPr lang="en-US" sz="2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하는</a:t>
            </a:r>
            <a:r>
              <a:rPr lang="en-US" sz="2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것</a:t>
            </a:r>
            <a:endParaRPr sz="25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640080" y="3124630"/>
            <a:ext cx="82296" cy="82296"/>
          </a:xfrm>
          <a:prstGeom prst="ellipse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7"/>
          <p:cNvSpPr/>
          <p:nvPr/>
        </p:nvSpPr>
        <p:spPr>
          <a:xfrm>
            <a:off x="932687" y="3042334"/>
            <a:ext cx="9876825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24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Algo </a:t>
            </a:r>
            <a:r>
              <a:rPr lang="en-US" sz="24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como</a:t>
            </a:r>
            <a:r>
              <a:rPr lang="en-US" sz="24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una</a:t>
            </a:r>
            <a:r>
              <a:rPr lang="en-US" sz="24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práctica</a:t>
            </a:r>
            <a:r>
              <a:rPr lang="en-US" sz="24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con </a:t>
            </a:r>
            <a:r>
              <a:rPr lang="en-US" sz="24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pyautogui</a:t>
            </a:r>
            <a:r>
              <a:rPr lang="en-US" sz="24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o selenium </a:t>
            </a:r>
            <a:r>
              <a:rPr lang="en-US" sz="24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en</a:t>
            </a:r>
            <a:r>
              <a:rPr lang="en-US" sz="24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Python</a:t>
            </a:r>
            <a:endParaRPr sz="2400" i="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1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파이썬의</a:t>
            </a:r>
            <a:r>
              <a:rPr lang="en-US" sz="1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pyautogui</a:t>
            </a:r>
            <a:r>
              <a:rPr lang="en-US" sz="1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나 selenium </a:t>
            </a:r>
            <a:r>
              <a:rPr lang="en-US" sz="1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실습정도</a:t>
            </a:r>
            <a:endParaRPr sz="30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09" name="Google Shape;109;p17"/>
          <p:cNvSpPr/>
          <p:nvPr/>
        </p:nvSpPr>
        <p:spPr>
          <a:xfrm>
            <a:off x="640080" y="3782998"/>
            <a:ext cx="82296" cy="82296"/>
          </a:xfrm>
          <a:prstGeom prst="ellipse">
            <a:avLst/>
          </a:prstGeom>
          <a:solidFill>
            <a:srgbClr val="00FF41"/>
          </a:solidFill>
          <a:ln>
            <a:noFill/>
          </a:ln>
        </p:spPr>
        <p:txBody>
          <a:bodyPr spcFirstLastPara="1" wrap="square" lIns="91425" tIns="91425" rIns="91425" bIns="91425" anchor="ctr" anchorCtr="0">
            <a:normAutofit fontScale="2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7"/>
          <p:cNvSpPr/>
          <p:nvPr/>
        </p:nvSpPr>
        <p:spPr>
          <a:xfrm>
            <a:off x="932687" y="3700702"/>
            <a:ext cx="9876825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24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Le </a:t>
            </a:r>
            <a:r>
              <a:rPr lang="en-US" sz="24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pedí</a:t>
            </a:r>
            <a:r>
              <a:rPr lang="en-US" sz="24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a la IA: “Voy a </a:t>
            </a:r>
            <a:r>
              <a:rPr lang="en-US" sz="24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dar</a:t>
            </a:r>
            <a:r>
              <a:rPr lang="en-US" sz="24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esta</a:t>
            </a:r>
            <a:r>
              <a:rPr lang="en-US" sz="24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clase</a:t>
            </a:r>
            <a:r>
              <a:rPr lang="en-US" sz="24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24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hazme</a:t>
            </a:r>
            <a:r>
              <a:rPr lang="en-US" sz="24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un sitio </a:t>
            </a:r>
            <a:r>
              <a:rPr lang="en-US" sz="2400" i="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adecuado</a:t>
            </a:r>
            <a:r>
              <a:rPr lang="en-US" sz="2400" i="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”</a:t>
            </a:r>
            <a:endParaRPr sz="2400" i="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1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AI에게</a:t>
            </a:r>
            <a:r>
              <a:rPr lang="en-US" sz="1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“ ~ </a:t>
            </a:r>
            <a:r>
              <a:rPr lang="en-US" sz="1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이런</a:t>
            </a:r>
            <a:r>
              <a:rPr lang="en-US" sz="1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수업을</a:t>
            </a:r>
            <a:r>
              <a:rPr lang="en-US" sz="1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할 </a:t>
            </a:r>
            <a:r>
              <a:rPr lang="en-US" sz="1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꺼니까</a:t>
            </a:r>
            <a:r>
              <a:rPr lang="en-US" sz="1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적당한</a:t>
            </a:r>
            <a:r>
              <a:rPr lang="en-US" sz="1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사이트</a:t>
            </a:r>
            <a:r>
              <a:rPr lang="en-US" sz="1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만들어줘</a:t>
            </a:r>
            <a:r>
              <a:rPr lang="en-US" sz="15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”</a:t>
            </a:r>
            <a:endParaRPr sz="30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8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Diseño</a:t>
            </a:r>
            <a:r>
              <a:rPr lang="en-US" sz="12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de la </a:t>
            </a:r>
            <a:r>
              <a:rPr lang="en-US" sz="12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clase</a:t>
            </a:r>
            <a:endParaRPr sz="1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수업</a:t>
            </a:r>
            <a:r>
              <a:rPr lang="en-US" sz="9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설계</a:t>
            </a:r>
            <a:endParaRPr sz="1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17" name="Google Shape;117;p18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Booking 1000 Seats Competition</a:t>
            </a:r>
            <a:endParaRPr sz="3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18" name="Google Shape;118;p18"/>
          <p:cNvSpPr/>
          <p:nvPr/>
        </p:nvSpPr>
        <p:spPr>
          <a:xfrm>
            <a:off x="640080" y="2103120"/>
            <a:ext cx="420624" cy="420624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9" name="Google Shape;119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761" y="2157801"/>
            <a:ext cx="311262" cy="311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8"/>
          <p:cNvSpPr/>
          <p:nvPr/>
        </p:nvSpPr>
        <p:spPr>
          <a:xfrm>
            <a:off x="1234440" y="2121408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450"/>
              <a:buFont typeface="Arial"/>
              <a:buNone/>
            </a:pPr>
            <a:r>
              <a:rPr lang="en-US" sz="13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Al </a:t>
            </a:r>
            <a:r>
              <a:rPr lang="en-US" sz="13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hacer</a:t>
            </a:r>
            <a:r>
              <a:rPr lang="en-US" sz="13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3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clic</a:t>
            </a:r>
            <a:r>
              <a:rPr lang="en-US" sz="13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3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en</a:t>
            </a:r>
            <a:r>
              <a:rPr lang="en-US" sz="13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un asiento </a:t>
            </a:r>
            <a:r>
              <a:rPr lang="en-US" sz="13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vacío</a:t>
            </a:r>
            <a:r>
              <a:rPr lang="en-US" sz="13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3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aparece</a:t>
            </a:r>
            <a:r>
              <a:rPr lang="en-US" sz="13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un </a:t>
            </a:r>
            <a:r>
              <a:rPr lang="en-US" sz="13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cuadro</a:t>
            </a:r>
            <a:r>
              <a:rPr lang="en-US" sz="13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para </a:t>
            </a:r>
            <a:r>
              <a:rPr lang="en-US" sz="13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13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3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nombre</a:t>
            </a:r>
            <a:endParaRPr sz="13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450"/>
              <a:buFont typeface="Arial"/>
              <a:buNone/>
            </a:pP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빈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좌석을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클릭하면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이름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입력창이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뜬다</a:t>
            </a:r>
            <a:endParaRPr sz="145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640080" y="2724912"/>
            <a:ext cx="420624" cy="420624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2" name="Google Shape;122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761" y="2779593"/>
            <a:ext cx="311262" cy="311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/>
          <p:nvPr/>
        </p:nvSpPr>
        <p:spPr>
          <a:xfrm>
            <a:off x="1234440" y="2743200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450"/>
              <a:buFont typeface="Arial"/>
              <a:buNone/>
            </a:pPr>
            <a:r>
              <a:rPr lang="en-US" sz="14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Al </a:t>
            </a:r>
            <a:r>
              <a:rPr lang="en-US" sz="14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escribir</a:t>
            </a:r>
            <a:r>
              <a:rPr lang="en-US" sz="14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4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14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4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nombre</a:t>
            </a:r>
            <a:r>
              <a:rPr lang="en-US" sz="14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, ese asiento </a:t>
            </a:r>
            <a:r>
              <a:rPr lang="en-US" sz="14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queda</a:t>
            </a:r>
            <a:r>
              <a:rPr lang="en-US" sz="14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4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reservado</a:t>
            </a:r>
            <a:endParaRPr sz="145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450"/>
              <a:buFont typeface="Arial"/>
              <a:buNone/>
            </a:pP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이름을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입력하면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그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자리가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예매된다</a:t>
            </a:r>
            <a:endParaRPr sz="145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640080" y="3346704"/>
            <a:ext cx="420624" cy="420624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5" name="Google Shape;125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761" y="3401385"/>
            <a:ext cx="311262" cy="311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8"/>
          <p:cNvSpPr/>
          <p:nvPr/>
        </p:nvSpPr>
        <p:spPr>
          <a:xfrm>
            <a:off x="1234440" y="3364992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450"/>
              <a:buFont typeface="Arial"/>
              <a:buNone/>
            </a:pPr>
            <a:r>
              <a:rPr lang="en-US" sz="14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Una </a:t>
            </a:r>
            <a:r>
              <a:rPr lang="en-US" sz="14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tabla</a:t>
            </a:r>
            <a:r>
              <a:rPr lang="en-US" sz="14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14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clasificación</a:t>
            </a:r>
            <a:r>
              <a:rPr lang="en-US" sz="14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4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en</a:t>
            </a:r>
            <a:r>
              <a:rPr lang="en-US" sz="14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vivo </a:t>
            </a:r>
            <a:r>
              <a:rPr lang="en-US" sz="14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muestra</a:t>
            </a:r>
            <a:r>
              <a:rPr lang="en-US" sz="14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4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quién</a:t>
            </a:r>
            <a:r>
              <a:rPr lang="en-US" sz="14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4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reservó</a:t>
            </a:r>
            <a:r>
              <a:rPr lang="en-US" sz="14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4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más</a:t>
            </a:r>
            <a:endParaRPr sz="145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450"/>
              <a:buFont typeface="Arial"/>
              <a:buNone/>
            </a:pP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누가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가장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많이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예매했는지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리더보드로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실시간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경쟁</a:t>
            </a:r>
            <a:endParaRPr sz="145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640080" y="3968496"/>
            <a:ext cx="420624" cy="420624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8" name="Google Shape;128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761" y="4023177"/>
            <a:ext cx="311262" cy="311262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8"/>
          <p:cNvSpPr/>
          <p:nvPr/>
        </p:nvSpPr>
        <p:spPr>
          <a:xfrm>
            <a:off x="1234440" y="3986784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450"/>
              <a:buFont typeface="Arial"/>
              <a:buNone/>
            </a:pPr>
            <a:r>
              <a:rPr lang="en-US" sz="145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“IA, hazlo tú” — creado con un clic de vibe coding</a:t>
            </a:r>
            <a:endParaRPr sz="145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450"/>
              <a:buFont typeface="Arial"/>
              <a:buNone/>
            </a:pPr>
            <a:r>
              <a:rPr lang="en-US" sz="9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AI야 만들어줘,  바이브코딩 딸깍으로 제작</a:t>
            </a:r>
            <a:endParaRPr sz="145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130" name="Google Shape;130;p18"/>
          <p:cNvSpPr/>
          <p:nvPr/>
        </p:nvSpPr>
        <p:spPr>
          <a:xfrm>
            <a:off x="6355080" y="1463040"/>
            <a:ext cx="5586984" cy="3694176"/>
          </a:xfrm>
          <a:prstGeom prst="roundRect">
            <a:avLst>
              <a:gd name="adj" fmla="val 1980"/>
            </a:avLst>
          </a:prstGeom>
          <a:solidFill>
            <a:srgbClr val="0B1510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8"/>
          <p:cNvSpPr/>
          <p:nvPr/>
        </p:nvSpPr>
        <p:spPr>
          <a:xfrm>
            <a:off x="6675120" y="160020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7C93B"/>
                </a:solidFill>
                <a:latin typeface="Arial"/>
                <a:ea typeface="Arial"/>
                <a:cs typeface="Arial"/>
                <a:sym typeface="Arial"/>
              </a:rPr>
              <a:t>BOOKING 1000 SEATS</a:t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/>
          <p:nvPr/>
        </p:nvSpPr>
        <p:spPr>
          <a:xfrm>
            <a:off x="6675120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8"/>
          <p:cNvSpPr/>
          <p:nvPr/>
        </p:nvSpPr>
        <p:spPr>
          <a:xfrm>
            <a:off x="7059168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F4757"/>
          </a:solidFill>
          <a:ln w="9525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8"/>
          <p:cNvSpPr/>
          <p:nvPr/>
        </p:nvSpPr>
        <p:spPr>
          <a:xfrm>
            <a:off x="7443216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8"/>
          <p:cNvSpPr/>
          <p:nvPr/>
        </p:nvSpPr>
        <p:spPr>
          <a:xfrm>
            <a:off x="7827264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8"/>
          <p:cNvSpPr/>
          <p:nvPr/>
        </p:nvSpPr>
        <p:spPr>
          <a:xfrm>
            <a:off x="8211312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8595360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8979408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9363456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8"/>
          <p:cNvSpPr/>
          <p:nvPr/>
        </p:nvSpPr>
        <p:spPr>
          <a:xfrm>
            <a:off x="9747504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F9F43"/>
          </a:solidFill>
          <a:ln w="9525" cap="flat" cmpd="sng">
            <a:solidFill>
              <a:srgbClr val="48DB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8"/>
          <p:cNvSpPr/>
          <p:nvPr/>
        </p:nvSpPr>
        <p:spPr>
          <a:xfrm>
            <a:off x="10131552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8"/>
          <p:cNvSpPr/>
          <p:nvPr/>
        </p:nvSpPr>
        <p:spPr>
          <a:xfrm>
            <a:off x="10515600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8"/>
          <p:cNvSpPr/>
          <p:nvPr/>
        </p:nvSpPr>
        <p:spPr>
          <a:xfrm>
            <a:off x="10899648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48DBFB"/>
          </a:solidFill>
          <a:ln w="9525" cap="flat" cmpd="sng">
            <a:solidFill>
              <a:srgbClr val="54A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8"/>
          <p:cNvSpPr/>
          <p:nvPr/>
        </p:nvSpPr>
        <p:spPr>
          <a:xfrm>
            <a:off x="11283696" y="196596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6675120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8"/>
          <p:cNvSpPr/>
          <p:nvPr/>
        </p:nvSpPr>
        <p:spPr>
          <a:xfrm>
            <a:off x="7059168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8"/>
          <p:cNvSpPr/>
          <p:nvPr/>
        </p:nvSpPr>
        <p:spPr>
          <a:xfrm>
            <a:off x="7443216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7827264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54A0FF"/>
          </a:solidFill>
          <a:ln w="9525" cap="flat" cmpd="sng">
            <a:solidFill>
              <a:srgbClr val="A55E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8"/>
          <p:cNvSpPr/>
          <p:nvPr/>
        </p:nvSpPr>
        <p:spPr>
          <a:xfrm>
            <a:off x="8211312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8595360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8"/>
          <p:cNvSpPr/>
          <p:nvPr/>
        </p:nvSpPr>
        <p:spPr>
          <a:xfrm>
            <a:off x="8979408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A55EEA"/>
          </a:solidFill>
          <a:ln w="9525" cap="flat" cmpd="sng">
            <a:solidFill>
              <a:srgbClr val="FD79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8"/>
          <p:cNvSpPr/>
          <p:nvPr/>
        </p:nvSpPr>
        <p:spPr>
          <a:xfrm>
            <a:off x="9363456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8"/>
          <p:cNvSpPr/>
          <p:nvPr/>
        </p:nvSpPr>
        <p:spPr>
          <a:xfrm>
            <a:off x="9747504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8"/>
          <p:cNvSpPr/>
          <p:nvPr/>
        </p:nvSpPr>
        <p:spPr>
          <a:xfrm>
            <a:off x="10131552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10515600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D79A8"/>
          </a:solidFill>
          <a:ln w="9525" cap="flat" cmpd="sng">
            <a:solidFill>
              <a:srgbClr val="26DE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10899648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8"/>
          <p:cNvSpPr/>
          <p:nvPr/>
        </p:nvSpPr>
        <p:spPr>
          <a:xfrm>
            <a:off x="11283696" y="235000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8"/>
          <p:cNvSpPr/>
          <p:nvPr/>
        </p:nvSpPr>
        <p:spPr>
          <a:xfrm>
            <a:off x="6675120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26DE81"/>
          </a:solidFill>
          <a:ln w="9525" cap="flat" cmpd="sng">
            <a:solidFill>
              <a:srgbClr val="F9CA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8"/>
          <p:cNvSpPr/>
          <p:nvPr/>
        </p:nvSpPr>
        <p:spPr>
          <a:xfrm>
            <a:off x="7059168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9CA24"/>
          </a:solidFill>
          <a:ln w="9525" cap="flat" cmpd="sng">
            <a:solidFill>
              <a:srgbClr val="FF47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8"/>
          <p:cNvSpPr/>
          <p:nvPr/>
        </p:nvSpPr>
        <p:spPr>
          <a:xfrm>
            <a:off x="7443216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F4757"/>
          </a:solidFill>
          <a:ln w="9525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8"/>
          <p:cNvSpPr/>
          <p:nvPr/>
        </p:nvSpPr>
        <p:spPr>
          <a:xfrm>
            <a:off x="7827264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8211312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8"/>
          <p:cNvSpPr/>
          <p:nvPr/>
        </p:nvSpPr>
        <p:spPr>
          <a:xfrm>
            <a:off x="8595360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8"/>
          <p:cNvSpPr/>
          <p:nvPr/>
        </p:nvSpPr>
        <p:spPr>
          <a:xfrm>
            <a:off x="8979408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F9F43"/>
          </a:solidFill>
          <a:ln w="9525" cap="flat" cmpd="sng">
            <a:solidFill>
              <a:srgbClr val="48DB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8"/>
          <p:cNvSpPr/>
          <p:nvPr/>
        </p:nvSpPr>
        <p:spPr>
          <a:xfrm>
            <a:off x="9363456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8"/>
          <p:cNvSpPr/>
          <p:nvPr/>
        </p:nvSpPr>
        <p:spPr>
          <a:xfrm>
            <a:off x="9747504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8"/>
          <p:cNvSpPr/>
          <p:nvPr/>
        </p:nvSpPr>
        <p:spPr>
          <a:xfrm>
            <a:off x="10131552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10515600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48DBFB"/>
          </a:solidFill>
          <a:ln w="9525" cap="flat" cmpd="sng">
            <a:solidFill>
              <a:srgbClr val="54A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8"/>
          <p:cNvSpPr/>
          <p:nvPr/>
        </p:nvSpPr>
        <p:spPr>
          <a:xfrm>
            <a:off x="10899648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54A0FF"/>
          </a:solidFill>
          <a:ln w="9525" cap="flat" cmpd="sng">
            <a:solidFill>
              <a:srgbClr val="A55E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8"/>
          <p:cNvSpPr/>
          <p:nvPr/>
        </p:nvSpPr>
        <p:spPr>
          <a:xfrm>
            <a:off x="11283696" y="2734056"/>
            <a:ext cx="329184" cy="329184"/>
          </a:xfrm>
          <a:prstGeom prst="roundRect">
            <a:avLst>
              <a:gd name="adj" fmla="val 8333"/>
            </a:avLst>
          </a:prstGeom>
          <a:solidFill>
            <a:srgbClr val="A55EEA"/>
          </a:solidFill>
          <a:ln w="9525" cap="flat" cmpd="sng">
            <a:solidFill>
              <a:srgbClr val="FD79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8"/>
          <p:cNvSpPr/>
          <p:nvPr/>
        </p:nvSpPr>
        <p:spPr>
          <a:xfrm>
            <a:off x="6675120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8"/>
          <p:cNvSpPr/>
          <p:nvPr/>
        </p:nvSpPr>
        <p:spPr>
          <a:xfrm>
            <a:off x="7059168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D79A8"/>
          </a:solidFill>
          <a:ln w="9525" cap="flat" cmpd="sng">
            <a:solidFill>
              <a:srgbClr val="26DE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7443216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8"/>
          <p:cNvSpPr/>
          <p:nvPr/>
        </p:nvSpPr>
        <p:spPr>
          <a:xfrm>
            <a:off x="7827264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8"/>
          <p:cNvSpPr/>
          <p:nvPr/>
        </p:nvSpPr>
        <p:spPr>
          <a:xfrm>
            <a:off x="8211312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26DE81"/>
          </a:solidFill>
          <a:ln w="9525" cap="flat" cmpd="sng">
            <a:solidFill>
              <a:srgbClr val="F9CA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8"/>
          <p:cNvSpPr/>
          <p:nvPr/>
        </p:nvSpPr>
        <p:spPr>
          <a:xfrm>
            <a:off x="8595360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8"/>
          <p:cNvSpPr/>
          <p:nvPr/>
        </p:nvSpPr>
        <p:spPr>
          <a:xfrm>
            <a:off x="8979408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8"/>
          <p:cNvSpPr/>
          <p:nvPr/>
        </p:nvSpPr>
        <p:spPr>
          <a:xfrm>
            <a:off x="9363456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8"/>
          <p:cNvSpPr/>
          <p:nvPr/>
        </p:nvSpPr>
        <p:spPr>
          <a:xfrm>
            <a:off x="9747504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9CA24"/>
          </a:solidFill>
          <a:ln w="9525" cap="flat" cmpd="sng">
            <a:solidFill>
              <a:srgbClr val="FF47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8"/>
          <p:cNvSpPr/>
          <p:nvPr/>
        </p:nvSpPr>
        <p:spPr>
          <a:xfrm>
            <a:off x="10131552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F4757"/>
          </a:solidFill>
          <a:ln w="9525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8"/>
          <p:cNvSpPr/>
          <p:nvPr/>
        </p:nvSpPr>
        <p:spPr>
          <a:xfrm>
            <a:off x="10515600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8"/>
          <p:cNvSpPr/>
          <p:nvPr/>
        </p:nvSpPr>
        <p:spPr>
          <a:xfrm>
            <a:off x="10899648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F9F43"/>
          </a:solidFill>
          <a:ln w="9525" cap="flat" cmpd="sng">
            <a:solidFill>
              <a:srgbClr val="48DB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8"/>
          <p:cNvSpPr/>
          <p:nvPr/>
        </p:nvSpPr>
        <p:spPr>
          <a:xfrm>
            <a:off x="11283696" y="3118104"/>
            <a:ext cx="329184" cy="329184"/>
          </a:xfrm>
          <a:prstGeom prst="roundRect">
            <a:avLst>
              <a:gd name="adj" fmla="val 8333"/>
            </a:avLst>
          </a:prstGeom>
          <a:solidFill>
            <a:srgbClr val="48DBFB"/>
          </a:solidFill>
          <a:ln w="9525" cap="flat" cmpd="sng">
            <a:solidFill>
              <a:srgbClr val="54A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8"/>
          <p:cNvSpPr/>
          <p:nvPr/>
        </p:nvSpPr>
        <p:spPr>
          <a:xfrm>
            <a:off x="6675120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8"/>
          <p:cNvSpPr/>
          <p:nvPr/>
        </p:nvSpPr>
        <p:spPr>
          <a:xfrm>
            <a:off x="7059168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54A0FF"/>
          </a:solidFill>
          <a:ln w="9525" cap="flat" cmpd="sng">
            <a:solidFill>
              <a:srgbClr val="A55E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8"/>
          <p:cNvSpPr/>
          <p:nvPr/>
        </p:nvSpPr>
        <p:spPr>
          <a:xfrm>
            <a:off x="7443216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7827264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A55EEA"/>
          </a:solidFill>
          <a:ln w="9525" cap="flat" cmpd="sng">
            <a:solidFill>
              <a:srgbClr val="FD79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8"/>
          <p:cNvSpPr/>
          <p:nvPr/>
        </p:nvSpPr>
        <p:spPr>
          <a:xfrm>
            <a:off x="8211312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8"/>
          <p:cNvSpPr/>
          <p:nvPr/>
        </p:nvSpPr>
        <p:spPr>
          <a:xfrm>
            <a:off x="8595360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8"/>
          <p:cNvSpPr/>
          <p:nvPr/>
        </p:nvSpPr>
        <p:spPr>
          <a:xfrm>
            <a:off x="8979408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8"/>
          <p:cNvSpPr/>
          <p:nvPr/>
        </p:nvSpPr>
        <p:spPr>
          <a:xfrm>
            <a:off x="9363456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9747504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8"/>
          <p:cNvSpPr/>
          <p:nvPr/>
        </p:nvSpPr>
        <p:spPr>
          <a:xfrm>
            <a:off x="10131552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8"/>
          <p:cNvSpPr/>
          <p:nvPr/>
        </p:nvSpPr>
        <p:spPr>
          <a:xfrm>
            <a:off x="10515600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8"/>
          <p:cNvSpPr/>
          <p:nvPr/>
        </p:nvSpPr>
        <p:spPr>
          <a:xfrm>
            <a:off x="10899648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D79A8"/>
          </a:solidFill>
          <a:ln w="9525" cap="flat" cmpd="sng">
            <a:solidFill>
              <a:srgbClr val="26DE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8"/>
          <p:cNvSpPr/>
          <p:nvPr/>
        </p:nvSpPr>
        <p:spPr>
          <a:xfrm>
            <a:off x="11283696" y="3502152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8"/>
          <p:cNvSpPr/>
          <p:nvPr/>
        </p:nvSpPr>
        <p:spPr>
          <a:xfrm>
            <a:off x="6675120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26DE81"/>
          </a:solidFill>
          <a:ln w="9525" cap="flat" cmpd="sng">
            <a:solidFill>
              <a:srgbClr val="F9CA2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8"/>
          <p:cNvSpPr/>
          <p:nvPr/>
        </p:nvSpPr>
        <p:spPr>
          <a:xfrm>
            <a:off x="7059168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8"/>
          <p:cNvSpPr/>
          <p:nvPr/>
        </p:nvSpPr>
        <p:spPr>
          <a:xfrm>
            <a:off x="7443216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9CA24"/>
          </a:solidFill>
          <a:ln w="9525" cap="flat" cmpd="sng">
            <a:solidFill>
              <a:srgbClr val="FF47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8"/>
          <p:cNvSpPr/>
          <p:nvPr/>
        </p:nvSpPr>
        <p:spPr>
          <a:xfrm>
            <a:off x="7827264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F4757"/>
          </a:solidFill>
          <a:ln w="9525" cap="flat" cmpd="sng">
            <a:solidFill>
              <a:srgbClr val="FF9F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8"/>
          <p:cNvSpPr/>
          <p:nvPr/>
        </p:nvSpPr>
        <p:spPr>
          <a:xfrm>
            <a:off x="8211312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F9F43"/>
          </a:solidFill>
          <a:ln w="9525" cap="flat" cmpd="sng">
            <a:solidFill>
              <a:srgbClr val="48DBF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8"/>
          <p:cNvSpPr/>
          <p:nvPr/>
        </p:nvSpPr>
        <p:spPr>
          <a:xfrm>
            <a:off x="8595360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48DBFB"/>
          </a:solidFill>
          <a:ln w="9525" cap="flat" cmpd="sng">
            <a:solidFill>
              <a:srgbClr val="54A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8"/>
          <p:cNvSpPr/>
          <p:nvPr/>
        </p:nvSpPr>
        <p:spPr>
          <a:xfrm>
            <a:off x="8979408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8"/>
          <p:cNvSpPr/>
          <p:nvPr/>
        </p:nvSpPr>
        <p:spPr>
          <a:xfrm>
            <a:off x="9363456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8"/>
          <p:cNvSpPr/>
          <p:nvPr/>
        </p:nvSpPr>
        <p:spPr>
          <a:xfrm>
            <a:off x="9747504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54A0FF"/>
          </a:solidFill>
          <a:ln w="9525" cap="flat" cmpd="sng">
            <a:solidFill>
              <a:srgbClr val="A55EEA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8"/>
          <p:cNvSpPr/>
          <p:nvPr/>
        </p:nvSpPr>
        <p:spPr>
          <a:xfrm>
            <a:off x="10131552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8"/>
          <p:cNvSpPr/>
          <p:nvPr/>
        </p:nvSpPr>
        <p:spPr>
          <a:xfrm>
            <a:off x="10515600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8"/>
          <p:cNvSpPr/>
          <p:nvPr/>
        </p:nvSpPr>
        <p:spPr>
          <a:xfrm>
            <a:off x="10899648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8"/>
          <p:cNvSpPr/>
          <p:nvPr/>
        </p:nvSpPr>
        <p:spPr>
          <a:xfrm>
            <a:off x="11283696" y="3886200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8"/>
          <p:cNvSpPr/>
          <p:nvPr/>
        </p:nvSpPr>
        <p:spPr>
          <a:xfrm>
            <a:off x="6675120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8"/>
          <p:cNvSpPr/>
          <p:nvPr/>
        </p:nvSpPr>
        <p:spPr>
          <a:xfrm>
            <a:off x="7059168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8"/>
          <p:cNvSpPr/>
          <p:nvPr/>
        </p:nvSpPr>
        <p:spPr>
          <a:xfrm>
            <a:off x="7443216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8"/>
          <p:cNvSpPr/>
          <p:nvPr/>
        </p:nvSpPr>
        <p:spPr>
          <a:xfrm>
            <a:off x="7827264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8"/>
          <p:cNvSpPr/>
          <p:nvPr/>
        </p:nvSpPr>
        <p:spPr>
          <a:xfrm>
            <a:off x="8211312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8"/>
          <p:cNvSpPr/>
          <p:nvPr/>
        </p:nvSpPr>
        <p:spPr>
          <a:xfrm>
            <a:off x="8595360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8"/>
          <p:cNvSpPr/>
          <p:nvPr/>
        </p:nvSpPr>
        <p:spPr>
          <a:xfrm>
            <a:off x="8979408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8"/>
          <p:cNvSpPr/>
          <p:nvPr/>
        </p:nvSpPr>
        <p:spPr>
          <a:xfrm>
            <a:off x="9363456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A55EEA"/>
          </a:solidFill>
          <a:ln w="9525" cap="flat" cmpd="sng">
            <a:solidFill>
              <a:srgbClr val="FD79A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9747504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8"/>
          <p:cNvSpPr/>
          <p:nvPr/>
        </p:nvSpPr>
        <p:spPr>
          <a:xfrm>
            <a:off x="10131552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8"/>
          <p:cNvSpPr/>
          <p:nvPr/>
        </p:nvSpPr>
        <p:spPr>
          <a:xfrm>
            <a:off x="10515600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8"/>
          <p:cNvSpPr/>
          <p:nvPr/>
        </p:nvSpPr>
        <p:spPr>
          <a:xfrm>
            <a:off x="10899648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FD79A8"/>
          </a:solidFill>
          <a:ln w="9525" cap="flat" cmpd="sng">
            <a:solidFill>
              <a:srgbClr val="26DE8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8"/>
          <p:cNvSpPr/>
          <p:nvPr/>
        </p:nvSpPr>
        <p:spPr>
          <a:xfrm>
            <a:off x="11283696" y="4270248"/>
            <a:ext cx="329184" cy="329184"/>
          </a:xfrm>
          <a:prstGeom prst="roundRect">
            <a:avLst>
              <a:gd name="adj" fmla="val 8333"/>
            </a:avLst>
          </a:prstGeom>
          <a:solidFill>
            <a:srgbClr val="0A1A0A"/>
          </a:solidFill>
          <a:ln w="9525" cap="flat" cmpd="sng">
            <a:solidFill>
              <a:srgbClr val="00CC3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70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8"/>
          <p:cNvSpPr/>
          <p:nvPr/>
        </p:nvSpPr>
        <p:spPr>
          <a:xfrm>
            <a:off x="640080" y="4591594"/>
            <a:ext cx="420624" cy="420624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fontScale="6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4" name="Google Shape;224;p1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4761" y="4646275"/>
            <a:ext cx="311262" cy="31126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18"/>
          <p:cNvSpPr/>
          <p:nvPr/>
        </p:nvSpPr>
        <p:spPr>
          <a:xfrm>
            <a:off x="1234440" y="4609882"/>
            <a:ext cx="44348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450"/>
              <a:buFont typeface="Arial"/>
              <a:buNone/>
            </a:pPr>
            <a:r>
              <a:rPr lang="en-US" sz="1450" u="sng" dirty="0">
                <a:solidFill>
                  <a:schemeClr val="hlink"/>
                </a:solidFill>
                <a:latin typeface="Jua"/>
                <a:ea typeface="Jua"/>
                <a:cs typeface="Jua"/>
                <a:sym typeface="Jua"/>
                <a:hlinkClick r:id="rId4"/>
              </a:rPr>
              <a:t>https://macro-classroom.shk-8b6.workers.dev/</a:t>
            </a:r>
            <a:endParaRPr sz="145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9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 b="1" u="none" strike="noStrike" cap="none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Diseño de la clase</a:t>
            </a:r>
            <a:endParaRPr sz="1200" u="none" strike="noStrike" cap="none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 b="1" u="none" strike="noStrike" cap="none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수업 설계</a:t>
            </a:r>
            <a:endParaRPr sz="1200" u="none" strike="noStrike" cap="none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32" name="Google Shape;232;p19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b="1" u="none" strike="noStrike" cap="none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Desarrollo de la clase: Booking 1000 Seats Competition</a:t>
            </a:r>
            <a:endParaRPr sz="3000" u="none" strike="noStrike" cap="none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1650" b="1" u="none" strike="noStrike" cap="none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Booking 1000 Seats Competition 수업 진행</a:t>
            </a:r>
            <a:endParaRPr sz="3000" u="none" strike="noStrike" cap="none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33" name="Google Shape;233;p19"/>
          <p:cNvSpPr/>
          <p:nvPr/>
        </p:nvSpPr>
        <p:spPr>
          <a:xfrm>
            <a:off x="640079" y="2174747"/>
            <a:ext cx="9592492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2000" u="none" strike="noStrike" cap="none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Se les muestra a los estudiantes el programa de automatización en Python preparado de antemano</a:t>
            </a:r>
            <a:endParaRPr sz="2000" u="none" strike="noStrike" cap="none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1100" u="none" strike="noStrike" cap="none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미리 준비해 놓은 파이썬 자동화 프로그램을 학생들에게 공개</a:t>
            </a:r>
            <a:endParaRPr sz="2000" u="none" strike="noStrike" cap="none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34" name="Google Shape;234;p19"/>
          <p:cNvSpPr/>
          <p:nvPr/>
        </p:nvSpPr>
        <p:spPr>
          <a:xfrm>
            <a:off x="640080" y="2739190"/>
            <a:ext cx="10362895" cy="9519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2000" u="none" strike="noStrike" cap="none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“Ahora ustedes le enseñan esto a la IA y crean, por su cuenta, un programa más rápido~”</a:t>
            </a:r>
            <a:endParaRPr sz="2000" u="none" strike="noStrike" cap="none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1100" u="none" strike="noStrike" cap="none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자 이제 너희들이 이걸 AI에게 학습시켜서 알아서 빠른 자동화 프로그램을 만들어보거라~</a:t>
            </a:r>
            <a:endParaRPr sz="2000" u="none" strike="noStrike" cap="none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35" name="Google Shape;235;p19"/>
          <p:cNvSpPr/>
          <p:nvPr/>
        </p:nvSpPr>
        <p:spPr>
          <a:xfrm>
            <a:off x="640079" y="3792706"/>
            <a:ext cx="903250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2000" u="none" strike="noStrike" cap="none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“Más tarde competimos a ver quién reserva más rápido~”</a:t>
            </a:r>
            <a:endParaRPr sz="2000" u="none" strike="noStrike" cap="none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1100" u="none" strike="noStrike" cap="none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이따가 누가 더 예매 빠르게 많이 하는지 시합해보자~</a:t>
            </a:r>
            <a:endParaRPr sz="2000" u="none" strike="noStrike" cap="none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Escenas del comienzo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초반 풍경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42" name="Google Shape;242;p20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Al principio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todo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salió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como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estaba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planeado</a:t>
            </a:r>
            <a:endParaRPr sz="3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초반에는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의도대로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흘러감</a:t>
            </a:r>
            <a:endParaRPr sz="3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43" name="Google Shape;243;p20"/>
          <p:cNvSpPr/>
          <p:nvPr/>
        </p:nvSpPr>
        <p:spPr>
          <a:xfrm>
            <a:off x="640080" y="214884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0"/>
          <p:cNvSpPr/>
          <p:nvPr/>
        </p:nvSpPr>
        <p:spPr>
          <a:xfrm>
            <a:off x="960120" y="2514600"/>
            <a:ext cx="685800" cy="68580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45" name="Google Shape;245;p2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9274" y="2603754"/>
            <a:ext cx="507492" cy="507492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Google Shape;246;p20"/>
          <p:cNvSpPr/>
          <p:nvPr/>
        </p:nvSpPr>
        <p:spPr>
          <a:xfrm>
            <a:off x="932688" y="3383280"/>
            <a:ext cx="280812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00"/>
              <a:buFont typeface="Arial"/>
              <a:buNone/>
            </a:pP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Tiempo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espera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demasiado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corto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00"/>
              <a:buFont typeface="Arial"/>
              <a:buNone/>
            </a:pPr>
            <a:r>
              <a:rPr lang="en-US" sz="11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너무</a:t>
            </a:r>
            <a:r>
              <a:rPr lang="en-US" sz="11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짧은</a:t>
            </a:r>
            <a:r>
              <a:rPr lang="en-US" sz="11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대기시간</a:t>
            </a:r>
            <a:endParaRPr sz="19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47" name="Google Shape;247;p20"/>
          <p:cNvSpPr/>
          <p:nvPr/>
        </p:nvSpPr>
        <p:spPr>
          <a:xfrm>
            <a:off x="932688" y="3931920"/>
            <a:ext cx="280812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Fallaban la reserva sin tiempo ni para escribir el nombre</a:t>
            </a:r>
            <a:endParaRPr sz="14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400"/>
              <a:buFont typeface="Arial"/>
              <a:buNone/>
            </a:pPr>
            <a:r>
              <a:rPr lang="en-US" sz="9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이름을 입력할 시간도 없이 예매 실패</a:t>
            </a:r>
            <a:endParaRPr sz="14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48" name="Google Shape;248;p20"/>
          <p:cNvSpPr/>
          <p:nvPr/>
        </p:nvSpPr>
        <p:spPr>
          <a:xfrm>
            <a:off x="4399178" y="214884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0"/>
          <p:cNvSpPr/>
          <p:nvPr/>
        </p:nvSpPr>
        <p:spPr>
          <a:xfrm>
            <a:off x="4719218" y="2514600"/>
            <a:ext cx="685800" cy="68580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0" name="Google Shape;250;p2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08372" y="2603754"/>
            <a:ext cx="507492" cy="507492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/>
          <p:nvPr/>
        </p:nvSpPr>
        <p:spPr>
          <a:xfrm>
            <a:off x="4691786" y="3383280"/>
            <a:ext cx="2808122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00"/>
              <a:buFont typeface="Arial"/>
              <a:buNone/>
            </a:pP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Clics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en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lugar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equivocado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00"/>
              <a:buFont typeface="Arial"/>
              <a:buNone/>
            </a:pP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엉뚱한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곳 </a:t>
            </a:r>
            <a:r>
              <a:rPr lang="en-US" sz="1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클릭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52" name="Google Shape;252;p20"/>
          <p:cNvSpPr/>
          <p:nvPr/>
        </p:nvSpPr>
        <p:spPr>
          <a:xfrm>
            <a:off x="4691786" y="3931920"/>
            <a:ext cx="280812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Seguían fallando al pulsar fuera de los asientos vacíos</a:t>
            </a:r>
            <a:endParaRPr sz="14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400"/>
              <a:buFont typeface="Arial"/>
              <a:buNone/>
            </a:pPr>
            <a:r>
              <a:rPr lang="en-US" sz="9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빈 좌석이 아닌 곳을 눌러 계속 실패</a:t>
            </a:r>
            <a:endParaRPr sz="14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53" name="Google Shape;253;p20"/>
          <p:cNvSpPr/>
          <p:nvPr/>
        </p:nvSpPr>
        <p:spPr>
          <a:xfrm>
            <a:off x="8158277" y="2148840"/>
            <a:ext cx="3393338" cy="2834640"/>
          </a:xfrm>
          <a:prstGeom prst="roundRect">
            <a:avLst>
              <a:gd name="adj" fmla="val 2581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0"/>
          <p:cNvSpPr/>
          <p:nvPr/>
        </p:nvSpPr>
        <p:spPr>
          <a:xfrm>
            <a:off x="8478317" y="2514600"/>
            <a:ext cx="685800" cy="68580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55" name="Google Shape;255;p2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67471" y="2603754"/>
            <a:ext cx="507492" cy="507492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0"/>
          <p:cNvSpPr/>
          <p:nvPr/>
        </p:nvSpPr>
        <p:spPr>
          <a:xfrm>
            <a:off x="8450884" y="3383280"/>
            <a:ext cx="3070555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100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navegadores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abiertos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a la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vez</a:t>
            </a:r>
            <a:endParaRPr lang="en-US" sz="1600" dirty="0">
              <a:solidFill>
                <a:srgbClr val="E9F7EC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00"/>
              <a:buFont typeface="Arial"/>
              <a:buNone/>
            </a:pPr>
            <a:r>
              <a:rPr lang="ko-KR" altLang="en-US" sz="1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브라우저 </a:t>
            </a:r>
            <a:r>
              <a:rPr lang="en-US" altLang="ko-KR" sz="1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100</a:t>
            </a:r>
            <a:r>
              <a:rPr lang="ko-KR" altLang="en-US" sz="1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개 동시 실행</a:t>
            </a:r>
            <a:endParaRPr lang="ko-KR" altLang="en-US" sz="17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57" name="Google Shape;257;p20"/>
          <p:cNvSpPr/>
          <p:nvPr/>
        </p:nvSpPr>
        <p:spPr>
          <a:xfrm>
            <a:off x="8450885" y="3931920"/>
            <a:ext cx="2808122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400"/>
              <a:buFont typeface="Arial"/>
              <a:buNone/>
            </a:pPr>
            <a:r>
              <a:rPr lang="en-US" sz="14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Abrirlos</a:t>
            </a:r>
            <a:r>
              <a:rPr lang="en-US" sz="14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era </a:t>
            </a:r>
            <a:r>
              <a:rPr lang="en-US" sz="14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automático</a:t>
            </a:r>
            <a:r>
              <a:rPr lang="en-US" sz="14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; </a:t>
            </a:r>
            <a:r>
              <a:rPr lang="en-US" sz="14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cerrarlos</a:t>
            </a:r>
            <a:r>
              <a:rPr lang="en-US" sz="14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, manual </a:t>
            </a:r>
            <a:r>
              <a:rPr lang="en-US" sz="14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todo</a:t>
            </a:r>
            <a:r>
              <a:rPr lang="en-US" sz="14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4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14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día</a:t>
            </a:r>
            <a:endParaRPr sz="14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400"/>
              <a:buFont typeface="Arial"/>
              <a:buNone/>
            </a:pP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여는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건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자동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닫는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건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하루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종일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수동</a:t>
            </a:r>
            <a:endParaRPr sz="14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58" name="Google Shape;258;p20"/>
          <p:cNvSpPr/>
          <p:nvPr/>
        </p:nvSpPr>
        <p:spPr>
          <a:xfrm>
            <a:off x="640080" y="1508760"/>
            <a:ext cx="10881360" cy="521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Al principio </a:t>
            </a:r>
            <a:r>
              <a:rPr lang="en-US" sz="18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hubo</a:t>
            </a:r>
            <a:r>
              <a:rPr lang="en-US" sz="18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muchos</a:t>
            </a:r>
            <a:r>
              <a:rPr lang="en-US" sz="18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errores</a:t>
            </a:r>
            <a:r>
              <a:rPr lang="en-US" sz="18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típicos</a:t>
            </a:r>
            <a:r>
              <a:rPr lang="en-US" sz="18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18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estudiantes</a:t>
            </a:r>
            <a:endParaRPr sz="18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Arial"/>
              <a:buNone/>
            </a:pPr>
            <a:r>
              <a:rPr lang="en-US" sz="99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초반에는</a:t>
            </a:r>
            <a:r>
              <a:rPr lang="en-US" sz="99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ko-KR" altLang="en-US" sz="99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중학교 </a:t>
            </a:r>
            <a:r>
              <a:rPr lang="en-US" sz="99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학생들이</a:t>
            </a:r>
            <a:r>
              <a:rPr lang="en-US" sz="99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할 </a:t>
            </a:r>
            <a:r>
              <a:rPr lang="en-US" sz="99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만한</a:t>
            </a:r>
            <a:r>
              <a:rPr lang="en-US" sz="99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9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실수들이</a:t>
            </a:r>
            <a:r>
              <a:rPr lang="en-US" sz="99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9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많이</a:t>
            </a:r>
            <a:r>
              <a:rPr lang="en-US" sz="99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ko-KR" altLang="en-US" sz="99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발생</a:t>
            </a:r>
            <a:endParaRPr sz="18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Comienza</a:t>
            </a:r>
            <a:r>
              <a:rPr lang="en-US" sz="12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la </a:t>
            </a:r>
            <a:r>
              <a:rPr lang="en-US" sz="12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batalla</a:t>
            </a:r>
            <a:endParaRPr sz="1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공방전</a:t>
            </a:r>
            <a:r>
              <a:rPr lang="en-US" sz="9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시작</a:t>
            </a:r>
            <a:endParaRPr sz="1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65" name="Google Shape;265;p2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Poco a poco,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los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estudiantes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buscan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otros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métodos</a:t>
            </a:r>
            <a:endParaRPr sz="3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슬슬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다른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방법을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찾는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학생들</a:t>
            </a:r>
            <a:endParaRPr sz="3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66" name="Google Shape;266;p21"/>
          <p:cNvSpPr/>
          <p:nvPr/>
        </p:nvSpPr>
        <p:spPr>
          <a:xfrm>
            <a:off x="640080" y="2057400"/>
            <a:ext cx="5227168" cy="2286000"/>
          </a:xfrm>
          <a:prstGeom prst="roundRect">
            <a:avLst>
              <a:gd name="adj" fmla="val 3200"/>
            </a:avLst>
          </a:prstGeom>
          <a:solidFill>
            <a:srgbClr val="0B1510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1"/>
          <p:cNvSpPr/>
          <p:nvPr/>
        </p:nvSpPr>
        <p:spPr>
          <a:xfrm>
            <a:off x="1005840" y="2423160"/>
            <a:ext cx="658368" cy="658368"/>
          </a:xfrm>
          <a:prstGeom prst="ellipse">
            <a:avLst/>
          </a:prstGeom>
          <a:solidFill>
            <a:srgbClr val="3A0F17"/>
          </a:solidFill>
          <a:ln w="12700" cap="flat" cmpd="sng">
            <a:solidFill>
              <a:srgbClr val="3A0F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68" name="Google Shape;268;p2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1428" y="2508748"/>
            <a:ext cx="487192" cy="487192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1"/>
          <p:cNvSpPr/>
          <p:nvPr/>
        </p:nvSpPr>
        <p:spPr>
          <a:xfrm>
            <a:off x="1828800" y="2487168"/>
            <a:ext cx="376412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En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cierto</a:t>
            </a: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momento</a:t>
            </a: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aun</a:t>
            </a: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pulsando</a:t>
            </a: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STOP, las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reservas</a:t>
            </a: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seguían</a:t>
            </a: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empezando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9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어느</a:t>
            </a:r>
            <a:r>
              <a:rPr lang="en-US" sz="9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순간부터</a:t>
            </a:r>
            <a:r>
              <a:rPr lang="en-US" sz="9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STOP을</a:t>
            </a:r>
            <a:r>
              <a:rPr lang="en-US" sz="9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눌렀는데</a:t>
            </a:r>
            <a:r>
              <a:rPr lang="en-US" sz="9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예매가</a:t>
            </a:r>
            <a:r>
              <a:rPr lang="en-US" sz="9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시작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1005840" y="3200400"/>
            <a:ext cx="44956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50"/>
              <a:buFont typeface="Arial"/>
              <a:buNone/>
            </a:pPr>
            <a:r>
              <a:rPr lang="en-US" sz="125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Habíamos</a:t>
            </a:r>
            <a:r>
              <a:rPr lang="en-US" sz="125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5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bloqueado</a:t>
            </a:r>
            <a:r>
              <a:rPr lang="en-US" sz="125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la </a:t>
            </a:r>
            <a:r>
              <a:rPr lang="en-US" sz="125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reserva</a:t>
            </a:r>
            <a:r>
              <a:rPr lang="en-US" sz="125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125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pero</a:t>
            </a:r>
            <a:r>
              <a:rPr lang="en-US" sz="125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5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apareció</a:t>
            </a:r>
            <a:r>
              <a:rPr lang="en-US" sz="125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un </a:t>
            </a:r>
            <a:r>
              <a:rPr lang="en-US" sz="125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estudiante</a:t>
            </a:r>
            <a:r>
              <a:rPr lang="en-US" sz="125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que la </a:t>
            </a:r>
            <a:r>
              <a:rPr lang="en-US" sz="125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burló</a:t>
            </a:r>
            <a:endParaRPr sz="125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50"/>
              <a:buFont typeface="Arial"/>
              <a:buNone/>
            </a:pP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분명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예매를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잠가놨는데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그걸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뚫고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예매를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계속하는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학생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등장</a:t>
            </a:r>
            <a:endParaRPr sz="125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6324448" y="2057400"/>
            <a:ext cx="5227168" cy="2286000"/>
          </a:xfrm>
          <a:prstGeom prst="roundRect">
            <a:avLst>
              <a:gd name="adj" fmla="val 3200"/>
            </a:avLst>
          </a:prstGeom>
          <a:solidFill>
            <a:srgbClr val="0B1510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21"/>
          <p:cNvSpPr/>
          <p:nvPr/>
        </p:nvSpPr>
        <p:spPr>
          <a:xfrm>
            <a:off x="6690208" y="2423160"/>
            <a:ext cx="658368" cy="658368"/>
          </a:xfrm>
          <a:prstGeom prst="ellipse">
            <a:avLst/>
          </a:prstGeom>
          <a:solidFill>
            <a:srgbClr val="3A0F17"/>
          </a:solidFill>
          <a:ln w="12700" cap="flat" cmpd="sng">
            <a:solidFill>
              <a:srgbClr val="3A0F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73" name="Google Shape;273;p21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75795" y="2508748"/>
            <a:ext cx="487192" cy="487192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1"/>
          <p:cNvSpPr/>
          <p:nvPr/>
        </p:nvSpPr>
        <p:spPr>
          <a:xfrm>
            <a:off x="7513168" y="2573073"/>
            <a:ext cx="3764128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Sobrescriben</a:t>
            </a: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asiento de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otro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Arial"/>
              <a:buNone/>
            </a:pPr>
            <a:r>
              <a:rPr lang="en-US" sz="9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남의</a:t>
            </a:r>
            <a:r>
              <a:rPr lang="en-US" sz="9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좌석을</a:t>
            </a:r>
            <a:r>
              <a:rPr lang="en-US" sz="9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덮어쓴다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75" name="Google Shape;275;p21"/>
          <p:cNvSpPr/>
          <p:nvPr/>
        </p:nvSpPr>
        <p:spPr>
          <a:xfrm>
            <a:off x="6690208" y="3200400"/>
            <a:ext cx="449564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50"/>
              <a:buFont typeface="Arial"/>
              <a:buNone/>
            </a:pPr>
            <a:r>
              <a:rPr lang="en-US" sz="125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Reemplazan</a:t>
            </a:r>
            <a:r>
              <a:rPr lang="en-US" sz="125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con </a:t>
            </a:r>
            <a:r>
              <a:rPr lang="en-US" sz="125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su</a:t>
            </a:r>
            <a:r>
              <a:rPr lang="en-US" sz="125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5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nombre</a:t>
            </a:r>
            <a:r>
              <a:rPr lang="en-US" sz="125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un asiento </a:t>
            </a:r>
            <a:r>
              <a:rPr lang="en-US" sz="125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ya</a:t>
            </a:r>
            <a:r>
              <a:rPr lang="en-US" sz="125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5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reservado</a:t>
            </a:r>
            <a:r>
              <a:rPr lang="en-US" sz="125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5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por</a:t>
            </a:r>
            <a:r>
              <a:rPr lang="en-US" sz="125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5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otro</a:t>
            </a:r>
            <a:r>
              <a:rPr lang="en-US" sz="125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5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estudiante</a:t>
            </a:r>
            <a:endParaRPr sz="125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50"/>
              <a:buFont typeface="Arial"/>
              <a:buNone/>
            </a:pP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이미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다른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학생이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예매한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자리를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자신의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이름으로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덮어써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버림</a:t>
            </a:r>
            <a:endParaRPr sz="125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76" name="Google Shape;276;p21"/>
          <p:cNvSpPr/>
          <p:nvPr/>
        </p:nvSpPr>
        <p:spPr>
          <a:xfrm>
            <a:off x="640232" y="5146147"/>
            <a:ext cx="10911535" cy="1417320"/>
          </a:xfrm>
          <a:prstGeom prst="roundRect">
            <a:avLst>
              <a:gd name="adj" fmla="val 5161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21"/>
          <p:cNvSpPr/>
          <p:nvPr/>
        </p:nvSpPr>
        <p:spPr>
          <a:xfrm>
            <a:off x="1005839" y="5331674"/>
            <a:ext cx="8555255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Profe: “¿Qué es esto? ¿Cómo lo hicieron?”</a:t>
            </a:r>
            <a:endParaRPr sz="24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400"/>
              <a:buFont typeface="Arial"/>
              <a:buNone/>
            </a:pPr>
            <a:r>
              <a:rPr lang="en-US" sz="132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정보쌤 : “ 야 이거 뭐냐, 이거 어떻게 했냐? ”</a:t>
            </a:r>
            <a:endParaRPr sz="24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78" name="Google Shape;278;p21"/>
          <p:cNvSpPr/>
          <p:nvPr/>
        </p:nvSpPr>
        <p:spPr>
          <a:xfrm>
            <a:off x="1005840" y="5854566"/>
            <a:ext cx="69494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Estudiantes: “¡Hackeamos el sitio del profe~!”</a:t>
            </a:r>
            <a:endParaRPr sz="24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2400"/>
              <a:buFont typeface="Arial"/>
              <a:buNone/>
            </a:pPr>
            <a:r>
              <a:rPr lang="en-US" sz="132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학생들 : “ 선생님 사이트 해킹했다~ ”</a:t>
            </a:r>
            <a:endParaRPr sz="24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79" name="Google Shape;279;p21"/>
          <p:cNvSpPr/>
          <p:nvPr/>
        </p:nvSpPr>
        <p:spPr>
          <a:xfrm>
            <a:off x="670407" y="4459866"/>
            <a:ext cx="10881360" cy="620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→ Los estudiantes empiezan a analizar con IA las vulnerabilidades del sitio</a:t>
            </a:r>
            <a:endParaRPr sz="2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-&gt; 학생들이 AI로  사이트의 취약점을 분석하기 시작</a:t>
            </a:r>
            <a:endParaRPr sz="2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2"/>
          <p:cNvSpPr/>
          <p:nvPr/>
        </p:nvSpPr>
        <p:spPr>
          <a:xfrm>
            <a:off x="5592928" y="2286000"/>
            <a:ext cx="1005840" cy="100584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86" name="Google Shape;286;p22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3687" y="2416759"/>
            <a:ext cx="744322" cy="744322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2"/>
          <p:cNvSpPr/>
          <p:nvPr/>
        </p:nvSpPr>
        <p:spPr>
          <a:xfrm>
            <a:off x="0" y="3886200"/>
            <a:ext cx="1219169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Comienza</a:t>
            </a:r>
            <a:r>
              <a:rPr lang="en-US" sz="3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la </a:t>
            </a:r>
            <a:r>
              <a:rPr lang="en-US" sz="3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batalla</a:t>
            </a:r>
            <a:endParaRPr sz="34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187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공방전</a:t>
            </a:r>
            <a:r>
              <a:rPr lang="en-US" sz="187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7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시작</a:t>
            </a:r>
            <a:endParaRPr sz="34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3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Ronda 1 · Causa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1라운드 · 원인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94" name="Google Shape;294;p23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Causa: el sitio se hizo con un clic de IA, sin revisión</a:t>
            </a:r>
            <a:endParaRPr sz="3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165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원인 : 사이트 제작을 AI 딸깍으로 만들고 검토 X</a:t>
            </a:r>
            <a:endParaRPr sz="3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95" name="Google Shape;295;p23"/>
          <p:cNvSpPr/>
          <p:nvPr/>
        </p:nvSpPr>
        <p:spPr>
          <a:xfrm>
            <a:off x="640080" y="237744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23"/>
          <p:cNvSpPr/>
          <p:nvPr/>
        </p:nvSpPr>
        <p:spPr>
          <a:xfrm>
            <a:off x="1485900" y="2697480"/>
            <a:ext cx="640080" cy="64008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97" name="Google Shape;297;p2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69110" y="27806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3"/>
          <p:cNvSpPr/>
          <p:nvPr/>
        </p:nvSpPr>
        <p:spPr>
          <a:xfrm>
            <a:off x="777240" y="347472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Herramientas de desarrollador (F12)</a:t>
            </a:r>
            <a:endParaRPr sz="13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300"/>
              <a:buFont typeface="Arial"/>
              <a:buNone/>
            </a:pPr>
            <a:r>
              <a:rPr lang="en-US" sz="9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F12 개발자 도구</a:t>
            </a:r>
            <a:endParaRPr sz="13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299" name="Google Shape;299;p23"/>
          <p:cNvSpPr/>
          <p:nvPr/>
        </p:nvSpPr>
        <p:spPr>
          <a:xfrm>
            <a:off x="777240" y="3913632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Las solicitudes quedaban expuestas en la pestaña Red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네트워크 탭에 요청이 그대로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cxnSp>
        <p:nvCxnSpPr>
          <p:cNvPr id="300" name="Google Shape;300;p23"/>
          <p:cNvCxnSpPr/>
          <p:nvPr/>
        </p:nvCxnSpPr>
        <p:spPr>
          <a:xfrm>
            <a:off x="3026664" y="3429000"/>
            <a:ext cx="418490" cy="9144"/>
          </a:xfrm>
          <a:prstGeom prst="straightConnector1">
            <a:avLst/>
          </a:prstGeom>
          <a:noFill/>
          <a:ln w="19050" cap="flat" cmpd="sng">
            <a:solidFill>
              <a:srgbClr val="17C93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1" name="Google Shape;301;p23"/>
          <p:cNvSpPr/>
          <p:nvPr/>
        </p:nvSpPr>
        <p:spPr>
          <a:xfrm>
            <a:off x="3500018" y="237744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23"/>
          <p:cNvSpPr/>
          <p:nvPr/>
        </p:nvSpPr>
        <p:spPr>
          <a:xfrm>
            <a:off x="4345838" y="2697480"/>
            <a:ext cx="640080" cy="64008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3" name="Google Shape;303;p23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049" y="27806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3"/>
          <p:cNvSpPr/>
          <p:nvPr/>
        </p:nvSpPr>
        <p:spPr>
          <a:xfrm>
            <a:off x="3637178" y="347472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Clave de API y URL de la base de datos expuestas</a:t>
            </a:r>
            <a:endParaRPr sz="13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300"/>
              <a:buFont typeface="Arial"/>
              <a:buNone/>
            </a:pPr>
            <a:r>
              <a:rPr lang="en-US" sz="9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API 키·DB URL 노출</a:t>
            </a:r>
            <a:endParaRPr sz="13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05" name="Google Shape;305;p23"/>
          <p:cNvSpPr/>
          <p:nvPr/>
        </p:nvSpPr>
        <p:spPr>
          <a:xfrm>
            <a:off x="3637178" y="3913632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La configuración de Firebase estaba tal cual en el código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Firebase 설정이 코드에 그대로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cxnSp>
        <p:nvCxnSpPr>
          <p:cNvPr id="306" name="Google Shape;306;p23"/>
          <p:cNvCxnSpPr/>
          <p:nvPr/>
        </p:nvCxnSpPr>
        <p:spPr>
          <a:xfrm>
            <a:off x="5886602" y="3429000"/>
            <a:ext cx="418490" cy="9144"/>
          </a:xfrm>
          <a:prstGeom prst="straightConnector1">
            <a:avLst/>
          </a:prstGeom>
          <a:noFill/>
          <a:ln w="19050" cap="flat" cmpd="sng">
            <a:solidFill>
              <a:srgbClr val="17C93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07" name="Google Shape;307;p23"/>
          <p:cNvSpPr/>
          <p:nvPr/>
        </p:nvSpPr>
        <p:spPr>
          <a:xfrm>
            <a:off x="6359957" y="237744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23"/>
          <p:cNvSpPr/>
          <p:nvPr/>
        </p:nvSpPr>
        <p:spPr>
          <a:xfrm>
            <a:off x="7205777" y="2697480"/>
            <a:ext cx="640080" cy="64008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09" name="Google Shape;309;p23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88987" y="27806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23"/>
          <p:cNvSpPr/>
          <p:nvPr/>
        </p:nvSpPr>
        <p:spPr>
          <a:xfrm>
            <a:off x="6497117" y="347472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Reglas totalmente abiertas</a:t>
            </a:r>
            <a:endParaRPr sz="13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300"/>
              <a:buFont typeface="Arial"/>
              <a:buNone/>
            </a:pPr>
            <a:r>
              <a:rPr lang="en-US" sz="9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Rules 전면 개방</a:t>
            </a:r>
            <a:endParaRPr sz="13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11" name="Google Shape;311;p23"/>
          <p:cNvSpPr/>
          <p:nvPr/>
        </p:nvSpPr>
        <p:spPr>
          <a:xfrm>
            <a:off x="6497117" y="3913632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Cualquiera podía leer y escribir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900" i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누구나 읽고 쓸 수 있는 상태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cxnSp>
        <p:nvCxnSpPr>
          <p:cNvPr id="312" name="Google Shape;312;p23"/>
          <p:cNvCxnSpPr/>
          <p:nvPr/>
        </p:nvCxnSpPr>
        <p:spPr>
          <a:xfrm>
            <a:off x="8746541" y="3429000"/>
            <a:ext cx="418490" cy="9144"/>
          </a:xfrm>
          <a:prstGeom prst="straightConnector1">
            <a:avLst/>
          </a:prstGeom>
          <a:noFill/>
          <a:ln w="19050" cap="flat" cmpd="sng">
            <a:solidFill>
              <a:srgbClr val="17C93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13" name="Google Shape;313;p23"/>
          <p:cNvSpPr/>
          <p:nvPr/>
        </p:nvSpPr>
        <p:spPr>
          <a:xfrm>
            <a:off x="9219895" y="2377440"/>
            <a:ext cx="2331720" cy="2103120"/>
          </a:xfrm>
          <a:prstGeom prst="roundRect">
            <a:avLst>
              <a:gd name="adj" fmla="val 3478"/>
            </a:avLst>
          </a:prstGeom>
          <a:solidFill>
            <a:srgbClr val="3A0F17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3"/>
          <p:cNvSpPr/>
          <p:nvPr/>
        </p:nvSpPr>
        <p:spPr>
          <a:xfrm>
            <a:off x="10065715" y="2697480"/>
            <a:ext cx="640080" cy="640080"/>
          </a:xfrm>
          <a:prstGeom prst="ellipse">
            <a:avLst/>
          </a:prstGeom>
          <a:solidFill>
            <a:srgbClr val="3A0F17"/>
          </a:solidFill>
          <a:ln w="12700" cap="flat" cmpd="sng">
            <a:solidFill>
              <a:srgbClr val="3A0F1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15" name="Google Shape;315;p23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148926" y="2780690"/>
            <a:ext cx="473659" cy="473659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23"/>
          <p:cNvSpPr/>
          <p:nvPr/>
        </p:nvSpPr>
        <p:spPr>
          <a:xfrm>
            <a:off x="9357055" y="3474720"/>
            <a:ext cx="2057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Acceso directo a la base de datos</a:t>
            </a:r>
            <a:endParaRPr sz="13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300"/>
              <a:buFont typeface="Arial"/>
              <a:buNone/>
            </a:pPr>
            <a:r>
              <a:rPr lang="en-US" sz="9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DB 직접 접근</a:t>
            </a:r>
            <a:endParaRPr sz="13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17" name="Google Shape;317;p23"/>
          <p:cNvSpPr/>
          <p:nvPr/>
        </p:nvSpPr>
        <p:spPr>
          <a:xfrm>
            <a:off x="9357055" y="3913632"/>
            <a:ext cx="20574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Los estudiantes escribían directamente en Firebase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학생이 Firebase에 곧장 기록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18" name="Google Shape;318;p23"/>
          <p:cNvSpPr/>
          <p:nvPr/>
        </p:nvSpPr>
        <p:spPr>
          <a:xfrm>
            <a:off x="640080" y="5120640"/>
            <a:ext cx="11003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2000"/>
              <a:buFont typeface="Arial"/>
              <a:buNone/>
            </a:pPr>
            <a:r>
              <a:rPr lang="en-US" sz="20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Sabía</a:t>
            </a:r>
            <a:r>
              <a:rPr lang="en-US" sz="20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que la clave y las </a:t>
            </a:r>
            <a:r>
              <a:rPr lang="en-US" sz="20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reglas</a:t>
            </a:r>
            <a:r>
              <a:rPr lang="en-US" sz="20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estaban</a:t>
            </a:r>
            <a:r>
              <a:rPr lang="en-US" sz="20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abiertas</a:t>
            </a:r>
            <a:r>
              <a:rPr lang="en-US" sz="20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20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pero</a:t>
            </a:r>
            <a:r>
              <a:rPr lang="en-US" sz="20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no </a:t>
            </a:r>
            <a:r>
              <a:rPr lang="en-US" sz="20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pensé</a:t>
            </a:r>
            <a:r>
              <a:rPr lang="en-US" sz="20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que </a:t>
            </a:r>
            <a:r>
              <a:rPr lang="en-US" sz="20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unos</a:t>
            </a:r>
            <a:r>
              <a:rPr lang="en-US" sz="20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estudiantes</a:t>
            </a:r>
            <a:r>
              <a:rPr lang="en-US" sz="20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20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secundaria</a:t>
            </a:r>
            <a:r>
              <a:rPr lang="en-US" sz="20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pudieran</a:t>
            </a:r>
            <a:r>
              <a:rPr lang="en-US" sz="20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aprovecharlo</a:t>
            </a:r>
            <a:endParaRPr sz="2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2000"/>
              <a:buFont typeface="Arial"/>
              <a:buNone/>
            </a:pP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키값과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 </a:t>
            </a: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rules가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열려있다는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걸 </a:t>
            </a: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알았지만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학생들이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중학생이라서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이걸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이용할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 수 </a:t>
            </a: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있을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거라고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생각하지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못함</a:t>
            </a:r>
            <a:endParaRPr sz="3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19" name="Google Shape;319;p23"/>
          <p:cNvSpPr/>
          <p:nvPr/>
        </p:nvSpPr>
        <p:spPr>
          <a:xfrm>
            <a:off x="640080" y="1335024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La API Key de Firebase y la URL de la base de datos quedaron totalmente expuestas</a:t>
            </a:r>
            <a:endParaRPr sz="2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Arial"/>
              <a:buNone/>
            </a:pPr>
            <a:r>
              <a:rPr lang="en-US" sz="110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Firebase API Key, 데이터베이스 URL 이 그대로 노출</a:t>
            </a:r>
            <a:endParaRPr sz="2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20" name="Google Shape;320;p23"/>
          <p:cNvSpPr/>
          <p:nvPr/>
        </p:nvSpPr>
        <p:spPr>
          <a:xfrm>
            <a:off x="640080" y="595579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2000"/>
              <a:buFont typeface="Arial"/>
              <a:buNone/>
            </a:pPr>
            <a:r>
              <a:rPr lang="en-US" sz="2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Ellos</a:t>
            </a:r>
            <a:r>
              <a:rPr lang="en-US" sz="2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también</a:t>
            </a:r>
            <a:r>
              <a:rPr lang="en-US" sz="2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usaban</a:t>
            </a:r>
            <a:r>
              <a:rPr lang="en-US" sz="2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IA </a:t>
            </a:r>
            <a:r>
              <a:rPr lang="en-US" sz="2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como</a:t>
            </a:r>
            <a:r>
              <a:rPr lang="en-US" sz="2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yo</a:t>
            </a:r>
            <a:r>
              <a:rPr lang="en-US" sz="2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— </a:t>
            </a:r>
            <a:r>
              <a:rPr lang="en-US" sz="2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subestimé</a:t>
            </a:r>
            <a:r>
              <a:rPr lang="en-US" sz="2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demasiado</a:t>
            </a:r>
            <a:r>
              <a:rPr lang="en-US" sz="2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a </a:t>
            </a:r>
            <a:r>
              <a:rPr lang="en-US" sz="2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los</a:t>
            </a:r>
            <a:r>
              <a:rPr lang="en-US" sz="2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estudiantes</a:t>
            </a:r>
            <a:endParaRPr sz="2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2000"/>
              <a:buFont typeface="Arial"/>
              <a:buNone/>
            </a:pP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상대는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나와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마찬가지로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AI를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돌리고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있는데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 </a:t>
            </a: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학생들을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너무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과소평가</a:t>
            </a:r>
            <a:endParaRPr sz="33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24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Ronda 1 · Defensa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1라운드 · 방어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27" name="Google Shape;327;p24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1ª defensa: instalar dos puertas</a:t>
            </a:r>
            <a:endParaRPr sz="3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165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1차 방어 - 문을 두 개 달다</a:t>
            </a:r>
            <a:endParaRPr sz="3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28" name="Google Shape;328;p24"/>
          <p:cNvSpPr/>
          <p:nvPr/>
        </p:nvSpPr>
        <p:spPr>
          <a:xfrm>
            <a:off x="640080" y="2057400"/>
            <a:ext cx="5227168" cy="3566160"/>
          </a:xfrm>
          <a:prstGeom prst="roundRect">
            <a:avLst>
              <a:gd name="adj" fmla="val 2051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24"/>
          <p:cNvSpPr/>
          <p:nvPr/>
        </p:nvSpPr>
        <p:spPr>
          <a:xfrm>
            <a:off x="1005840" y="2423160"/>
            <a:ext cx="713232" cy="713232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0" name="Google Shape;330;p2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98560" y="2515880"/>
            <a:ext cx="527792" cy="527792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24"/>
          <p:cNvSpPr/>
          <p:nvPr/>
        </p:nvSpPr>
        <p:spPr>
          <a:xfrm>
            <a:off x="1874520" y="2468880"/>
            <a:ext cx="36726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50"/>
              <a:buFont typeface="Arial"/>
              <a:buNone/>
            </a:pP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Reforzar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las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reglas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de Firebase</a:t>
            </a:r>
            <a:endParaRPr sz="2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50"/>
              <a:buFont typeface="Arial"/>
              <a:buNone/>
            </a:pPr>
            <a:r>
              <a:rPr lang="en-US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Firebase Rules </a:t>
            </a:r>
            <a:r>
              <a:rPr lang="en-US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강화</a:t>
            </a:r>
            <a:endParaRPr sz="3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32" name="Google Shape;332;p24"/>
          <p:cNvSpPr/>
          <p:nvPr/>
        </p:nvSpPr>
        <p:spPr>
          <a:xfrm>
            <a:off x="960120" y="3428999"/>
            <a:ext cx="4587088" cy="2013857"/>
          </a:xfrm>
          <a:prstGeom prst="roundRect">
            <a:avLst>
              <a:gd name="adj" fmla="val 4211"/>
            </a:avLst>
          </a:prstGeom>
          <a:solidFill>
            <a:srgbClr val="0B1510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24"/>
          <p:cNvSpPr/>
          <p:nvPr/>
        </p:nvSpPr>
        <p:spPr>
          <a:xfrm>
            <a:off x="1143000" y="3538728"/>
            <a:ext cx="4221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Prompt para la IA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AI 프롬프트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34" name="Google Shape;334;p24"/>
          <p:cNvSpPr/>
          <p:nvPr/>
        </p:nvSpPr>
        <p:spPr>
          <a:xfrm>
            <a:off x="1143000" y="4655497"/>
            <a:ext cx="4221328" cy="4615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400"/>
              <a:buFont typeface="Arial"/>
              <a:buNone/>
            </a:pP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Modifica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las </a:t>
            </a: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reglas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para </a:t>
            </a: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permitir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escritura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solo a </a:t>
            </a: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cuentas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autenticadas</a:t>
            </a:r>
            <a:r>
              <a:rPr lang="en-US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400"/>
              <a:buFont typeface="Arial"/>
              <a:buNone/>
            </a:pPr>
            <a:r>
              <a:rPr lang="en-US" sz="105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Rules </a:t>
            </a:r>
            <a:r>
              <a:rPr lang="en-US" sz="105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수정해서</a:t>
            </a:r>
            <a:r>
              <a:rPr lang="en-US" sz="105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5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인증된</a:t>
            </a:r>
            <a:r>
              <a:rPr lang="en-US" sz="105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5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계정만</a:t>
            </a:r>
            <a:r>
              <a:rPr lang="en-US" sz="105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5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쓰기</a:t>
            </a:r>
            <a:r>
              <a:rPr lang="en-US" sz="105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5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허용하세요</a:t>
            </a:r>
            <a:r>
              <a:rPr lang="en-US" sz="105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18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35" name="Google Shape;335;p24"/>
          <p:cNvSpPr/>
          <p:nvPr/>
        </p:nvSpPr>
        <p:spPr>
          <a:xfrm>
            <a:off x="6324448" y="2057400"/>
            <a:ext cx="5227168" cy="3566160"/>
          </a:xfrm>
          <a:prstGeom prst="roundRect">
            <a:avLst>
              <a:gd name="adj" fmla="val 2051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24"/>
          <p:cNvSpPr/>
          <p:nvPr/>
        </p:nvSpPr>
        <p:spPr>
          <a:xfrm>
            <a:off x="6690208" y="2423160"/>
            <a:ext cx="713232" cy="713232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37" name="Google Shape;337;p2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82928" y="2515880"/>
            <a:ext cx="527792" cy="527792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24"/>
          <p:cNvSpPr/>
          <p:nvPr/>
        </p:nvSpPr>
        <p:spPr>
          <a:xfrm>
            <a:off x="7558888" y="2468880"/>
            <a:ext cx="367268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50"/>
              <a:buFont typeface="Arial"/>
              <a:buNone/>
            </a:pPr>
            <a:r>
              <a:rPr lang="en-US" sz="16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Servidor</a:t>
            </a:r>
            <a:r>
              <a:rPr lang="en-US" sz="16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intermediario</a:t>
            </a:r>
            <a:r>
              <a:rPr lang="en-US" sz="16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con Cloudflare Worker</a:t>
            </a:r>
            <a:endParaRPr sz="165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50"/>
              <a:buFont typeface="Arial"/>
              <a:buNone/>
            </a:pPr>
            <a:r>
              <a:rPr lang="en-US" sz="15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Cloudflare Worker </a:t>
            </a:r>
            <a:r>
              <a:rPr lang="en-US" sz="15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중계서버</a:t>
            </a:r>
            <a:endParaRPr sz="35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39" name="Google Shape;339;p24"/>
          <p:cNvSpPr/>
          <p:nvPr/>
        </p:nvSpPr>
        <p:spPr>
          <a:xfrm>
            <a:off x="6644488" y="3429000"/>
            <a:ext cx="4587088" cy="2013856"/>
          </a:xfrm>
          <a:prstGeom prst="roundRect">
            <a:avLst>
              <a:gd name="adj" fmla="val 4211"/>
            </a:avLst>
          </a:prstGeom>
          <a:solidFill>
            <a:srgbClr val="0B1510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24"/>
          <p:cNvSpPr/>
          <p:nvPr/>
        </p:nvSpPr>
        <p:spPr>
          <a:xfrm>
            <a:off x="6827368" y="3538728"/>
            <a:ext cx="422132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Prompt para la IA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AI 프롬프트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41" name="Google Shape;341;p24"/>
          <p:cNvSpPr/>
          <p:nvPr/>
        </p:nvSpPr>
        <p:spPr>
          <a:xfrm>
            <a:off x="6827368" y="4575048"/>
            <a:ext cx="4221328" cy="62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32500" lnSpcReduction="20000"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400"/>
              <a:buFont typeface="Arial"/>
              <a:buNone/>
            </a:pPr>
            <a:r>
              <a:rPr lang="en-US" sz="37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Verifica</a:t>
            </a:r>
            <a:r>
              <a:rPr lang="en-US" sz="37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7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si</a:t>
            </a:r>
            <a:r>
              <a:rPr lang="en-US" sz="37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7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está</a:t>
            </a:r>
            <a:r>
              <a:rPr lang="en-US" sz="37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7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en</a:t>
            </a:r>
            <a:r>
              <a:rPr lang="en-US" sz="37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START y </a:t>
            </a:r>
            <a:r>
              <a:rPr lang="en-US" sz="37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si</a:t>
            </a:r>
            <a:r>
              <a:rPr lang="en-US" sz="37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hay </a:t>
            </a:r>
            <a:r>
              <a:rPr lang="en-US" sz="37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reservas</a:t>
            </a:r>
            <a:r>
              <a:rPr lang="en-US" sz="37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7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duplicadas</a:t>
            </a:r>
            <a:r>
              <a:rPr lang="en-US" sz="37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antes de </a:t>
            </a:r>
            <a:r>
              <a:rPr lang="en-US" sz="37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pedir</a:t>
            </a:r>
            <a:r>
              <a:rPr lang="en-US" sz="37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nada a la base de </a:t>
            </a:r>
            <a:r>
              <a:rPr lang="en-US" sz="37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datos</a:t>
            </a:r>
            <a:r>
              <a:rPr lang="en-US" sz="37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37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400"/>
              <a:buFont typeface="Arial"/>
              <a:buNone/>
            </a:pPr>
            <a:r>
              <a:rPr lang="en-US" sz="31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START </a:t>
            </a:r>
            <a:r>
              <a:rPr lang="en-US" sz="31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여부·중복</a:t>
            </a:r>
            <a:r>
              <a:rPr lang="en-US" sz="31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1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예매</a:t>
            </a:r>
            <a:r>
              <a:rPr lang="en-US" sz="31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1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여부를</a:t>
            </a:r>
            <a:r>
              <a:rPr lang="en-US" sz="31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1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점검한</a:t>
            </a:r>
            <a:r>
              <a:rPr lang="en-US" sz="31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뒤 </a:t>
            </a:r>
            <a:r>
              <a:rPr lang="en-US" sz="31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DB에</a:t>
            </a:r>
            <a:r>
              <a:rPr lang="en-US" sz="31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1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요청하세요</a:t>
            </a:r>
            <a:r>
              <a:rPr lang="en-US" sz="31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37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42" name="Google Shape;342;p24"/>
          <p:cNvSpPr/>
          <p:nvPr/>
        </p:nvSpPr>
        <p:spPr>
          <a:xfrm>
            <a:off x="1143000" y="4000739"/>
            <a:ext cx="4176888" cy="3389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200"/>
              <a:buFont typeface="Arial"/>
              <a:buNone/>
            </a:pP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IA,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defiéndeme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los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estudiantes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que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reservan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aunque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pulsé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STOP.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200"/>
              <a:buFont typeface="Arial"/>
              <a:buNone/>
            </a:pPr>
            <a:r>
              <a:rPr lang="en-US" sz="10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AI야</a:t>
            </a:r>
            <a:r>
              <a:rPr lang="en-US" sz="10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, STOP </a:t>
            </a:r>
            <a:r>
              <a:rPr lang="en-US" sz="10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눌렀는데도</a:t>
            </a:r>
            <a:r>
              <a:rPr lang="en-US" sz="10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마음대로</a:t>
            </a:r>
            <a:r>
              <a:rPr lang="en-US" sz="10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바꾸는</a:t>
            </a:r>
            <a:r>
              <a:rPr lang="en-US" sz="10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학생들을</a:t>
            </a:r>
            <a:r>
              <a:rPr lang="en-US" sz="10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방어해줘</a:t>
            </a:r>
            <a:r>
              <a:rPr lang="en-US" sz="10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43" name="Google Shape;343;p24"/>
          <p:cNvSpPr/>
          <p:nvPr/>
        </p:nvSpPr>
        <p:spPr>
          <a:xfrm>
            <a:off x="6827368" y="3837592"/>
            <a:ext cx="440420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200"/>
              <a:buFont typeface="Arial"/>
              <a:buNone/>
            </a:pPr>
            <a:r>
              <a:rPr lang="en-US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IA, </a:t>
            </a:r>
            <a:r>
              <a:rPr lang="en-US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defiéndeme</a:t>
            </a:r>
            <a:r>
              <a:rPr lang="en-US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los</a:t>
            </a:r>
            <a:r>
              <a:rPr lang="en-US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estudiantes</a:t>
            </a:r>
            <a:r>
              <a:rPr lang="en-US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que </a:t>
            </a:r>
            <a:r>
              <a:rPr lang="en-US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sobrescriben</a:t>
            </a:r>
            <a:r>
              <a:rPr lang="en-US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asientos </a:t>
            </a:r>
            <a:r>
              <a:rPr lang="en-US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ya</a:t>
            </a:r>
            <a:r>
              <a:rPr lang="en-US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reservados</a:t>
            </a:r>
            <a:r>
              <a:rPr lang="en-US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por</a:t>
            </a:r>
            <a:r>
              <a:rPr lang="en-US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otros</a:t>
            </a:r>
            <a:r>
              <a:rPr lang="en-US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200"/>
              <a:buFont typeface="Arial"/>
              <a:buNone/>
            </a:pPr>
            <a:r>
              <a:rPr lang="en-US" sz="10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AI야</a:t>
            </a:r>
            <a:r>
              <a:rPr lang="en-US" sz="10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10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다른</a:t>
            </a:r>
            <a:r>
              <a:rPr lang="en-US" sz="10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학생이</a:t>
            </a:r>
            <a:r>
              <a:rPr lang="en-US" sz="10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예매한</a:t>
            </a:r>
            <a:r>
              <a:rPr lang="en-US" sz="10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자리를</a:t>
            </a:r>
            <a:r>
              <a:rPr lang="en-US" sz="10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마음대로</a:t>
            </a:r>
            <a:r>
              <a:rPr lang="en-US" sz="10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덮어쓰는</a:t>
            </a:r>
            <a:r>
              <a:rPr lang="en-US" sz="10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학생을</a:t>
            </a:r>
            <a:r>
              <a:rPr lang="en-US" sz="10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5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방어해줘</a:t>
            </a:r>
            <a:r>
              <a:rPr lang="en-US" sz="105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25"/>
          <p:cNvSpPr/>
          <p:nvPr/>
        </p:nvSpPr>
        <p:spPr>
          <a:xfrm>
            <a:off x="640080" y="1087311"/>
            <a:ext cx="10058400" cy="6662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“Chicos, intenten de nuevo. Ya lo bloqueé todo.” (con orgullo)</a:t>
            </a:r>
            <a:endParaRPr sz="3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3000"/>
              <a:buFont typeface="Arial"/>
              <a:buNone/>
            </a:pPr>
            <a:r>
              <a:rPr lang="en-US" sz="165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“ 애들아, 다시 해보렴. 내가 다 막아놨다. ”(의기양양)</a:t>
            </a:r>
            <a:endParaRPr sz="3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50" name="Google Shape;350;p25"/>
          <p:cNvSpPr/>
          <p:nvPr/>
        </p:nvSpPr>
        <p:spPr>
          <a:xfrm>
            <a:off x="747065" y="2566392"/>
            <a:ext cx="971628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3B5C"/>
              </a:buClr>
              <a:buSzPts val="2800"/>
              <a:buFont typeface="Arial"/>
              <a:buNone/>
            </a:pPr>
            <a:r>
              <a:rPr lang="en-US" sz="280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Vuelven a burlarlo: los estudiantes siguen reservando y sobrescribiendo…</a:t>
            </a:r>
            <a:endParaRPr sz="28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3B5C"/>
              </a:buClr>
              <a:buSzPts val="2800"/>
              <a:buFont typeface="Arial"/>
              <a:buNone/>
            </a:pPr>
            <a:r>
              <a:rPr lang="en-US" sz="154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또 뚫림, 학생들은 여전히 마음대로 예매하고 예매 덮어쓰기중…</a:t>
            </a:r>
            <a:endParaRPr sz="28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51" name="Google Shape;351;p25"/>
          <p:cNvSpPr/>
          <p:nvPr/>
        </p:nvSpPr>
        <p:spPr>
          <a:xfrm>
            <a:off x="747065" y="4156508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El orgullo duró poco: la defensa que dio la IA tenía huecos</a:t>
            </a:r>
            <a:endParaRPr sz="2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11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의기양양했던 것도 잠시 – AI가 준 방어방법에는  허점이 존재</a:t>
            </a:r>
            <a:endParaRPr sz="2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26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Ronda 2 · Causa</a:t>
            </a:r>
            <a:endParaRPr sz="1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2라운드 · </a:t>
            </a:r>
            <a:r>
              <a:rPr lang="en-US" sz="9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원인</a:t>
            </a:r>
            <a:endParaRPr sz="1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58" name="Google Shape;358;p26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En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realidad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, la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solución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que me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dio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la IA antes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tenía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fallos</a:t>
            </a:r>
            <a:endParaRPr sz="3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사실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아까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AI에게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받은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해결책에는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허점이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존재</a:t>
            </a:r>
            <a:endParaRPr sz="3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59" name="Google Shape;359;p26"/>
          <p:cNvSpPr/>
          <p:nvPr/>
        </p:nvSpPr>
        <p:spPr>
          <a:xfrm>
            <a:off x="640080" y="1723926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Solución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1 de la IA: </a:t>
            </a:r>
            <a:r>
              <a:rPr lang="en-U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modifica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las </a:t>
            </a:r>
            <a:r>
              <a:rPr lang="en-U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reglas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de Firebase para </a:t>
            </a:r>
            <a:r>
              <a:rPr lang="en-U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permitir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escritura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solo a </a:t>
            </a:r>
            <a:r>
              <a:rPr lang="en-U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cuentas</a:t>
            </a:r>
            <a:r>
              <a:rPr lang="en-US" sz="2400" dirty="0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autenticadas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132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전에</a:t>
            </a:r>
            <a:r>
              <a:rPr lang="en-US" sz="1320" dirty="0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32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AI가</a:t>
            </a:r>
            <a:r>
              <a:rPr lang="en-US" sz="1320" dirty="0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32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제시했던</a:t>
            </a:r>
            <a:r>
              <a:rPr lang="en-US" sz="1320" dirty="0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해결책1 : Firebase rules </a:t>
            </a:r>
            <a:r>
              <a:rPr lang="en-US" sz="132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수정해서</a:t>
            </a:r>
            <a:r>
              <a:rPr lang="en-US" sz="1320" dirty="0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32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인증된</a:t>
            </a:r>
            <a:r>
              <a:rPr lang="en-US" sz="1320" dirty="0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32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계정만</a:t>
            </a:r>
            <a:r>
              <a:rPr lang="en-US" sz="1320" dirty="0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32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쓰기</a:t>
            </a:r>
            <a:r>
              <a:rPr lang="en-US" sz="1320" dirty="0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320" dirty="0" err="1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허용하세요</a:t>
            </a:r>
            <a:r>
              <a:rPr lang="en-US" sz="1320" dirty="0">
                <a:solidFill>
                  <a:schemeClr val="accent1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</a:t>
            </a:r>
            <a:endParaRPr dirty="0">
              <a:solidFill>
                <a:schemeClr val="accent1">
                  <a:lumMod val="60000"/>
                  <a:lumOff val="40000"/>
                </a:schemeClr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60" name="Google Shape;360;p26"/>
          <p:cNvSpPr/>
          <p:nvPr/>
        </p:nvSpPr>
        <p:spPr>
          <a:xfrm>
            <a:off x="640080" y="2786193"/>
            <a:ext cx="10881360" cy="891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7825"/>
              </a:buClr>
              <a:buSzPts val="2000"/>
              <a:buFont typeface="Arial"/>
              <a:buNone/>
            </a:pPr>
            <a:r>
              <a:rPr lang="en-US" sz="11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Truco</a:t>
            </a:r>
            <a:r>
              <a:rPr lang="en-US" sz="11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del </a:t>
            </a:r>
            <a:r>
              <a:rPr lang="en-US" sz="11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estudiante</a:t>
            </a:r>
            <a:r>
              <a:rPr lang="en-US" sz="11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: </a:t>
            </a:r>
            <a:r>
              <a:rPr lang="en-US" sz="11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crear</a:t>
            </a:r>
            <a:r>
              <a:rPr lang="en-US" sz="11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una</a:t>
            </a:r>
            <a:r>
              <a:rPr lang="en-US" sz="11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cuenta</a:t>
            </a:r>
            <a:r>
              <a:rPr lang="en-US" sz="11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nueva</a:t>
            </a:r>
            <a:r>
              <a:rPr lang="en-US" sz="11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en</a:t>
            </a:r>
            <a:r>
              <a:rPr lang="en-US" sz="11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Firebase y </a:t>
            </a:r>
            <a:r>
              <a:rPr lang="en-US" sz="11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usarla</a:t>
            </a:r>
            <a:r>
              <a:rPr lang="en-US" sz="11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— </a:t>
            </a:r>
            <a:r>
              <a:rPr lang="en-US" sz="11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11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registro</a:t>
            </a:r>
            <a:r>
              <a:rPr lang="en-US" sz="11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nuevo </a:t>
            </a:r>
            <a:r>
              <a:rPr lang="en-US" sz="11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aún</a:t>
            </a:r>
            <a:r>
              <a:rPr lang="en-US" sz="11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no </a:t>
            </a:r>
            <a:r>
              <a:rPr lang="en-US" sz="11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estaba</a:t>
            </a:r>
            <a:r>
              <a:rPr lang="en-US" sz="11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bloqueado</a:t>
            </a:r>
            <a:endParaRPr sz="11200" dirty="0">
              <a:solidFill>
                <a:srgbClr val="107825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7825"/>
              </a:buClr>
              <a:buSzPts val="2000"/>
              <a:buFont typeface="Arial"/>
              <a:buNone/>
            </a:pPr>
            <a:r>
              <a:rPr lang="en-US" sz="80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학생이</a:t>
            </a:r>
            <a:r>
              <a:rPr lang="en-US" sz="80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80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찾은</a:t>
            </a:r>
            <a:r>
              <a:rPr lang="en-US" sz="80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80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파훼법</a:t>
            </a:r>
            <a:r>
              <a:rPr lang="en-US" sz="80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 Firebase </a:t>
            </a:r>
            <a:r>
              <a:rPr lang="en-US" sz="80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새로운</a:t>
            </a:r>
            <a:r>
              <a:rPr lang="en-US" sz="80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80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계정</a:t>
            </a:r>
            <a:r>
              <a:rPr lang="en-US" sz="80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80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만들고</a:t>
            </a:r>
            <a:r>
              <a:rPr lang="en-US" sz="80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그 </a:t>
            </a:r>
            <a:r>
              <a:rPr lang="en-US" sz="80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계정으로</a:t>
            </a:r>
            <a:r>
              <a:rPr lang="en-US" sz="80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80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요청하면</a:t>
            </a:r>
            <a:r>
              <a:rPr lang="en-US" sz="80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80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통과가능</a:t>
            </a:r>
            <a:r>
              <a:rPr lang="en-US" sz="80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80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아직</a:t>
            </a:r>
            <a:r>
              <a:rPr lang="en-US" sz="80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80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신규</a:t>
            </a:r>
            <a:r>
              <a:rPr lang="en-US" sz="80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80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가입이</a:t>
            </a:r>
            <a:r>
              <a:rPr lang="en-US" sz="80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80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차단되지</a:t>
            </a:r>
            <a:r>
              <a:rPr lang="en-US" sz="80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80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않음</a:t>
            </a:r>
            <a:br>
              <a:rPr lang="en-US" sz="20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</a:br>
            <a:br>
              <a:rPr lang="en-US" sz="20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</a:br>
            <a:endParaRPr sz="2000" dirty="0">
              <a:solidFill>
                <a:srgbClr val="107825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61" name="Google Shape;361;p26"/>
          <p:cNvSpPr/>
          <p:nvPr/>
        </p:nvSpPr>
        <p:spPr>
          <a:xfrm>
            <a:off x="640080" y="3916515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Solución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2 de la IA: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pon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un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servidor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intermediario</a:t>
            </a:r>
            <a:r>
              <a:rPr lang="en-US" sz="2400" dirty="0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con Cloudflare Worker</a:t>
            </a:r>
            <a:endParaRPr dirty="0">
              <a:solidFill>
                <a:schemeClr val="accent4">
                  <a:lumMod val="60000"/>
                  <a:lumOff val="40000"/>
                </a:schemeClr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12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전에</a:t>
            </a:r>
            <a:r>
              <a:rPr 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AI가</a:t>
            </a:r>
            <a:r>
              <a:rPr 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제시했던</a:t>
            </a:r>
            <a:r>
              <a:rPr 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해결책2 : </a:t>
            </a:r>
            <a:r>
              <a:rPr lang="en-US" sz="12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cloudfare</a:t>
            </a:r>
            <a:r>
              <a:rPr 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worker </a:t>
            </a:r>
            <a:r>
              <a:rPr lang="en-US" sz="12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중계서버를</a:t>
            </a:r>
            <a:r>
              <a:rPr lang="en-US" sz="1200" dirty="0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Jua"/>
                <a:ea typeface="Jua"/>
                <a:cs typeface="Jua"/>
                <a:sym typeface="Jua"/>
              </a:rPr>
              <a:t>두세요</a:t>
            </a:r>
            <a:endParaRPr sz="1200" dirty="0">
              <a:solidFill>
                <a:schemeClr val="accent4">
                  <a:lumMod val="60000"/>
                  <a:lumOff val="40000"/>
                </a:schemeClr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62" name="Google Shape;362;p26"/>
          <p:cNvSpPr/>
          <p:nvPr/>
        </p:nvSpPr>
        <p:spPr>
          <a:xfrm>
            <a:off x="640080" y="4890634"/>
            <a:ext cx="10881360" cy="14341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25000" lnSpcReduction="20000"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7825"/>
              </a:buClr>
              <a:buSzPts val="2000"/>
              <a:buFont typeface="Arial"/>
              <a:buNone/>
            </a:pPr>
            <a:r>
              <a:rPr lang="en-US" sz="96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Truco</a:t>
            </a:r>
            <a:r>
              <a:rPr lang="en-US" sz="96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del </a:t>
            </a:r>
            <a:r>
              <a:rPr lang="en-US" sz="96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estudiante</a:t>
            </a:r>
            <a:endParaRPr sz="9600" dirty="0">
              <a:solidFill>
                <a:srgbClr val="107825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7825"/>
              </a:buClr>
              <a:buSzPts val="2000"/>
              <a:buFont typeface="Arial"/>
              <a:buNone/>
            </a:pPr>
            <a:r>
              <a:rPr lang="en-US" sz="7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학생이</a:t>
            </a:r>
            <a:r>
              <a:rPr lang="en-US" sz="7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7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찾은</a:t>
            </a:r>
            <a:r>
              <a:rPr lang="en-US" sz="7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7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파훼법</a:t>
            </a:r>
            <a:endParaRPr sz="9600" dirty="0">
              <a:solidFill>
                <a:srgbClr val="107825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7825"/>
              </a:buClr>
              <a:buSzPts val="2000"/>
              <a:buFont typeface="Arial"/>
              <a:buNone/>
            </a:pPr>
            <a:r>
              <a:rPr lang="en-US" sz="96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¿Eh? Solo </a:t>
            </a:r>
            <a:r>
              <a:rPr lang="en-US" sz="96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agregaron</a:t>
            </a:r>
            <a:r>
              <a:rPr lang="en-US" sz="96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la </a:t>
            </a:r>
            <a:r>
              <a:rPr lang="en-US" sz="96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ruta</a:t>
            </a:r>
            <a:r>
              <a:rPr lang="en-US" sz="96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del Worker sin </a:t>
            </a:r>
            <a:r>
              <a:rPr lang="en-US" sz="96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bloquear</a:t>
            </a:r>
            <a:r>
              <a:rPr lang="en-US" sz="96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la </a:t>
            </a:r>
            <a:r>
              <a:rPr lang="en-US" sz="96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ruta</a:t>
            </a:r>
            <a:r>
              <a:rPr lang="en-US" sz="96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anterior</a:t>
            </a:r>
            <a:endParaRPr sz="8000" dirty="0"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7825"/>
              </a:buClr>
              <a:buSzPts val="2000"/>
              <a:buFont typeface="Arial"/>
              <a:buNone/>
            </a:pPr>
            <a:r>
              <a:rPr lang="en-US" sz="7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어!? </a:t>
            </a:r>
            <a:r>
              <a:rPr lang="en-US" sz="7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기존</a:t>
            </a:r>
            <a:r>
              <a:rPr lang="en-US" sz="7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7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경로를</a:t>
            </a:r>
            <a:r>
              <a:rPr lang="en-US" sz="7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7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막지</a:t>
            </a:r>
            <a:r>
              <a:rPr lang="en-US" sz="7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7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않고</a:t>
            </a:r>
            <a:r>
              <a:rPr lang="en-US" sz="7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7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그냥</a:t>
            </a:r>
            <a:r>
              <a:rPr lang="en-US" sz="7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worker </a:t>
            </a:r>
            <a:r>
              <a:rPr lang="en-US" sz="7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중계서버</a:t>
            </a:r>
            <a:r>
              <a:rPr lang="en-US" sz="7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7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경로만</a:t>
            </a:r>
            <a:r>
              <a:rPr lang="en-US" sz="7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7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추가했네</a:t>
            </a:r>
            <a:r>
              <a:rPr lang="en-US" sz="7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?</a:t>
            </a:r>
            <a:endParaRPr sz="8000" dirty="0"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7825"/>
              </a:buClr>
              <a:buSzPts val="2000"/>
              <a:buFont typeface="Arial"/>
              <a:buNone/>
            </a:pPr>
            <a:r>
              <a:rPr lang="en-US" sz="96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Entonces</a:t>
            </a:r>
            <a:r>
              <a:rPr lang="en-US" sz="96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basta con no pasar </a:t>
            </a:r>
            <a:r>
              <a:rPr lang="en-US" sz="96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por</a:t>
            </a:r>
            <a:r>
              <a:rPr lang="en-US" sz="96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6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96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Worker para </a:t>
            </a:r>
            <a:r>
              <a:rPr lang="en-US" sz="96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colarse</a:t>
            </a:r>
            <a:endParaRPr sz="9600" dirty="0">
              <a:solidFill>
                <a:srgbClr val="107825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07825"/>
              </a:buClr>
              <a:buSzPts val="2000"/>
              <a:buFont typeface="Arial"/>
              <a:buNone/>
            </a:pPr>
            <a:r>
              <a:rPr lang="en-US" sz="7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그럼</a:t>
            </a:r>
            <a:r>
              <a:rPr lang="en-US" sz="7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7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그냥</a:t>
            </a:r>
            <a:r>
              <a:rPr lang="en-US" sz="7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worker </a:t>
            </a:r>
            <a:r>
              <a:rPr lang="en-US" sz="7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서버</a:t>
            </a:r>
            <a:r>
              <a:rPr lang="en-US" sz="7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7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안거치면</a:t>
            </a:r>
            <a:r>
              <a:rPr lang="en-US" sz="7200" dirty="0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7200" dirty="0" err="1">
                <a:solidFill>
                  <a:srgbClr val="107825"/>
                </a:solidFill>
                <a:latin typeface="Jua"/>
                <a:ea typeface="Jua"/>
                <a:cs typeface="Jua"/>
                <a:sym typeface="Jua"/>
              </a:rPr>
              <a:t>통과가능</a:t>
            </a:r>
            <a:endParaRPr sz="9600" dirty="0">
              <a:solidFill>
                <a:srgbClr val="107825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endParaRPr sz="2000" dirty="0">
              <a:solidFill>
                <a:srgbClr val="107825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27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Ronda 2 · Defensa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2라운드 · 방어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69" name="Google Shape;369;p27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2ª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defensa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: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reducir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todo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a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una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sola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ruta</a:t>
            </a:r>
            <a:endParaRPr sz="3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2차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방어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—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경로를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하나로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좁히다</a:t>
            </a:r>
            <a:endParaRPr sz="3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70" name="Google Shape;370;p27"/>
          <p:cNvSpPr/>
          <p:nvPr/>
        </p:nvSpPr>
        <p:spPr>
          <a:xfrm>
            <a:off x="640080" y="2103120"/>
            <a:ext cx="10911535" cy="1508760"/>
          </a:xfrm>
          <a:prstGeom prst="roundRect">
            <a:avLst>
              <a:gd name="adj" fmla="val 4848"/>
            </a:avLst>
          </a:prstGeom>
          <a:solidFill>
            <a:srgbClr val="0B1510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27"/>
          <p:cNvSpPr/>
          <p:nvPr/>
        </p:nvSpPr>
        <p:spPr>
          <a:xfrm>
            <a:off x="960120" y="2240280"/>
            <a:ext cx="36576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950"/>
              <a:buFont typeface="Arial"/>
              <a:buNone/>
            </a:pPr>
            <a:r>
              <a:rPr lang="en-US" sz="1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Prompt para la IA</a:t>
            </a:r>
            <a:endParaRPr sz="1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950"/>
              <a:buFont typeface="Arial"/>
              <a:buNone/>
            </a:pPr>
            <a:r>
              <a:rPr lang="en-US" sz="1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AI </a:t>
            </a:r>
            <a:r>
              <a:rPr lang="en-US" sz="1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프롬프트</a:t>
            </a:r>
            <a:endParaRPr sz="1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72" name="Google Shape;372;p27"/>
          <p:cNvSpPr/>
          <p:nvPr/>
        </p:nvSpPr>
        <p:spPr>
          <a:xfrm>
            <a:off x="945032" y="3021003"/>
            <a:ext cx="10271455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1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800"/>
              <a:buFont typeface="Arial"/>
              <a:buNone/>
            </a:pPr>
            <a:r>
              <a:rPr lang="en-US" sz="18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IA: </a:t>
            </a:r>
            <a:r>
              <a:rPr lang="en-US" sz="18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bloquea</a:t>
            </a:r>
            <a:r>
              <a:rPr lang="en-US" sz="18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por</a:t>
            </a:r>
            <a:r>
              <a:rPr lang="en-US" sz="18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completo</a:t>
            </a:r>
            <a:r>
              <a:rPr lang="en-US" sz="18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18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registro</a:t>
            </a:r>
            <a:r>
              <a:rPr lang="en-US" sz="18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nuevo </a:t>
            </a:r>
            <a:r>
              <a:rPr lang="en-US" sz="18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en</a:t>
            </a:r>
            <a:r>
              <a:rPr lang="en-US" sz="18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Firebase y </a:t>
            </a:r>
            <a:r>
              <a:rPr lang="en-US" sz="18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permite</a:t>
            </a:r>
            <a:r>
              <a:rPr lang="en-US" sz="18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acceder a la base de </a:t>
            </a:r>
            <a:r>
              <a:rPr lang="en-US" sz="18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datos</a:t>
            </a:r>
            <a:r>
              <a:rPr lang="en-US" sz="18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solo a </a:t>
            </a:r>
            <a:r>
              <a:rPr lang="en-US" sz="18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través</a:t>
            </a:r>
            <a:r>
              <a:rPr lang="en-US" sz="18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del Worker.</a:t>
            </a:r>
            <a:endParaRPr sz="18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800"/>
              <a:buFont typeface="Arial"/>
              <a:buNone/>
            </a:pPr>
            <a:r>
              <a:rPr lang="en-US" sz="12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AI : Firebase </a:t>
            </a:r>
            <a:r>
              <a:rPr lang="en-US" sz="12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신규</a:t>
            </a:r>
            <a:r>
              <a:rPr lang="en-US" sz="12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가입을</a:t>
            </a:r>
            <a:r>
              <a:rPr lang="en-US" sz="12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완전</a:t>
            </a:r>
            <a:r>
              <a:rPr lang="en-US" sz="12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차단하고</a:t>
            </a:r>
            <a:r>
              <a:rPr lang="en-US" sz="12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, DB </a:t>
            </a:r>
            <a:r>
              <a:rPr lang="en-US" sz="12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접근</a:t>
            </a:r>
            <a:r>
              <a:rPr lang="en-US" sz="12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경로를</a:t>
            </a:r>
            <a:r>
              <a:rPr lang="en-US" sz="12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Worker </a:t>
            </a:r>
            <a:r>
              <a:rPr lang="en-US" sz="12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하나로만</a:t>
            </a:r>
            <a:r>
              <a:rPr lang="en-US" sz="12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가능하게</a:t>
            </a:r>
            <a:r>
              <a:rPr lang="en-US" sz="12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하세요</a:t>
            </a:r>
            <a:r>
              <a:rPr lang="en-US" sz="12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21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73" name="Google Shape;373;p27"/>
          <p:cNvSpPr/>
          <p:nvPr/>
        </p:nvSpPr>
        <p:spPr>
          <a:xfrm>
            <a:off x="640080" y="397764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3A0F17"/>
          </a:solidFill>
          <a:ln w="12700" cap="flat" cmpd="sng">
            <a:solidFill>
              <a:srgbClr val="FF3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27"/>
          <p:cNvSpPr/>
          <p:nvPr/>
        </p:nvSpPr>
        <p:spPr>
          <a:xfrm>
            <a:off x="822960" y="397764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8FA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F8FA3"/>
                </a:solidFill>
                <a:latin typeface="Jua"/>
                <a:ea typeface="Jua"/>
                <a:cs typeface="Jua"/>
                <a:sym typeface="Jua"/>
              </a:rPr>
              <a:t>✕  Registro nuevo</a:t>
            </a:r>
            <a:endParaRPr sz="13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8FA3"/>
              </a:buClr>
              <a:buSzPts val="1300"/>
              <a:buFont typeface="Arial"/>
              <a:buNone/>
            </a:pPr>
            <a:r>
              <a:rPr lang="en-US" sz="900">
                <a:solidFill>
                  <a:srgbClr val="FF8FA3"/>
                </a:solidFill>
                <a:latin typeface="Jua"/>
                <a:ea typeface="Jua"/>
                <a:cs typeface="Jua"/>
                <a:sym typeface="Jua"/>
              </a:rPr>
              <a:t>✕  신규 회원가입</a:t>
            </a:r>
            <a:endParaRPr sz="13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cxnSp>
        <p:nvCxnSpPr>
          <p:cNvPr id="375" name="Google Shape;375;p27"/>
          <p:cNvCxnSpPr/>
          <p:nvPr/>
        </p:nvCxnSpPr>
        <p:spPr>
          <a:xfrm>
            <a:off x="4892040" y="4233672"/>
            <a:ext cx="594360" cy="182880"/>
          </a:xfrm>
          <a:prstGeom prst="straightConnector1">
            <a:avLst/>
          </a:prstGeom>
          <a:noFill/>
          <a:ln w="15875" cap="flat" cmpd="sng">
            <a:solidFill>
              <a:srgbClr val="FF3B5C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76" name="Google Shape;376;p27"/>
          <p:cNvSpPr/>
          <p:nvPr/>
        </p:nvSpPr>
        <p:spPr>
          <a:xfrm>
            <a:off x="640080" y="466344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3A0F17"/>
          </a:solidFill>
          <a:ln w="12700" cap="flat" cmpd="sng">
            <a:solidFill>
              <a:srgbClr val="FF3B5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27"/>
          <p:cNvSpPr/>
          <p:nvPr/>
        </p:nvSpPr>
        <p:spPr>
          <a:xfrm>
            <a:off x="822960" y="466344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8FA3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FF8FA3"/>
                </a:solidFill>
                <a:latin typeface="Jua"/>
                <a:ea typeface="Jua"/>
                <a:cs typeface="Jua"/>
                <a:sym typeface="Jua"/>
              </a:rPr>
              <a:t>✕  Cuentas existentes sin admin</a:t>
            </a:r>
            <a:endParaRPr sz="13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8FA3"/>
              </a:buClr>
              <a:buSzPts val="1300"/>
              <a:buFont typeface="Arial"/>
              <a:buNone/>
            </a:pPr>
            <a:r>
              <a:rPr lang="en-US" sz="900">
                <a:solidFill>
                  <a:srgbClr val="FF8FA3"/>
                </a:solidFill>
                <a:latin typeface="Jua"/>
                <a:ea typeface="Jua"/>
                <a:cs typeface="Jua"/>
                <a:sym typeface="Jua"/>
              </a:rPr>
              <a:t>✕  기존 비-admin 계정</a:t>
            </a:r>
            <a:endParaRPr sz="13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cxnSp>
        <p:nvCxnSpPr>
          <p:cNvPr id="378" name="Google Shape;378;p27"/>
          <p:cNvCxnSpPr/>
          <p:nvPr/>
        </p:nvCxnSpPr>
        <p:spPr>
          <a:xfrm rot="10800000" flipH="1">
            <a:off x="4892040" y="4416552"/>
            <a:ext cx="594360" cy="502920"/>
          </a:xfrm>
          <a:prstGeom prst="straightConnector1">
            <a:avLst/>
          </a:prstGeom>
          <a:noFill/>
          <a:ln w="15875" cap="flat" cmpd="sng">
            <a:solidFill>
              <a:srgbClr val="FF3B5C"/>
            </a:solidFill>
            <a:prstDash val="dash"/>
            <a:round/>
            <a:headEnd type="none" w="sm" len="sm"/>
            <a:tailEnd type="triangle" w="med" len="med"/>
          </a:ln>
        </p:spPr>
      </p:cxnSp>
      <p:sp>
        <p:nvSpPr>
          <p:cNvPr id="379" name="Google Shape;379;p27"/>
          <p:cNvSpPr/>
          <p:nvPr/>
        </p:nvSpPr>
        <p:spPr>
          <a:xfrm>
            <a:off x="640080" y="5349240"/>
            <a:ext cx="4206240" cy="502920"/>
          </a:xfrm>
          <a:prstGeom prst="roundRect">
            <a:avLst>
              <a:gd name="adj" fmla="val 10909"/>
            </a:avLst>
          </a:prstGeom>
          <a:solidFill>
            <a:srgbClr val="0E4419"/>
          </a:solidFill>
          <a:ln w="12700" cap="flat" cmpd="sng">
            <a:solidFill>
              <a:srgbClr val="00FF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7"/>
          <p:cNvSpPr/>
          <p:nvPr/>
        </p:nvSpPr>
        <p:spPr>
          <a:xfrm>
            <a:off x="822960" y="5349240"/>
            <a:ext cx="38404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F41"/>
              </a:buClr>
              <a:buSzPts val="1300"/>
              <a:buFont typeface="Arial"/>
              <a:buNone/>
            </a:pPr>
            <a:r>
              <a:rPr lang="en-US" sz="130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✓  Worker (secreto de admin)</a:t>
            </a:r>
            <a:endParaRPr sz="13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00FF41"/>
              </a:buClr>
              <a:buSzPts val="1300"/>
              <a:buFont typeface="Arial"/>
              <a:buNone/>
            </a:pPr>
            <a:r>
              <a:rPr lang="en-US" sz="90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✓  Worker (admin 시크릿)</a:t>
            </a:r>
            <a:endParaRPr sz="13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cxnSp>
        <p:nvCxnSpPr>
          <p:cNvPr id="381" name="Google Shape;381;p27"/>
          <p:cNvCxnSpPr/>
          <p:nvPr/>
        </p:nvCxnSpPr>
        <p:spPr>
          <a:xfrm rot="10800000" flipH="1">
            <a:off x="4892040" y="4160520"/>
            <a:ext cx="2971800" cy="1444752"/>
          </a:xfrm>
          <a:prstGeom prst="straightConnector1">
            <a:avLst/>
          </a:prstGeom>
          <a:noFill/>
          <a:ln w="22225" cap="flat" cmpd="sng">
            <a:solidFill>
              <a:srgbClr val="00FF41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382" name="Google Shape;382;p27"/>
          <p:cNvSpPr/>
          <p:nvPr/>
        </p:nvSpPr>
        <p:spPr>
          <a:xfrm>
            <a:off x="7955280" y="3703320"/>
            <a:ext cx="3566160" cy="914400"/>
          </a:xfrm>
          <a:prstGeom prst="roundRect">
            <a:avLst>
              <a:gd name="adj" fmla="val 8000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27"/>
          <p:cNvSpPr/>
          <p:nvPr/>
        </p:nvSpPr>
        <p:spPr>
          <a:xfrm>
            <a:off x="8183880" y="3886200"/>
            <a:ext cx="548640" cy="54864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84" name="Google Shape;384;p27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255203" y="3957523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27"/>
          <p:cNvSpPr/>
          <p:nvPr/>
        </p:nvSpPr>
        <p:spPr>
          <a:xfrm>
            <a:off x="8869680" y="3886200"/>
            <a:ext cx="246888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400"/>
              <a:buFont typeface="Arial"/>
              <a:buNone/>
            </a:pPr>
            <a:r>
              <a:rPr lang="en-US" sz="14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Firebase DB</a:t>
            </a:r>
            <a:endParaRPr sz="14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86" name="Google Shape;386;p27"/>
          <p:cNvSpPr/>
          <p:nvPr/>
        </p:nvSpPr>
        <p:spPr>
          <a:xfrm>
            <a:off x="945032" y="2502825"/>
            <a:ext cx="10271455" cy="512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2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8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Profe</a:t>
            </a:r>
            <a:r>
              <a:rPr lang="en-US" sz="18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: </a:t>
            </a:r>
            <a:r>
              <a:rPr lang="en-US" sz="18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hice</a:t>
            </a:r>
            <a:r>
              <a:rPr lang="en-US" sz="18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justo</a:t>
            </a:r>
            <a:r>
              <a:rPr lang="en-US" sz="18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lo que me </a:t>
            </a:r>
            <a:r>
              <a:rPr lang="en-US" sz="18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dijiste</a:t>
            </a:r>
            <a:r>
              <a:rPr lang="en-US" sz="18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antes y de </a:t>
            </a:r>
            <a:r>
              <a:rPr lang="en-US" sz="18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todos</a:t>
            </a:r>
            <a:r>
              <a:rPr lang="en-US" sz="18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modos</a:t>
            </a:r>
            <a:r>
              <a:rPr lang="en-US" sz="18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lo </a:t>
            </a:r>
            <a:r>
              <a:rPr lang="en-US" sz="18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burlan</a:t>
            </a:r>
            <a:r>
              <a:rPr lang="en-US" sz="18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, dame </a:t>
            </a:r>
            <a:r>
              <a:rPr lang="en-US" sz="18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otra</a:t>
            </a:r>
            <a:r>
              <a:rPr lang="en-US" sz="18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solución</a:t>
            </a:r>
            <a:r>
              <a:rPr lang="en-US" sz="18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1800" dirty="0">
              <a:solidFill>
                <a:schemeClr val="lt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en-US" sz="11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정보쌤</a:t>
            </a:r>
            <a:r>
              <a:rPr lang="en-US" sz="11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: 야 </a:t>
            </a:r>
            <a:r>
              <a:rPr lang="en-US" sz="11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이거</a:t>
            </a:r>
            <a:r>
              <a:rPr lang="en-US" sz="11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아까</a:t>
            </a:r>
            <a:r>
              <a:rPr lang="en-US" sz="11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너가</a:t>
            </a:r>
            <a:r>
              <a:rPr lang="en-US" sz="11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하란대로</a:t>
            </a:r>
            <a:r>
              <a:rPr lang="en-US" sz="11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하라고</a:t>
            </a:r>
            <a:r>
              <a:rPr lang="en-US" sz="11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해서</a:t>
            </a:r>
            <a:r>
              <a:rPr lang="en-US" sz="11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했는데</a:t>
            </a:r>
            <a:r>
              <a:rPr lang="en-US" sz="11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다 </a:t>
            </a:r>
            <a:r>
              <a:rPr lang="en-US" sz="11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뚫린다</a:t>
            </a:r>
            <a:r>
              <a:rPr lang="en-US" sz="11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11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해결책</a:t>
            </a:r>
            <a:r>
              <a:rPr lang="en-US" sz="11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다시</a:t>
            </a:r>
            <a:r>
              <a:rPr lang="en-US" sz="11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알려줘</a:t>
            </a:r>
            <a:r>
              <a:rPr lang="en-US" sz="1100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1900" dirty="0">
              <a:solidFill>
                <a:schemeClr val="lt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28"/>
          <p:cNvSpPr/>
          <p:nvPr/>
        </p:nvSpPr>
        <p:spPr>
          <a:xfrm>
            <a:off x="640080" y="1097282"/>
            <a:ext cx="10058400" cy="8490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3000"/>
              <a:buFont typeface="Arial"/>
              <a:buNone/>
            </a:pPr>
            <a:r>
              <a:rPr lang="en-US" sz="3600" u="none" strike="noStrike" cap="none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“Intenten de nuevo, ahora sí que no podrán burlarlo.”</a:t>
            </a:r>
            <a:endParaRPr sz="3600" u="none" strike="noStrike" cap="none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3000"/>
              <a:buFont typeface="Arial"/>
              <a:buNone/>
            </a:pPr>
            <a:r>
              <a:rPr lang="en-US" sz="2000" u="none" strike="noStrike" cap="none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“ 야 다시 해봐, 이제 너네 절대 못뚫어. ”</a:t>
            </a:r>
            <a:endParaRPr sz="3600" u="none" strike="noStrike" cap="none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93" name="Google Shape;393;p28"/>
          <p:cNvSpPr/>
          <p:nvPr/>
        </p:nvSpPr>
        <p:spPr>
          <a:xfrm>
            <a:off x="724604" y="2156690"/>
            <a:ext cx="8722093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5C"/>
              </a:buClr>
              <a:buSzPts val="3000"/>
              <a:buFont typeface="Arial"/>
              <a:buNone/>
            </a:pPr>
            <a:r>
              <a:rPr lang="en-US" sz="3600" u="none" strike="noStrike" cap="none" dirty="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“Vale, lo </a:t>
            </a:r>
            <a:r>
              <a:rPr lang="en-US" sz="3600" u="none" strike="noStrike" cap="none" dirty="0" err="1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burlaremos</a:t>
            </a:r>
            <a:r>
              <a:rPr lang="en-US" sz="3600" u="none" strike="noStrike" cap="none" dirty="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.”</a:t>
            </a:r>
            <a:endParaRPr sz="36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3B5C"/>
              </a:buClr>
              <a:buSzPts val="3000"/>
              <a:buFont typeface="Arial"/>
              <a:buNone/>
            </a:pPr>
            <a:r>
              <a:rPr lang="en-US" sz="2000" u="none" strike="noStrike" cap="none" dirty="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“네, </a:t>
            </a:r>
            <a:r>
              <a:rPr lang="en-US" sz="2000" u="none" strike="noStrike" cap="none" dirty="0" err="1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뚫을게요</a:t>
            </a:r>
            <a:r>
              <a:rPr lang="en-US" sz="2000" u="none" strike="noStrike" cap="none" dirty="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.”</a:t>
            </a:r>
            <a:endParaRPr sz="36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94" name="Google Shape;394;p28"/>
          <p:cNvSpPr/>
          <p:nvPr/>
        </p:nvSpPr>
        <p:spPr>
          <a:xfrm>
            <a:off x="724604" y="3144252"/>
            <a:ext cx="11314996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800"/>
              <a:buFont typeface="Arial"/>
              <a:buNone/>
            </a:pPr>
            <a:r>
              <a:rPr lang="en-US" sz="20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Se </a:t>
            </a:r>
            <a:r>
              <a:rPr lang="en-US" sz="20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logró</a:t>
            </a:r>
            <a:r>
              <a:rPr lang="en-US" sz="20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defender con </a:t>
            </a:r>
            <a:r>
              <a:rPr lang="en-US" sz="20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éxito</a:t>
            </a:r>
            <a:r>
              <a:rPr lang="en-US" sz="20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la </a:t>
            </a:r>
            <a:r>
              <a:rPr lang="en-US" sz="20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sobrescritura</a:t>
            </a:r>
            <a:r>
              <a:rPr lang="en-US" sz="20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20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reservas</a:t>
            </a:r>
            <a:r>
              <a:rPr lang="en-US" sz="20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y </a:t>
            </a:r>
            <a:r>
              <a:rPr lang="en-US" sz="20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20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control </a:t>
            </a:r>
            <a:r>
              <a:rPr lang="en-US" sz="20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indebido</a:t>
            </a:r>
            <a:r>
              <a:rPr lang="en-US" sz="20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de START/STOP</a:t>
            </a:r>
            <a:endParaRPr sz="2000" dirty="0">
              <a:solidFill>
                <a:srgbClr val="E9F7EC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800"/>
              <a:buFont typeface="Arial"/>
              <a:buNone/>
            </a:pPr>
            <a:r>
              <a:rPr lang="en-US" sz="16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예매</a:t>
            </a:r>
            <a:r>
              <a:rPr lang="en-US" sz="16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덮어쓰기와</a:t>
            </a:r>
            <a:r>
              <a:rPr lang="en-US" sz="16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START/STOP 를 </a:t>
            </a:r>
            <a:r>
              <a:rPr lang="en-US" sz="16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마음대로</a:t>
            </a:r>
            <a:r>
              <a:rPr lang="en-US" sz="16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 </a:t>
            </a:r>
            <a:r>
              <a:rPr lang="en-US" sz="16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제어</a:t>
            </a:r>
            <a:r>
              <a:rPr lang="ko-KR" altLang="en-US" sz="16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했던 것은</a:t>
            </a:r>
            <a:r>
              <a:rPr lang="en-US" sz="16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성공</a:t>
            </a:r>
            <a:r>
              <a:rPr lang="ko-KR" altLang="en-US" sz="16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적으로</a:t>
            </a:r>
            <a:r>
              <a:rPr lang="en-US" sz="16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방어</a:t>
            </a:r>
            <a:endParaRPr sz="1600" dirty="0">
              <a:solidFill>
                <a:srgbClr val="E9F7EC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395" name="Google Shape;395;p28"/>
          <p:cNvSpPr/>
          <p:nvPr/>
        </p:nvSpPr>
        <p:spPr>
          <a:xfrm>
            <a:off x="724604" y="3903214"/>
            <a:ext cx="9144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800"/>
              <a:buFont typeface="Arial"/>
              <a:buNone/>
            </a:pP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El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profe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pensó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que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había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ganado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pero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surgió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otro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problema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…</a:t>
            </a:r>
            <a:endParaRPr sz="2000" dirty="0"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800"/>
              <a:buFont typeface="Arial"/>
              <a:buNone/>
            </a:pP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정보쌤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승리인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줄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알았으나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ko-KR" alt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곧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다른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문제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발생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…</a:t>
            </a:r>
            <a:endParaRPr sz="1600" dirty="0"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9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Ronda 3 · Ataque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3라운드 · 공략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02" name="Google Shape;402;p29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Ronda 3. La velocidad de reserva de los estudiantes es increíble…</a:t>
            </a:r>
            <a:endParaRPr sz="3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165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3라운드. 학생들의 예매 속도가 너무나도 빠르다…</a:t>
            </a:r>
            <a:endParaRPr sz="3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03" name="Google Shape;403;p29"/>
          <p:cNvSpPr/>
          <p:nvPr/>
        </p:nvSpPr>
        <p:spPr>
          <a:xfrm>
            <a:off x="4688738" y="25146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9"/>
          <p:cNvSpPr/>
          <p:nvPr/>
        </p:nvSpPr>
        <p:spPr>
          <a:xfrm>
            <a:off x="8463077" y="2514600"/>
            <a:ext cx="73152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29"/>
          <p:cNvSpPr/>
          <p:nvPr/>
        </p:nvSpPr>
        <p:spPr>
          <a:xfrm>
            <a:off x="640080" y="1892809"/>
            <a:ext cx="10881360" cy="1168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10000"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Estudiante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: ¿Eh? De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verdad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bloquearon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todos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los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métodos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anteriores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. Pues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uso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otro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método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dirty="0"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1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학생</a:t>
            </a:r>
            <a:r>
              <a:rPr lang="en-US" sz="21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: 어!? </a:t>
            </a:r>
            <a:r>
              <a:rPr lang="en-US" sz="21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진짜로</a:t>
            </a:r>
            <a:r>
              <a:rPr lang="en-US" sz="21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이전</a:t>
            </a:r>
            <a:r>
              <a:rPr lang="en-US" sz="21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방법들은</a:t>
            </a:r>
            <a:r>
              <a:rPr lang="en-US" sz="21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다 </a:t>
            </a:r>
            <a:r>
              <a:rPr lang="en-US" sz="21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막혔네</a:t>
            </a:r>
            <a:r>
              <a:rPr lang="en-US" sz="21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? </a:t>
            </a:r>
            <a:r>
              <a:rPr lang="en-US" sz="21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그럼</a:t>
            </a:r>
            <a:r>
              <a:rPr lang="en-US" sz="21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다른</a:t>
            </a:r>
            <a:r>
              <a:rPr lang="en-US" sz="21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방법</a:t>
            </a:r>
            <a:r>
              <a:rPr lang="en-US" sz="21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쓰면</a:t>
            </a:r>
            <a:r>
              <a:rPr lang="en-US" sz="21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돼.</a:t>
            </a:r>
            <a:endParaRPr sz="2100" dirty="0"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Basta con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enviar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mil solicitudes de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reserva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a la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vez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3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19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9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한번에</a:t>
            </a:r>
            <a:r>
              <a:rPr lang="en-US" sz="19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9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예매</a:t>
            </a:r>
            <a:r>
              <a:rPr lang="en-US" sz="19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9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요청</a:t>
            </a:r>
            <a:r>
              <a:rPr lang="en-US" sz="19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9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천개</a:t>
            </a:r>
            <a:r>
              <a:rPr lang="en-US" sz="19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9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동시에</a:t>
            </a:r>
            <a:r>
              <a:rPr lang="en-US" sz="19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9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해버리면</a:t>
            </a:r>
            <a:r>
              <a:rPr lang="en-US" sz="19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9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그만이야</a:t>
            </a:r>
            <a:r>
              <a:rPr lang="en-US" sz="19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4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06" name="Google Shape;406;p29"/>
          <p:cNvSpPr/>
          <p:nvPr/>
        </p:nvSpPr>
        <p:spPr>
          <a:xfrm>
            <a:off x="640080" y="3383281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A432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14A432"/>
                </a:solidFill>
                <a:latin typeface="Jua"/>
                <a:ea typeface="Jua"/>
                <a:cs typeface="Jua"/>
                <a:sym typeface="Jua"/>
              </a:rPr>
              <a:t>Al pulsar Start, uno solo </a:t>
            </a:r>
            <a:r>
              <a:rPr lang="en-US" sz="2400" dirty="0" err="1">
                <a:solidFill>
                  <a:srgbClr val="14A432"/>
                </a:solidFill>
                <a:latin typeface="Jua"/>
                <a:ea typeface="Jua"/>
                <a:cs typeface="Jua"/>
                <a:sym typeface="Jua"/>
              </a:rPr>
              <a:t>reserva</a:t>
            </a:r>
            <a:r>
              <a:rPr lang="en-US" sz="2400" dirty="0">
                <a:solidFill>
                  <a:srgbClr val="14A432"/>
                </a:solidFill>
                <a:latin typeface="Jua"/>
                <a:ea typeface="Jua"/>
                <a:cs typeface="Jua"/>
                <a:sym typeface="Jua"/>
              </a:rPr>
              <a:t> mil asientos al </a:t>
            </a:r>
            <a:r>
              <a:rPr lang="en-US" sz="2400" dirty="0" err="1">
                <a:solidFill>
                  <a:srgbClr val="14A432"/>
                </a:solidFill>
                <a:latin typeface="Jua"/>
                <a:ea typeface="Jua"/>
                <a:cs typeface="Jua"/>
                <a:sym typeface="Jua"/>
              </a:rPr>
              <a:t>instante</a:t>
            </a:r>
            <a:r>
              <a:rPr lang="en-US" sz="2400" dirty="0">
                <a:solidFill>
                  <a:srgbClr val="14A432"/>
                </a:solidFill>
                <a:latin typeface="Jua"/>
                <a:ea typeface="Jua"/>
                <a:cs typeface="Jua"/>
                <a:sym typeface="Jua"/>
              </a:rPr>
              <a:t>…</a:t>
            </a:r>
            <a:endParaRPr sz="2400" dirty="0">
              <a:solidFill>
                <a:srgbClr val="14A432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4A432"/>
              </a:buClr>
              <a:buSzPts val="2400"/>
              <a:buFont typeface="Arial"/>
              <a:buNone/>
            </a:pPr>
            <a:r>
              <a:rPr lang="en-US" sz="1600" dirty="0">
                <a:solidFill>
                  <a:srgbClr val="14A432"/>
                </a:solidFill>
                <a:latin typeface="Jua"/>
                <a:ea typeface="Jua"/>
                <a:cs typeface="Jua"/>
                <a:sym typeface="Jua"/>
              </a:rPr>
              <a:t> Start  </a:t>
            </a:r>
            <a:r>
              <a:rPr lang="en-US" sz="1600" dirty="0" err="1">
                <a:solidFill>
                  <a:srgbClr val="14A432"/>
                </a:solidFill>
                <a:latin typeface="Jua"/>
                <a:ea typeface="Jua"/>
                <a:cs typeface="Jua"/>
                <a:sym typeface="Jua"/>
              </a:rPr>
              <a:t>누르자마자</a:t>
            </a:r>
            <a:r>
              <a:rPr lang="en-US" sz="1600" dirty="0">
                <a:solidFill>
                  <a:srgbClr val="14A432"/>
                </a:solidFill>
                <a:latin typeface="Jua"/>
                <a:ea typeface="Jua"/>
                <a:cs typeface="Jua"/>
                <a:sym typeface="Jua"/>
              </a:rPr>
              <a:t> 한 </a:t>
            </a:r>
            <a:r>
              <a:rPr lang="en-US" sz="1600" dirty="0" err="1">
                <a:solidFill>
                  <a:srgbClr val="14A432"/>
                </a:solidFill>
                <a:latin typeface="Jua"/>
                <a:ea typeface="Jua"/>
                <a:cs typeface="Jua"/>
                <a:sym typeface="Jua"/>
              </a:rPr>
              <a:t>명이</a:t>
            </a:r>
            <a:r>
              <a:rPr lang="en-US" sz="1600" dirty="0">
                <a:solidFill>
                  <a:srgbClr val="14A432"/>
                </a:solidFill>
                <a:latin typeface="Jua"/>
                <a:ea typeface="Jua"/>
                <a:cs typeface="Jua"/>
                <a:sym typeface="Jua"/>
              </a:rPr>
              <a:t> 1천개 </a:t>
            </a:r>
            <a:r>
              <a:rPr lang="en-US" sz="1600" dirty="0" err="1">
                <a:solidFill>
                  <a:srgbClr val="14A432"/>
                </a:solidFill>
                <a:latin typeface="Jua"/>
                <a:ea typeface="Jua"/>
                <a:cs typeface="Jua"/>
                <a:sym typeface="Jua"/>
              </a:rPr>
              <a:t>동시에</a:t>
            </a:r>
            <a:r>
              <a:rPr lang="en-US" sz="1600" dirty="0">
                <a:solidFill>
                  <a:srgbClr val="14A432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14A432"/>
                </a:solidFill>
                <a:latin typeface="Jua"/>
                <a:ea typeface="Jua"/>
                <a:cs typeface="Jua"/>
                <a:sym typeface="Jua"/>
              </a:rPr>
              <a:t>순식간에</a:t>
            </a:r>
            <a:r>
              <a:rPr lang="en-US" sz="1600" dirty="0">
                <a:solidFill>
                  <a:srgbClr val="14A432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14A432"/>
                </a:solidFill>
                <a:latin typeface="Jua"/>
                <a:ea typeface="Jua"/>
                <a:cs typeface="Jua"/>
                <a:sym typeface="Jua"/>
              </a:rPr>
              <a:t>예매</a:t>
            </a:r>
            <a:r>
              <a:rPr lang="en-US" sz="1600" dirty="0">
                <a:solidFill>
                  <a:srgbClr val="14A432"/>
                </a:solidFill>
                <a:latin typeface="Jua"/>
                <a:ea typeface="Jua"/>
                <a:cs typeface="Jua"/>
                <a:sym typeface="Jua"/>
              </a:rPr>
              <a:t>… </a:t>
            </a:r>
            <a:endParaRPr sz="3200" dirty="0">
              <a:solidFill>
                <a:srgbClr val="14A432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0"/>
          <p:cNvSpPr/>
          <p:nvPr/>
        </p:nvSpPr>
        <p:spPr>
          <a:xfrm>
            <a:off x="640080" y="1033416"/>
            <a:ext cx="1036289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2800"/>
              <a:buFont typeface="Arial"/>
              <a:buNone/>
            </a:pPr>
            <a:r>
              <a:rPr lang="en-US" sz="28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Profe</a:t>
            </a:r>
            <a:r>
              <a:rPr lang="en-US" sz="28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: “¿</a:t>
            </a:r>
            <a:r>
              <a:rPr lang="en-US" sz="28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Cómo</a:t>
            </a:r>
            <a:r>
              <a:rPr lang="en-US" sz="28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reservas</a:t>
            </a:r>
            <a:r>
              <a:rPr lang="en-US" sz="28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tantos a la </a:t>
            </a:r>
            <a:r>
              <a:rPr lang="en-US" sz="28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vez</a:t>
            </a:r>
            <a:r>
              <a:rPr lang="en-US" sz="28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?” (sin idea real)</a:t>
            </a:r>
            <a:endParaRPr sz="28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2800"/>
              <a:buFont typeface="Arial"/>
              <a:buNone/>
            </a:pPr>
            <a:r>
              <a:rPr lang="en-US" sz="154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정보쌤</a:t>
            </a:r>
            <a:r>
              <a:rPr lang="en-US" sz="154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: “ 너 </a:t>
            </a:r>
            <a:r>
              <a:rPr lang="en-US" sz="154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이거</a:t>
            </a:r>
            <a:r>
              <a:rPr lang="en-US" sz="154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4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어떻게</a:t>
            </a:r>
            <a:r>
              <a:rPr lang="en-US" sz="154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 </a:t>
            </a:r>
            <a:r>
              <a:rPr lang="en-US" sz="154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한번에</a:t>
            </a:r>
            <a:r>
              <a:rPr lang="en-US" sz="154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 </a:t>
            </a:r>
            <a:r>
              <a:rPr lang="en-US" sz="154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동시에</a:t>
            </a:r>
            <a:r>
              <a:rPr lang="en-US" sz="154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4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예매하냐</a:t>
            </a:r>
            <a:r>
              <a:rPr lang="en-US" sz="154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?”(</a:t>
            </a:r>
            <a:r>
              <a:rPr lang="en-US" sz="154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진짜</a:t>
            </a:r>
            <a:r>
              <a:rPr lang="en-US" sz="154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4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방법</a:t>
            </a:r>
            <a:r>
              <a:rPr lang="en-US" sz="154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4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모름</a:t>
            </a:r>
            <a:r>
              <a:rPr lang="en-US" sz="154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)</a:t>
            </a:r>
            <a:endParaRPr sz="28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13" name="Google Shape;413;p30"/>
          <p:cNvSpPr/>
          <p:nvPr/>
        </p:nvSpPr>
        <p:spPr>
          <a:xfrm>
            <a:off x="640080" y="2003514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3858"/>
              </a:buClr>
              <a:buSzPts val="3000"/>
              <a:buFont typeface="Arial"/>
              <a:buNone/>
            </a:pPr>
            <a:r>
              <a:rPr lang="en-US" sz="3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Estudiante</a:t>
            </a:r>
            <a:r>
              <a:rPr lang="en-US" sz="3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: “</a:t>
            </a:r>
            <a:r>
              <a:rPr lang="en-US" sz="3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Usé</a:t>
            </a:r>
            <a:r>
              <a:rPr lang="en-US" sz="3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multihilos</a:t>
            </a:r>
            <a:r>
              <a:rPr lang="en-US" sz="3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”</a:t>
            </a:r>
            <a:endParaRPr sz="3000" u="none" strike="noStrike" cap="none" dirty="0">
              <a:solidFill>
                <a:srgbClr val="F33858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3858"/>
              </a:buClr>
              <a:buSzPts val="3000"/>
              <a:buFont typeface="Arial"/>
              <a:buNone/>
            </a:pPr>
            <a:r>
              <a:rPr lang="en-US" sz="165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학생</a:t>
            </a:r>
            <a:r>
              <a:rPr lang="en-US" sz="165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: “ </a:t>
            </a:r>
            <a:r>
              <a:rPr lang="en-US" sz="165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멀티쓰레드</a:t>
            </a:r>
            <a:r>
              <a:rPr lang="en-US" sz="165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썼는데요</a:t>
            </a:r>
            <a:r>
              <a:rPr lang="en-US" sz="165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”</a:t>
            </a:r>
            <a:endParaRPr sz="3000" u="none" strike="noStrike" cap="none" dirty="0">
              <a:solidFill>
                <a:srgbClr val="F33858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14" name="Google Shape;414;p30"/>
          <p:cNvSpPr/>
          <p:nvPr/>
        </p:nvSpPr>
        <p:spPr>
          <a:xfrm>
            <a:off x="640079" y="2887434"/>
            <a:ext cx="1036289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3000"/>
              <a:buFont typeface="Arial"/>
              <a:buNone/>
            </a:pPr>
            <a:r>
              <a:rPr lang="en-US" sz="30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Profe</a:t>
            </a:r>
            <a:r>
              <a:rPr lang="en-US" sz="30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: “¿Sabes </a:t>
            </a:r>
            <a:r>
              <a:rPr lang="en-US" sz="30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hacer</a:t>
            </a:r>
            <a:r>
              <a:rPr lang="en-US" sz="30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00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eso</a:t>
            </a:r>
            <a:r>
              <a:rPr lang="en-US" sz="300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?”</a:t>
            </a:r>
            <a:endParaRPr sz="30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3000"/>
              <a:buFont typeface="Arial"/>
              <a:buNone/>
            </a:pPr>
            <a:r>
              <a:rPr lang="en-US" sz="165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정보쌤</a:t>
            </a:r>
            <a:r>
              <a:rPr lang="en-US" sz="165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: “ 너 </a:t>
            </a:r>
            <a:r>
              <a:rPr lang="en-US" sz="165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그런</a:t>
            </a:r>
            <a:r>
              <a:rPr lang="en-US" sz="165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것도</a:t>
            </a:r>
            <a:r>
              <a:rPr lang="en-US" sz="165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할 줄 </a:t>
            </a:r>
            <a:r>
              <a:rPr lang="en-US" sz="1650" u="none" strike="noStrike" cap="none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아니</a:t>
            </a:r>
            <a:r>
              <a:rPr lang="en-US" sz="1650" u="none" strike="noStrike" cap="none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?”</a:t>
            </a:r>
            <a:endParaRPr sz="30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15" name="Google Shape;415;p30"/>
          <p:cNvSpPr/>
          <p:nvPr/>
        </p:nvSpPr>
        <p:spPr>
          <a:xfrm>
            <a:off x="640080" y="3857532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3858"/>
              </a:buClr>
              <a:buSzPts val="3000"/>
              <a:buFont typeface="Arial"/>
              <a:buNone/>
            </a:pPr>
            <a:r>
              <a:rPr lang="en-US" sz="3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Estudiante</a:t>
            </a:r>
            <a:r>
              <a:rPr lang="en-US" sz="3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: “Me lo </a:t>
            </a:r>
            <a:r>
              <a:rPr lang="en-US" sz="3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enseña</a:t>
            </a:r>
            <a:r>
              <a:rPr lang="en-US" sz="3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la IA”</a:t>
            </a:r>
            <a:endParaRPr sz="3000" u="none" strike="noStrike" cap="none" dirty="0">
              <a:solidFill>
                <a:srgbClr val="F33858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3858"/>
              </a:buClr>
              <a:buSzPts val="3000"/>
              <a:buFont typeface="Arial"/>
              <a:buNone/>
            </a:pPr>
            <a:r>
              <a:rPr lang="en-US" sz="165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학생</a:t>
            </a:r>
            <a:r>
              <a:rPr lang="en-US" sz="165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: “ </a:t>
            </a:r>
            <a:r>
              <a:rPr lang="en-US" sz="165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AI가</a:t>
            </a:r>
            <a:r>
              <a:rPr lang="en-US" sz="165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알려주는데요</a:t>
            </a:r>
            <a:r>
              <a:rPr lang="en-US" sz="165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”</a:t>
            </a:r>
            <a:endParaRPr sz="3000" u="none" strike="noStrike" cap="none" dirty="0">
              <a:solidFill>
                <a:srgbClr val="F33858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 u="none" strike="noStrike" cap="none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Ronda 3 · Ataque</a:t>
            </a:r>
            <a:endParaRPr sz="1200" u="none" strike="noStrike" cap="none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 u="none" strike="noStrike" cap="none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3라운드 · 공략</a:t>
            </a:r>
            <a:endParaRPr sz="1200" u="none" strike="noStrike" cap="none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22" name="Google Shape;422;p31"/>
          <p:cNvSpPr/>
          <p:nvPr/>
        </p:nvSpPr>
        <p:spPr>
          <a:xfrm>
            <a:off x="670255" y="1086920"/>
            <a:ext cx="10881360" cy="6755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24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Método</a:t>
            </a:r>
            <a:r>
              <a:rPr lang="en-US" sz="24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24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los</a:t>
            </a:r>
            <a:r>
              <a:rPr lang="en-US" sz="24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estudiantes</a:t>
            </a:r>
            <a:r>
              <a:rPr lang="en-US" sz="24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: </a:t>
            </a:r>
            <a:r>
              <a:rPr lang="en-US" sz="24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llamar</a:t>
            </a:r>
            <a:r>
              <a:rPr lang="en-US" sz="24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a /claim </a:t>
            </a:r>
            <a:r>
              <a:rPr lang="en-US" sz="24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en</a:t>
            </a:r>
            <a:r>
              <a:rPr lang="en-US" sz="24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24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Worker lo </a:t>
            </a:r>
            <a:r>
              <a:rPr lang="en-US" sz="24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más</a:t>
            </a:r>
            <a:r>
              <a:rPr lang="en-US" sz="24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rápido</a:t>
            </a:r>
            <a:r>
              <a:rPr lang="en-US" sz="24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posible</a:t>
            </a:r>
            <a:endParaRPr dirty="0"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Arial"/>
              <a:buNone/>
            </a:pPr>
            <a:r>
              <a:rPr lang="en-US" sz="18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학생들의</a:t>
            </a:r>
            <a:r>
              <a:rPr lang="en-US" sz="18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공략법</a:t>
            </a:r>
            <a:r>
              <a:rPr lang="en-US" sz="18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: </a:t>
            </a:r>
            <a:r>
              <a:rPr lang="en-US" sz="18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cloudfare</a:t>
            </a:r>
            <a:r>
              <a:rPr lang="en-US" sz="18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worker에서</a:t>
            </a:r>
            <a:r>
              <a:rPr lang="en-US" sz="18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/</a:t>
            </a:r>
            <a:r>
              <a:rPr lang="en-US" sz="18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claim을</a:t>
            </a:r>
            <a:r>
              <a:rPr lang="en-US" sz="18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최대한</a:t>
            </a:r>
            <a:r>
              <a:rPr lang="en-US" sz="18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빠르게</a:t>
            </a:r>
            <a:r>
              <a:rPr lang="en-US" sz="18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u="none" strike="noStrike" cap="none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호출</a:t>
            </a:r>
            <a:r>
              <a:rPr lang="en-US" sz="1800" u="none" strike="noStrike" cap="none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endParaRPr sz="2000" dirty="0"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23" name="Google Shape;423;p31"/>
          <p:cNvSpPr/>
          <p:nvPr/>
        </p:nvSpPr>
        <p:spPr>
          <a:xfrm>
            <a:off x="1608870" y="2384819"/>
            <a:ext cx="8821249" cy="3108960"/>
          </a:xfrm>
          <a:prstGeom prst="roundRect">
            <a:avLst>
              <a:gd name="adj" fmla="val 2353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31"/>
          <p:cNvSpPr/>
          <p:nvPr/>
        </p:nvSpPr>
        <p:spPr>
          <a:xfrm>
            <a:off x="5763462" y="2772261"/>
            <a:ext cx="694944" cy="694944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25" name="Google Shape;425;p3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853805" y="2848555"/>
            <a:ext cx="514259" cy="514259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31"/>
          <p:cNvSpPr/>
          <p:nvPr/>
        </p:nvSpPr>
        <p:spPr>
          <a:xfrm>
            <a:off x="1684991" y="3572644"/>
            <a:ext cx="866937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4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3200"/>
              <a:buFont typeface="Arial"/>
              <a:buNone/>
            </a:pPr>
            <a:r>
              <a:rPr lang="en-US" sz="44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Solicitudes </a:t>
            </a:r>
            <a:r>
              <a:rPr lang="en-US" sz="44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simultáneas</a:t>
            </a:r>
            <a:r>
              <a:rPr lang="en-US" sz="44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a /claim con </a:t>
            </a:r>
            <a:r>
              <a:rPr lang="en-US" sz="44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multihilos</a:t>
            </a:r>
            <a:r>
              <a:rPr lang="en-US" sz="44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44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en</a:t>
            </a:r>
            <a:r>
              <a:rPr lang="en-US" sz="44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Python</a:t>
            </a:r>
            <a:endParaRPr sz="44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3200"/>
              <a:buFont typeface="Arial"/>
              <a:buNone/>
            </a:pPr>
            <a:r>
              <a:rPr lang="en-US" sz="32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Python </a:t>
            </a:r>
            <a:r>
              <a:rPr lang="en-US" sz="32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멀티스레드로</a:t>
            </a:r>
            <a:r>
              <a:rPr lang="en-US" sz="32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/claim </a:t>
            </a:r>
            <a:r>
              <a:rPr lang="en-US" sz="32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동시다발</a:t>
            </a:r>
            <a:r>
              <a:rPr lang="en-US" sz="32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2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요청</a:t>
            </a:r>
            <a:endParaRPr sz="58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27" name="Google Shape;427;p31"/>
          <p:cNvSpPr/>
          <p:nvPr/>
        </p:nvSpPr>
        <p:spPr>
          <a:xfrm>
            <a:off x="578815" y="1561859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endParaRPr sz="30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1"/>
          <p:cNvSpPr/>
          <p:nvPr/>
        </p:nvSpPr>
        <p:spPr>
          <a:xfrm>
            <a:off x="1684809" y="4282830"/>
            <a:ext cx="8669370" cy="1127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77500" lnSpcReduction="20000"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800"/>
              <a:buFont typeface="Arial"/>
              <a:buNone/>
            </a:pPr>
            <a:r>
              <a:rPr lang="en-US" sz="28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Aunque</a:t>
            </a:r>
            <a:r>
              <a:rPr lang="en-US" sz="28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haya</a:t>
            </a:r>
            <a:r>
              <a:rPr lang="en-US" sz="28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mil o </a:t>
            </a:r>
            <a:r>
              <a:rPr lang="en-US" sz="28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cinco</a:t>
            </a:r>
            <a:r>
              <a:rPr lang="en-US" sz="28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mil asientos, se </a:t>
            </a:r>
            <a:r>
              <a:rPr lang="en-US" sz="28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reservan</a:t>
            </a:r>
            <a:r>
              <a:rPr lang="en-US" sz="28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al </a:t>
            </a:r>
            <a:r>
              <a:rPr lang="en-US" sz="28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instante</a:t>
            </a:r>
            <a:r>
              <a:rPr lang="en-US" sz="28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igual</a:t>
            </a:r>
            <a:r>
              <a:rPr lang="en-US" sz="28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…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800"/>
              <a:buFont typeface="Arial"/>
              <a:buNone/>
            </a:pPr>
            <a:r>
              <a:rPr lang="en-US" sz="28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no </a:t>
            </a:r>
            <a:r>
              <a:rPr lang="en-US" sz="28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sirve</a:t>
            </a:r>
            <a:r>
              <a:rPr lang="en-US" sz="28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de nada </a:t>
            </a:r>
            <a:r>
              <a:rPr lang="en-US" sz="28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aumentarlos</a:t>
            </a:r>
            <a:r>
              <a:rPr lang="en-US" sz="28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…</a:t>
            </a:r>
            <a:endParaRPr sz="28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800"/>
              <a:buFont typeface="Arial"/>
              <a:buNone/>
            </a:pPr>
            <a:r>
              <a:rPr lang="en-US" sz="21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좌석을</a:t>
            </a:r>
            <a:r>
              <a:rPr lang="en-US" sz="21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1천개 5천개 </a:t>
            </a:r>
            <a:r>
              <a:rPr lang="en-US" sz="21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늘려도</a:t>
            </a:r>
            <a:r>
              <a:rPr lang="en-US" sz="21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순식간에</a:t>
            </a:r>
            <a:r>
              <a:rPr lang="en-US" sz="21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예매되는건</a:t>
            </a:r>
            <a:r>
              <a:rPr lang="en-US" sz="21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동일</a:t>
            </a:r>
            <a:r>
              <a:rPr lang="en-US" sz="21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…</a:t>
            </a: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800"/>
              <a:buFont typeface="Arial"/>
              <a:buNone/>
            </a:pPr>
            <a:r>
              <a:rPr lang="en-US" sz="21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좌석수를</a:t>
            </a:r>
            <a:r>
              <a:rPr lang="en-US" sz="21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늘려도</a:t>
            </a:r>
            <a:r>
              <a:rPr lang="en-US" sz="21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의미가</a:t>
            </a:r>
            <a:r>
              <a:rPr lang="en-US" sz="21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u="none" strike="noStrike" cap="none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없다</a:t>
            </a:r>
            <a:r>
              <a:rPr lang="en-US" sz="2100" u="none" strike="noStrike" cap="none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…</a:t>
            </a:r>
            <a:endParaRPr sz="41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32"/>
          <p:cNvSpPr/>
          <p:nvPr/>
        </p:nvSpPr>
        <p:spPr>
          <a:xfrm>
            <a:off x="640080" y="1522395"/>
            <a:ext cx="1036289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000"/>
              <a:buFont typeface="Arial"/>
              <a:buNone/>
            </a:pPr>
            <a:r>
              <a:rPr lang="en-US" sz="3000" u="none" strike="noStrike" cap="none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Estudiante A: “Esto no es nada. Voy primero.”</a:t>
            </a:r>
            <a:endParaRPr sz="3000" u="none" strike="noStrike" cap="none">
              <a:solidFill>
                <a:srgbClr val="FFC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  <a:buSzPts val="3000"/>
              <a:buFont typeface="Arial"/>
              <a:buNone/>
            </a:pPr>
            <a:r>
              <a:rPr lang="en-US" sz="1650" u="none" strike="noStrike" cap="none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학생 A : “야 이거 별거 없네. 내가 일등임”</a:t>
            </a:r>
            <a:endParaRPr sz="3000" u="none" strike="noStrike" cap="none">
              <a:solidFill>
                <a:srgbClr val="FFC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35" name="Google Shape;435;p32"/>
          <p:cNvSpPr/>
          <p:nvPr/>
        </p:nvSpPr>
        <p:spPr>
          <a:xfrm>
            <a:off x="640081" y="2435824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Profe: “Sí, parece que vas a ganar tú.”</a:t>
            </a:r>
            <a:endParaRPr sz="3000" u="none" strike="noStrike" cap="none">
              <a:solidFill>
                <a:srgbClr val="6E9679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3000"/>
              <a:buFont typeface="Arial"/>
              <a:buNone/>
            </a:pPr>
            <a:r>
              <a:rPr lang="en-US" sz="165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정보쌤 : “ 그러네 너가 일등하겠다”</a:t>
            </a:r>
            <a:endParaRPr sz="3000" u="none" strike="noStrike" cap="none">
              <a:solidFill>
                <a:srgbClr val="6E9679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36" name="Google Shape;436;p32"/>
          <p:cNvSpPr/>
          <p:nvPr/>
        </p:nvSpPr>
        <p:spPr>
          <a:xfrm>
            <a:off x="640079" y="3349254"/>
            <a:ext cx="10362895" cy="608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77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None/>
            </a:pPr>
            <a:r>
              <a:rPr lang="en-US" sz="3000" u="none" strike="noStrike" cap="none">
                <a:solidFill>
                  <a:schemeClr val="accent2"/>
                </a:solidFill>
                <a:latin typeface="Jua"/>
                <a:ea typeface="Jua"/>
                <a:cs typeface="Jua"/>
                <a:sym typeface="Jua"/>
              </a:rPr>
              <a:t>Estudiante B: “Profe, yo soy más rápido.”</a:t>
            </a:r>
            <a:endParaRPr sz="3000" u="none" strike="noStrike" cap="none">
              <a:solidFill>
                <a:schemeClr val="accent2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000"/>
              <a:buFont typeface="Arial"/>
              <a:buNone/>
            </a:pPr>
            <a:r>
              <a:rPr lang="en-US" sz="1650" u="none" strike="noStrike" cap="none">
                <a:solidFill>
                  <a:schemeClr val="accent2"/>
                </a:solidFill>
                <a:latin typeface="Jua"/>
                <a:ea typeface="Jua"/>
                <a:cs typeface="Jua"/>
                <a:sym typeface="Jua"/>
              </a:rPr>
              <a:t>학생B : “ 선생님, 제가 더 빠릅니다.”</a:t>
            </a:r>
            <a:endParaRPr sz="3000" u="none" strike="noStrike" cap="none">
              <a:solidFill>
                <a:schemeClr val="accent2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37" name="Google Shape;437;p32"/>
          <p:cNvSpPr/>
          <p:nvPr/>
        </p:nvSpPr>
        <p:spPr>
          <a:xfrm>
            <a:off x="640081" y="4254223"/>
            <a:ext cx="10362895" cy="6082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77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3000" u="none" strike="noStrike" cap="none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Aparece un estudiante más rápido que el multihilo en Python</a:t>
            </a:r>
            <a:endParaRPr sz="3000" u="none" strike="noStrike" cap="none">
              <a:solidFill>
                <a:schemeClr val="lt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000"/>
              <a:buFont typeface="Arial"/>
              <a:buNone/>
            </a:pPr>
            <a:r>
              <a:rPr lang="en-US" sz="1650" u="none" strike="noStrike" cap="none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파이썬 멀티쓰레드보다 더 빠른 학생 등장</a:t>
            </a:r>
            <a:endParaRPr sz="3000" u="none" strike="noStrike" cap="none">
              <a:solidFill>
                <a:schemeClr val="lt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3"/>
          <p:cNvSpPr/>
          <p:nvPr/>
        </p:nvSpPr>
        <p:spPr>
          <a:xfrm>
            <a:off x="561702" y="247898"/>
            <a:ext cx="1036289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8F73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Profe: “Vaya, de verdad eres más rápido. ¿Cómo lo hiciste?” (sin idea real)</a:t>
            </a:r>
            <a:endParaRPr sz="2400" u="none" strike="noStrike" cap="none">
              <a:solidFill>
                <a:srgbClr val="698F73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8F73"/>
              </a:buClr>
              <a:buSzPts val="2400"/>
              <a:buFont typeface="Arial"/>
              <a:buNone/>
            </a:pPr>
            <a:r>
              <a:rPr lang="en-US" sz="132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정보쌤 : “와 진짜 너가 더 빠르네 어떻게 했냐?”(진짜 모름)</a:t>
            </a:r>
            <a:endParaRPr sz="2400" u="none" strike="noStrike" cap="none">
              <a:solidFill>
                <a:srgbClr val="698F73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44" name="Google Shape;444;p33"/>
          <p:cNvSpPr/>
          <p:nvPr/>
        </p:nvSpPr>
        <p:spPr>
          <a:xfrm>
            <a:off x="561702" y="1142521"/>
            <a:ext cx="11277295" cy="1852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 u="none" strike="noStrike" cap="none">
                <a:solidFill>
                  <a:schemeClr val="accent2"/>
                </a:solidFill>
                <a:latin typeface="Jua"/>
                <a:ea typeface="Jua"/>
                <a:cs typeface="Jua"/>
                <a:sym typeface="Jua"/>
              </a:rPr>
              <a:t>Estudiante B: “Los que usan Python tienen un retraso inicial mientras arranca el programa y Selenium. Pero si envías la solicitud directo en JavaScript desde la consola del navegador, no hay ese retraso, así que es más rápido.”</a:t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1320" u="none" strike="noStrike" cap="none">
                <a:solidFill>
                  <a:schemeClr val="accent2"/>
                </a:solidFill>
                <a:latin typeface="Jua"/>
                <a:ea typeface="Jua"/>
                <a:cs typeface="Jua"/>
                <a:sym typeface="Jua"/>
              </a:rPr>
              <a:t>학생 B : “파이썬 쓰는 친구들은 처음에 예매 시작할 때 프로그램 켜지고 셀레니움 켜질 때까지 선딜레이가 있습니다. 하지만 브라우저 콘솔에서 막바로 자바스크립트로 요청하면 선딜레이가 없어서 이 방법이 더 빠릅니다.”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45" name="Google Shape;445;p33"/>
          <p:cNvSpPr/>
          <p:nvPr/>
        </p:nvSpPr>
        <p:spPr>
          <a:xfrm>
            <a:off x="561701" y="2948926"/>
            <a:ext cx="1036289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8F73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Profe: “¿Y cómo supiste eso?” (sin idea real)</a:t>
            </a:r>
            <a:endParaRPr sz="2400" u="none" strike="noStrike" cap="none">
              <a:solidFill>
                <a:srgbClr val="698F73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8F73"/>
              </a:buClr>
              <a:buSzPts val="2400"/>
              <a:buFont typeface="Arial"/>
              <a:buNone/>
            </a:pPr>
            <a:r>
              <a:rPr lang="en-US" sz="132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정보쌤 : “와 그걸 어떻게 알았냐?”(진짜 모름)</a:t>
            </a:r>
            <a:endParaRPr sz="2400" u="none" strike="noStrike" cap="none">
              <a:solidFill>
                <a:srgbClr val="698F73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46" name="Google Shape;446;p33"/>
          <p:cNvSpPr/>
          <p:nvPr/>
        </p:nvSpPr>
        <p:spPr>
          <a:xfrm>
            <a:off x="561702" y="3863414"/>
            <a:ext cx="11277295" cy="4985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2400" u="none" strike="noStrike" cap="none">
                <a:solidFill>
                  <a:schemeClr val="accent2"/>
                </a:solidFill>
                <a:latin typeface="Jua"/>
                <a:ea typeface="Jua"/>
                <a:cs typeface="Jua"/>
                <a:sym typeface="Jua"/>
              </a:rPr>
              <a:t>Estudiante B: “¿Eso? Me lo dice la IA.”</a:t>
            </a:r>
            <a:endParaRPr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400"/>
              <a:buFont typeface="Arial"/>
              <a:buNone/>
            </a:pPr>
            <a:r>
              <a:rPr lang="en-US" sz="1320" u="none" strike="noStrike" cap="none">
                <a:solidFill>
                  <a:schemeClr val="accent2"/>
                </a:solidFill>
                <a:latin typeface="Jua"/>
                <a:ea typeface="Jua"/>
                <a:cs typeface="Jua"/>
                <a:sym typeface="Jua"/>
              </a:rPr>
              <a:t>학생B : “아 그거요? AI가 알려줍니다.”</a:t>
            </a:r>
            <a:endParaRPr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47" name="Google Shape;447;p33"/>
          <p:cNvSpPr/>
          <p:nvPr/>
        </p:nvSpPr>
        <p:spPr>
          <a:xfrm>
            <a:off x="640077" y="5306995"/>
            <a:ext cx="1127729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¡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Experimentaron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de forma 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indirecta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la 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importancia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del </a:t>
            </a:r>
            <a:r>
              <a:rPr lang="en-US" sz="2400" u="none" strike="noStrike" cap="none" dirty="0">
                <a:solidFill>
                  <a:srgbClr val="FF0000"/>
                </a:solidFill>
                <a:latin typeface="Jua"/>
                <a:ea typeface="Jua"/>
                <a:cs typeface="Jua"/>
                <a:sym typeface="Jua"/>
              </a:rPr>
              <a:t>cold start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en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ingeniería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rendimiento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!</a:t>
            </a:r>
            <a:endParaRPr sz="2400" dirty="0">
              <a:solidFill>
                <a:schemeClr val="lt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1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성능</a:t>
            </a:r>
            <a:r>
              <a:rPr lang="en-US" sz="21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엔지니어링</a:t>
            </a:r>
            <a:r>
              <a:rPr lang="en-US" sz="21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u="none" strike="noStrike" cap="none" dirty="0" err="1">
                <a:solidFill>
                  <a:srgbClr val="FF0000"/>
                </a:solidFill>
                <a:latin typeface="Jua"/>
                <a:ea typeface="Jua"/>
                <a:cs typeface="Jua"/>
                <a:sym typeface="Jua"/>
              </a:rPr>
              <a:t>콜드</a:t>
            </a:r>
            <a:r>
              <a:rPr lang="en-US" sz="2100" u="none" strike="noStrike" cap="none" dirty="0">
                <a:solidFill>
                  <a:srgbClr val="FF0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u="none" strike="noStrike" cap="none" dirty="0" err="1">
                <a:solidFill>
                  <a:srgbClr val="FF0000"/>
                </a:solidFill>
                <a:latin typeface="Jua"/>
                <a:ea typeface="Jua"/>
                <a:cs typeface="Jua"/>
                <a:sym typeface="Jua"/>
              </a:rPr>
              <a:t>스타트</a:t>
            </a:r>
            <a:r>
              <a:rPr lang="en-US" sz="2100" u="none" strike="noStrike" cap="none" dirty="0">
                <a:solidFill>
                  <a:srgbClr val="FF0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중요성을</a:t>
            </a:r>
            <a:r>
              <a:rPr lang="en-US" sz="21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간접적으로</a:t>
            </a:r>
            <a:r>
              <a:rPr lang="en-US" sz="21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체험</a:t>
            </a:r>
            <a:r>
              <a:rPr lang="en-US" sz="21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!</a:t>
            </a:r>
            <a:endParaRPr sz="4200" dirty="0">
              <a:solidFill>
                <a:schemeClr val="lt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34"/>
          <p:cNvSpPr/>
          <p:nvPr/>
        </p:nvSpPr>
        <p:spPr>
          <a:xfrm>
            <a:off x="435424" y="742108"/>
            <a:ext cx="1534885" cy="606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8F73"/>
              </a:buClr>
              <a:buSzPts val="2400"/>
              <a:buFont typeface="Arial"/>
              <a:buNone/>
            </a:pPr>
            <a:r>
              <a:rPr lang="en-US" sz="24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Profe</a:t>
            </a:r>
            <a:endParaRPr sz="2400" u="none" strike="noStrike" cap="none" dirty="0">
              <a:solidFill>
                <a:srgbClr val="698F73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8F73"/>
              </a:buClr>
              <a:buSzPts val="2400"/>
              <a:buFont typeface="Arial"/>
              <a:buNone/>
            </a:pPr>
            <a:r>
              <a:rPr lang="en-US" sz="132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정보쌤</a:t>
            </a:r>
            <a:endParaRPr sz="2400" u="none" strike="noStrike" cap="none" dirty="0">
              <a:solidFill>
                <a:srgbClr val="698F73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54" name="Google Shape;454;p34"/>
          <p:cNvSpPr/>
          <p:nvPr/>
        </p:nvSpPr>
        <p:spPr>
          <a:xfrm>
            <a:off x="435425" y="2572372"/>
            <a:ext cx="10749815" cy="629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8F73"/>
              </a:buClr>
              <a:buSzPts val="2400"/>
              <a:buFont typeface="Arial"/>
              <a:buNone/>
            </a:pPr>
            <a:r>
              <a:rPr lang="en-US" sz="24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En </a:t>
            </a:r>
            <a:r>
              <a:rPr lang="en-US" sz="24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cuanto</a:t>
            </a:r>
            <a:r>
              <a:rPr lang="en-US" sz="24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se </a:t>
            </a:r>
            <a:r>
              <a:rPr lang="en-US" sz="24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pulsa</a:t>
            </a:r>
            <a:r>
              <a:rPr lang="en-US" sz="24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START </a:t>
            </a:r>
            <a:r>
              <a:rPr lang="en-US" sz="24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reservan</a:t>
            </a:r>
            <a:r>
              <a:rPr lang="en-US" sz="24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mil o </a:t>
            </a:r>
            <a:r>
              <a:rPr lang="en-US" sz="24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cinco</a:t>
            </a:r>
            <a:r>
              <a:rPr lang="en-US" sz="24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mil de golpe, </a:t>
            </a:r>
            <a:r>
              <a:rPr lang="en-US" sz="24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así</a:t>
            </a:r>
            <a:r>
              <a:rPr lang="en-US" sz="24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no se </a:t>
            </a:r>
            <a:r>
              <a:rPr lang="en-US" sz="24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puede</a:t>
            </a:r>
            <a:r>
              <a:rPr lang="en-US" sz="24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competir</a:t>
            </a:r>
            <a:endParaRPr sz="2400" u="none" strike="noStrike" cap="none" dirty="0">
              <a:solidFill>
                <a:srgbClr val="698F73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8F73"/>
              </a:buClr>
              <a:buSzPts val="2400"/>
              <a:buFont typeface="Arial"/>
              <a:buNone/>
            </a:pPr>
            <a:r>
              <a:rPr lang="en-US" sz="17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이거</a:t>
            </a:r>
            <a:r>
              <a:rPr lang="en-US" sz="17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뭐 START </a:t>
            </a:r>
            <a:r>
              <a:rPr lang="en-US" sz="17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누르자</a:t>
            </a:r>
            <a:r>
              <a:rPr lang="en-US" sz="17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7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마자</a:t>
            </a:r>
            <a:r>
              <a:rPr lang="en-US" sz="17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7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천개</a:t>
            </a:r>
            <a:r>
              <a:rPr lang="en-US" sz="17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7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오천개</a:t>
            </a:r>
            <a:r>
              <a:rPr lang="en-US" sz="17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7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한번에</a:t>
            </a:r>
            <a:r>
              <a:rPr lang="en-US" sz="17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7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예매해버리니까</a:t>
            </a:r>
            <a:r>
              <a:rPr lang="en-US" sz="17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7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시합을</a:t>
            </a:r>
            <a:r>
              <a:rPr lang="en-US" sz="17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할 수 가 </a:t>
            </a:r>
            <a:r>
              <a:rPr lang="en-US" sz="17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없네</a:t>
            </a:r>
            <a:endParaRPr sz="3000" u="none" strike="noStrike" cap="none" dirty="0">
              <a:solidFill>
                <a:srgbClr val="698F73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55" name="Google Shape;455;p34"/>
          <p:cNvSpPr/>
          <p:nvPr/>
        </p:nvSpPr>
        <p:spPr>
          <a:xfrm>
            <a:off x="435424" y="3395860"/>
            <a:ext cx="10749815" cy="606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8F73"/>
              </a:buClr>
              <a:buSzPts val="2400"/>
              <a:buFont typeface="Arial"/>
              <a:buNone/>
            </a:pPr>
            <a:r>
              <a:rPr lang="en-US" sz="24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IA, la </a:t>
            </a:r>
            <a:r>
              <a:rPr lang="en-US" sz="24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situación</a:t>
            </a:r>
            <a:r>
              <a:rPr lang="en-US" sz="24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es </a:t>
            </a:r>
            <a:r>
              <a:rPr lang="en-US" sz="24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esta</a:t>
            </a:r>
            <a:r>
              <a:rPr lang="en-US" sz="24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, dime </a:t>
            </a:r>
            <a:r>
              <a:rPr lang="en-US" sz="24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cómo</a:t>
            </a:r>
            <a:r>
              <a:rPr lang="en-US" sz="24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defenderme</a:t>
            </a:r>
            <a:endParaRPr sz="2400" u="none" strike="noStrike" cap="none" dirty="0">
              <a:solidFill>
                <a:srgbClr val="698F73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8F73"/>
              </a:buClr>
              <a:buSzPts val="2400"/>
              <a:buFont typeface="Arial"/>
              <a:buNone/>
            </a:pPr>
            <a:r>
              <a:rPr lang="en-US" sz="17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AI야</a:t>
            </a:r>
            <a:r>
              <a:rPr lang="en-US" sz="17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17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현재</a:t>
            </a:r>
            <a:r>
              <a:rPr lang="en-US" sz="17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7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상황이</a:t>
            </a:r>
            <a:r>
              <a:rPr lang="en-US" sz="17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7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이러한데</a:t>
            </a:r>
            <a:r>
              <a:rPr lang="en-US" sz="17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7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방어방법</a:t>
            </a:r>
            <a:r>
              <a:rPr lang="en-US" sz="17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좀 </a:t>
            </a:r>
            <a:r>
              <a:rPr lang="en-US" sz="1700" u="none" strike="noStrike" cap="none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알려줘</a:t>
            </a:r>
            <a:r>
              <a:rPr lang="en-US" sz="1700" u="none" strike="noStrike" cap="none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endParaRPr sz="3000" u="none" strike="noStrike" cap="none" dirty="0">
              <a:solidFill>
                <a:srgbClr val="698F73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56" name="Google Shape;456;p34"/>
          <p:cNvSpPr/>
          <p:nvPr/>
        </p:nvSpPr>
        <p:spPr>
          <a:xfrm>
            <a:off x="435427" y="4364487"/>
            <a:ext cx="1127760" cy="4744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IA</a:t>
            </a:r>
            <a:endParaRPr dirty="0"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57" name="Google Shape;457;p34"/>
          <p:cNvSpPr/>
          <p:nvPr/>
        </p:nvSpPr>
        <p:spPr>
          <a:xfrm>
            <a:off x="435429" y="1542596"/>
            <a:ext cx="10749815" cy="83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77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8F73"/>
              </a:buClr>
              <a:buSzPts val="2400"/>
              <a:buFont typeface="Arial"/>
              <a:buNone/>
            </a:pPr>
            <a:r>
              <a:rPr lang="en-US" sz="24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Ah, </a:t>
            </a:r>
            <a:r>
              <a:rPr lang="en-US" sz="24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los</a:t>
            </a:r>
            <a:r>
              <a:rPr lang="en-US" sz="24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de primer </a:t>
            </a:r>
            <a:r>
              <a:rPr lang="en-US" sz="24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año</a:t>
            </a:r>
            <a:r>
              <a:rPr lang="en-US" sz="24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reservan</a:t>
            </a:r>
            <a:r>
              <a:rPr lang="en-US" sz="24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uno </a:t>
            </a:r>
            <a:r>
              <a:rPr lang="en-US" sz="24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por</a:t>
            </a:r>
            <a:r>
              <a:rPr lang="en-US" sz="24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uno </a:t>
            </a:r>
            <a:r>
              <a:rPr lang="en-US" sz="24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normalmente</a:t>
            </a:r>
            <a:r>
              <a:rPr lang="en-US" sz="24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24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pero</a:t>
            </a:r>
            <a:r>
              <a:rPr lang="en-US" sz="24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los</a:t>
            </a:r>
            <a:r>
              <a:rPr lang="en-US" sz="24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24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tercero</a:t>
            </a:r>
            <a:r>
              <a:rPr lang="en-US" sz="24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usan</a:t>
            </a:r>
            <a:r>
              <a:rPr lang="en-US" sz="24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técnicas</a:t>
            </a:r>
            <a:r>
              <a:rPr lang="en-US" sz="24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raras</a:t>
            </a:r>
            <a:r>
              <a:rPr lang="en-US" sz="24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para </a:t>
            </a:r>
            <a:r>
              <a:rPr lang="en-US" sz="24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atacar</a:t>
            </a:r>
            <a:endParaRPr sz="2400" u="none" strike="noStrike" cap="none" dirty="0">
              <a:solidFill>
                <a:srgbClr val="698F73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8F73"/>
              </a:buClr>
              <a:buSzPts val="2400"/>
              <a:buFont typeface="Arial"/>
              <a:buNone/>
            </a:pPr>
            <a:r>
              <a:rPr lang="en-US" sz="21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아 </a:t>
            </a:r>
            <a:r>
              <a:rPr lang="en-US" sz="21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이게</a:t>
            </a:r>
            <a:r>
              <a:rPr lang="en-US" sz="21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우리</a:t>
            </a:r>
            <a:r>
              <a:rPr lang="en-US" sz="21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1학년 </a:t>
            </a:r>
            <a:r>
              <a:rPr lang="en-US" sz="21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친구들은</a:t>
            </a:r>
            <a:r>
              <a:rPr lang="en-US" sz="21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정석대로</a:t>
            </a:r>
            <a:r>
              <a:rPr lang="en-US" sz="21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하나하나</a:t>
            </a:r>
            <a:r>
              <a:rPr lang="en-US" sz="21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예매하는데</a:t>
            </a:r>
            <a:r>
              <a:rPr lang="en-US" sz="21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3학년 </a:t>
            </a:r>
            <a:r>
              <a:rPr lang="en-US" sz="21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친구들이</a:t>
            </a:r>
            <a:r>
              <a:rPr lang="en-US" sz="21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자꾸</a:t>
            </a:r>
            <a:r>
              <a:rPr lang="en-US" sz="21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이상한</a:t>
            </a:r>
            <a:r>
              <a:rPr lang="en-US" sz="21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기술</a:t>
            </a:r>
            <a:r>
              <a:rPr lang="en-US" sz="21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써서</a:t>
            </a:r>
            <a:r>
              <a:rPr lang="en-US" sz="2100" dirty="0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100" dirty="0" err="1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공략하네</a:t>
            </a:r>
            <a:endParaRPr sz="4100" u="none" strike="noStrike" cap="none" dirty="0">
              <a:solidFill>
                <a:srgbClr val="698F73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58" name="Google Shape;458;p34"/>
          <p:cNvSpPr/>
          <p:nvPr/>
        </p:nvSpPr>
        <p:spPr>
          <a:xfrm>
            <a:off x="435426" y="4838979"/>
            <a:ext cx="10749815" cy="6936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¡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Limita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con Cloudflare KV la 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cantidad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de solicitudes 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por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segundo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por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IP!</a:t>
            </a:r>
            <a:endParaRPr sz="2400" u="none" strike="noStrike" cap="none" dirty="0">
              <a:solidFill>
                <a:schemeClr val="lt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None/>
            </a:pPr>
            <a:r>
              <a:rPr lang="en-US" sz="16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CloudFare</a:t>
            </a:r>
            <a:r>
              <a:rPr lang="en-US" sz="16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KV 로 </a:t>
            </a:r>
            <a:r>
              <a:rPr lang="en-US" sz="16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IP당</a:t>
            </a:r>
            <a:r>
              <a:rPr lang="en-US" sz="16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초당</a:t>
            </a:r>
            <a:r>
              <a:rPr lang="en-US" sz="16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요청횟수를</a:t>
            </a:r>
            <a:r>
              <a:rPr lang="en-US" sz="16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제한하세요</a:t>
            </a:r>
            <a:r>
              <a:rPr lang="en-US" sz="16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!</a:t>
            </a:r>
            <a:endParaRPr sz="3200" u="none" strike="noStrike" cap="none" dirty="0">
              <a:solidFill>
                <a:schemeClr val="lt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5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Ronda 3 · Defensa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3라운드 · 방어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65" name="Google Shape;465;p35"/>
          <p:cNvSpPr/>
          <p:nvPr/>
        </p:nvSpPr>
        <p:spPr>
          <a:xfrm>
            <a:off x="640080" y="937717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3ª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defensa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: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limitar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la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velocidad</a:t>
            </a:r>
            <a:r>
              <a:rPr lang="en-US" sz="30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0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misma</a:t>
            </a:r>
            <a:endParaRPr sz="3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3차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방어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—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속도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자체를</a:t>
            </a:r>
            <a:r>
              <a:rPr lang="en-US" sz="165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5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제한하다</a:t>
            </a:r>
            <a:endParaRPr sz="3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66" name="Google Shape;466;p35"/>
          <p:cNvSpPr/>
          <p:nvPr/>
        </p:nvSpPr>
        <p:spPr>
          <a:xfrm>
            <a:off x="640080" y="2194560"/>
            <a:ext cx="10911535" cy="2468880"/>
          </a:xfrm>
          <a:prstGeom prst="roundRect">
            <a:avLst>
              <a:gd name="adj" fmla="val 2963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>
            <a:off x="1143000" y="2697480"/>
            <a:ext cx="1234440" cy="123444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68" name="Google Shape;468;p3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303477" y="2857957"/>
            <a:ext cx="913486" cy="913486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35"/>
          <p:cNvSpPr/>
          <p:nvPr/>
        </p:nvSpPr>
        <p:spPr>
          <a:xfrm>
            <a:off x="2743200" y="2606040"/>
            <a:ext cx="5943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3600"/>
              <a:buFont typeface="Arial"/>
              <a:buNone/>
            </a:pPr>
            <a:r>
              <a:rPr lang="en-US" sz="36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Cloudflare KV Rate Limit</a:t>
            </a:r>
            <a:endParaRPr sz="3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70" name="Google Shape;470;p35"/>
          <p:cNvSpPr/>
          <p:nvPr/>
        </p:nvSpPr>
        <p:spPr>
          <a:xfrm>
            <a:off x="2743200" y="3360420"/>
            <a:ext cx="83058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Se limita a 100 solicitudes por segundo por IP</a:t>
            </a:r>
            <a:endParaRPr sz="3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3200"/>
              <a:buFont typeface="Arial"/>
              <a:buNone/>
            </a:pPr>
            <a:r>
              <a:rPr lang="en-US" sz="176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한 IP의 초당 요청 횟수를 100회로 제한</a:t>
            </a:r>
            <a:endParaRPr sz="3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71" name="Google Shape;471;p35"/>
          <p:cNvSpPr/>
          <p:nvPr/>
        </p:nvSpPr>
        <p:spPr>
          <a:xfrm>
            <a:off x="720939" y="4943834"/>
            <a:ext cx="10749815" cy="932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8F73"/>
              </a:buClr>
              <a:buSzPts val="3000"/>
              <a:buFont typeface="Arial"/>
              <a:buNone/>
            </a:pPr>
            <a:r>
              <a:rPr lang="en-US" sz="3000" u="none" strike="noStrike" cap="none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Por fin podremos competir en serio…</a:t>
            </a:r>
            <a:endParaRPr sz="3000" u="none" strike="noStrike" cap="none">
              <a:solidFill>
                <a:srgbClr val="698F73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98F73"/>
              </a:buClr>
              <a:buSzPts val="3000"/>
              <a:buFont typeface="Arial"/>
              <a:buNone/>
            </a:pPr>
            <a:r>
              <a:rPr lang="en-US" sz="1650" u="none" strike="noStrike" cap="none">
                <a:solidFill>
                  <a:srgbClr val="698F73"/>
                </a:solidFill>
                <a:latin typeface="Jua"/>
                <a:ea typeface="Jua"/>
                <a:cs typeface="Jua"/>
                <a:sym typeface="Jua"/>
              </a:rPr>
              <a:t>이제야 시합을 제대로 해볼 수 있겠네…</a:t>
            </a:r>
            <a:endParaRPr sz="3000" u="none" strike="noStrike" cap="none">
              <a:solidFill>
                <a:srgbClr val="698F73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p36"/>
          <p:cNvSpPr/>
          <p:nvPr/>
        </p:nvSpPr>
        <p:spPr>
          <a:xfrm>
            <a:off x="640081" y="745155"/>
            <a:ext cx="1114914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77500" lnSpcReduction="20000"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2000"/>
              <a:buFont typeface="Arial"/>
              <a:buNone/>
            </a:pPr>
            <a:r>
              <a:rPr lang="en-US" sz="3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Profe</a:t>
            </a:r>
            <a:r>
              <a:rPr lang="en-US" sz="3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: “</a:t>
            </a:r>
            <a:r>
              <a:rPr lang="en-US" sz="3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Reserven</a:t>
            </a:r>
            <a:r>
              <a:rPr lang="en-US" sz="3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de nuevo. </a:t>
            </a:r>
            <a:r>
              <a:rPr lang="en-US" sz="3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Ahora</a:t>
            </a:r>
            <a:r>
              <a:rPr lang="en-US" sz="3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ya</a:t>
            </a:r>
            <a:r>
              <a:rPr lang="en-US" sz="3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no </a:t>
            </a:r>
            <a:r>
              <a:rPr lang="en-US" sz="3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podrán</a:t>
            </a:r>
            <a:r>
              <a:rPr lang="en-US" sz="3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reservar</a:t>
            </a:r>
            <a:r>
              <a:rPr lang="en-US" sz="3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mil de golpe, ¿</a:t>
            </a:r>
            <a:r>
              <a:rPr lang="en-US" sz="3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verdad</a:t>
            </a:r>
            <a:r>
              <a:rPr lang="en-US" sz="3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?”</a:t>
            </a:r>
            <a:endParaRPr sz="31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2000"/>
              <a:buFont typeface="Arial"/>
              <a:buNone/>
            </a:pPr>
            <a:r>
              <a:rPr lang="en-US" sz="2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정보쌤</a:t>
            </a:r>
            <a:r>
              <a:rPr lang="en-US" sz="2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: “ 야 </a:t>
            </a:r>
            <a:r>
              <a:rPr lang="en-US" sz="2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너네</a:t>
            </a:r>
            <a:r>
              <a:rPr lang="en-US" sz="2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다시</a:t>
            </a:r>
            <a:r>
              <a:rPr lang="en-US" sz="2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예매해봐라</a:t>
            </a:r>
            <a:r>
              <a:rPr lang="en-US" sz="2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. </a:t>
            </a:r>
            <a:r>
              <a:rPr lang="en-US" sz="2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이제</a:t>
            </a:r>
            <a:r>
              <a:rPr lang="en-US" sz="2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한번에</a:t>
            </a:r>
            <a:r>
              <a:rPr lang="en-US" sz="2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천개씩</a:t>
            </a:r>
            <a:r>
              <a:rPr lang="en-US" sz="2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여러</a:t>
            </a:r>
            <a:r>
              <a:rPr lang="en-US" sz="2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개 </a:t>
            </a:r>
            <a:r>
              <a:rPr lang="en-US" sz="2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예매</a:t>
            </a:r>
            <a:r>
              <a:rPr lang="en-US" sz="2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 </a:t>
            </a:r>
            <a:r>
              <a:rPr lang="en-US" sz="2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못할</a:t>
            </a:r>
            <a:r>
              <a:rPr lang="en-US" sz="2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껄?</a:t>
            </a:r>
            <a:endParaRPr sz="57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78" name="Google Shape;478;p36"/>
          <p:cNvSpPr/>
          <p:nvPr/>
        </p:nvSpPr>
        <p:spPr>
          <a:xfrm>
            <a:off x="640078" y="1522395"/>
            <a:ext cx="10058400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3858"/>
              </a:buClr>
              <a:buSzPts val="2000"/>
              <a:buFont typeface="Arial"/>
              <a:buNone/>
            </a:pPr>
            <a:r>
              <a:rPr lang="en-US" sz="2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Estudiante</a:t>
            </a:r>
            <a:r>
              <a:rPr lang="en-US" sz="2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: “¿Eh? De </a:t>
            </a:r>
            <a:r>
              <a:rPr lang="en-US" sz="2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verdad</a:t>
            </a:r>
            <a:r>
              <a:rPr lang="en-US" sz="2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no </a:t>
            </a:r>
            <a:r>
              <a:rPr lang="en-US" sz="2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funciona</a:t>
            </a:r>
            <a:r>
              <a:rPr lang="en-US" sz="2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…” (</a:t>
            </a:r>
            <a:r>
              <a:rPr lang="en-US" sz="2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pero</a:t>
            </a:r>
            <a:r>
              <a:rPr lang="en-US" sz="2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sigue</a:t>
            </a:r>
            <a:r>
              <a:rPr lang="en-US" sz="2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intentando</a:t>
            </a:r>
            <a:r>
              <a:rPr lang="en-US" sz="2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burlarlo</a:t>
            </a:r>
            <a:r>
              <a:rPr lang="en-US" sz="2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)</a:t>
            </a:r>
            <a:endParaRPr sz="2000" u="none" strike="noStrike" cap="none" dirty="0">
              <a:solidFill>
                <a:srgbClr val="F33858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3858"/>
              </a:buClr>
              <a:buSzPts val="2000"/>
              <a:buFont typeface="Arial"/>
              <a:buNone/>
            </a:pPr>
            <a:r>
              <a:rPr lang="en-US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학생</a:t>
            </a:r>
            <a:r>
              <a:rPr lang="en-US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: “ 어!? </a:t>
            </a:r>
            <a:r>
              <a:rPr lang="en-US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진짜</a:t>
            </a:r>
            <a:r>
              <a:rPr lang="en-US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안되네</a:t>
            </a:r>
            <a:r>
              <a:rPr lang="en-US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…”(</a:t>
            </a:r>
            <a:r>
              <a:rPr lang="en-US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근데</a:t>
            </a:r>
            <a:r>
              <a:rPr lang="en-US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뚫으려고</a:t>
            </a:r>
            <a:r>
              <a:rPr lang="en-US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계속</a:t>
            </a:r>
            <a:r>
              <a:rPr lang="en-US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시도</a:t>
            </a:r>
            <a:r>
              <a:rPr lang="en-US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중) </a:t>
            </a:r>
            <a:endParaRPr sz="3600" u="none" strike="noStrike" cap="none" dirty="0">
              <a:solidFill>
                <a:srgbClr val="F33858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79" name="Google Shape;479;p36"/>
          <p:cNvSpPr/>
          <p:nvPr/>
        </p:nvSpPr>
        <p:spPr>
          <a:xfrm>
            <a:off x="640079" y="4358501"/>
            <a:ext cx="10362895" cy="13347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De 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repente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la 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función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reserva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se 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detiene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por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completo</a:t>
            </a:r>
            <a:r>
              <a:rPr lang="en-US" sz="24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para </a:t>
            </a:r>
            <a:r>
              <a:rPr lang="en-US" sz="24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todos</a:t>
            </a:r>
            <a:endParaRPr sz="2400" u="none" strike="noStrike" cap="none" dirty="0">
              <a:solidFill>
                <a:schemeClr val="lt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None/>
            </a:pPr>
            <a:r>
              <a:rPr lang="en-US" sz="16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갑자기</a:t>
            </a:r>
            <a:r>
              <a:rPr lang="en-US" sz="16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예매</a:t>
            </a:r>
            <a:r>
              <a:rPr lang="en-US" sz="16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기능이</a:t>
            </a:r>
            <a:r>
              <a:rPr lang="en-US" sz="16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정지</a:t>
            </a:r>
            <a:r>
              <a:rPr lang="en-US" sz="16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. </a:t>
            </a:r>
            <a:r>
              <a:rPr lang="en-US" sz="16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다른</a:t>
            </a:r>
            <a:r>
              <a:rPr lang="en-US" sz="16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학들도</a:t>
            </a:r>
            <a:r>
              <a:rPr lang="en-US" sz="16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예매가</a:t>
            </a:r>
            <a:r>
              <a:rPr lang="en-US" sz="16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다같이</a:t>
            </a:r>
            <a:r>
              <a:rPr lang="en-US" sz="16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안되는</a:t>
            </a:r>
            <a:r>
              <a:rPr lang="en-US" sz="1600" u="none" strike="noStrike" cap="none" dirty="0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u="none" strike="noStrike" cap="none" dirty="0" err="1">
                <a:solidFill>
                  <a:schemeClr val="lt1"/>
                </a:solidFill>
                <a:latin typeface="Jua"/>
                <a:ea typeface="Jua"/>
                <a:cs typeface="Jua"/>
                <a:sym typeface="Jua"/>
              </a:rPr>
              <a:t>상황</a:t>
            </a:r>
            <a:endParaRPr sz="3200" u="none" strike="noStrike" cap="none" dirty="0">
              <a:solidFill>
                <a:schemeClr val="lt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80" name="Google Shape;480;p36"/>
          <p:cNvSpPr/>
          <p:nvPr/>
        </p:nvSpPr>
        <p:spPr>
          <a:xfrm>
            <a:off x="640078" y="2588226"/>
            <a:ext cx="10362895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2000"/>
              <a:buFont typeface="Arial"/>
              <a:buNone/>
            </a:pPr>
            <a:r>
              <a:rPr lang="en-US" sz="24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Profe</a:t>
            </a:r>
            <a:r>
              <a:rPr lang="en-US" sz="24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: “¡Por fin </a:t>
            </a:r>
            <a:r>
              <a:rPr lang="en-US" sz="24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gané</a:t>
            </a:r>
            <a:r>
              <a:rPr lang="en-US" sz="24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!”</a:t>
            </a:r>
            <a:endParaRPr sz="24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2000"/>
              <a:buFont typeface="Arial"/>
              <a:buNone/>
            </a:pPr>
            <a:r>
              <a:rPr lang="en-US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정보쌤</a:t>
            </a:r>
            <a:r>
              <a:rPr lang="en-US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: “ </a:t>
            </a:r>
            <a:r>
              <a:rPr lang="en-US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드디어</a:t>
            </a:r>
            <a:r>
              <a:rPr lang="en-US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내가</a:t>
            </a:r>
            <a:r>
              <a:rPr lang="en-US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이겼다</a:t>
            </a:r>
            <a:r>
              <a:rPr lang="en-US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“</a:t>
            </a:r>
            <a:endParaRPr sz="2800" u="none" strike="noStrike" cap="none" dirty="0">
              <a:solidFill>
                <a:srgbClr val="000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81" name="Google Shape;481;p36"/>
          <p:cNvSpPr/>
          <p:nvPr/>
        </p:nvSpPr>
        <p:spPr>
          <a:xfrm>
            <a:off x="640078" y="3429000"/>
            <a:ext cx="10362894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3858"/>
              </a:buClr>
              <a:buSzPts val="2000"/>
              <a:buFont typeface="Arial"/>
              <a:buNone/>
            </a:pPr>
            <a:r>
              <a:rPr lang="en-US" sz="2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Estudiante</a:t>
            </a:r>
            <a:r>
              <a:rPr lang="en-US" sz="2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: “</a:t>
            </a:r>
            <a:r>
              <a:rPr lang="en-US" sz="2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Profe</a:t>
            </a:r>
            <a:r>
              <a:rPr lang="en-US" sz="2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2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pero</a:t>
            </a:r>
            <a:r>
              <a:rPr lang="en-US" sz="2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ahora</a:t>
            </a:r>
            <a:r>
              <a:rPr lang="en-US" sz="2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parece</a:t>
            </a:r>
            <a:r>
              <a:rPr lang="en-US" sz="2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que la </a:t>
            </a:r>
            <a:r>
              <a:rPr lang="en-US" sz="2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reserva</a:t>
            </a:r>
            <a:r>
              <a:rPr lang="en-US" sz="2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ya</a:t>
            </a:r>
            <a:r>
              <a:rPr lang="en-US" sz="2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ni</a:t>
            </a:r>
            <a:r>
              <a:rPr lang="en-US" sz="2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funciona</a:t>
            </a:r>
            <a:r>
              <a:rPr lang="en-US" sz="2000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…”</a:t>
            </a:r>
            <a:endParaRPr sz="2000" u="none" strike="noStrike" cap="none" dirty="0">
              <a:solidFill>
                <a:srgbClr val="F33858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33858"/>
              </a:buClr>
              <a:buSzPts val="2000"/>
              <a:buFont typeface="Arial"/>
              <a:buNone/>
            </a:pPr>
            <a:r>
              <a:rPr lang="en-US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학생</a:t>
            </a:r>
            <a:r>
              <a:rPr lang="en-US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: “ </a:t>
            </a:r>
            <a:r>
              <a:rPr lang="en-US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선생님</a:t>
            </a:r>
            <a:r>
              <a:rPr lang="en-US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근데</a:t>
            </a:r>
            <a:r>
              <a:rPr lang="en-US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이제</a:t>
            </a:r>
            <a:r>
              <a:rPr lang="en-US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예매</a:t>
            </a:r>
            <a:r>
              <a:rPr lang="en-US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기능</a:t>
            </a:r>
            <a:r>
              <a:rPr lang="en-US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자체가</a:t>
            </a:r>
            <a:r>
              <a:rPr lang="en-US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잘 </a:t>
            </a:r>
            <a:r>
              <a:rPr lang="en-US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안되는</a:t>
            </a:r>
            <a:r>
              <a:rPr lang="en-US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 것 </a:t>
            </a:r>
            <a:r>
              <a:rPr lang="en-US" u="none" strike="noStrike" cap="none" dirty="0" err="1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같은데요</a:t>
            </a:r>
            <a:r>
              <a:rPr lang="en-US" u="none" strike="noStrike" cap="none" dirty="0">
                <a:solidFill>
                  <a:srgbClr val="F33858"/>
                </a:solidFill>
                <a:latin typeface="Jua"/>
                <a:ea typeface="Jua"/>
                <a:cs typeface="Jua"/>
                <a:sym typeface="Jua"/>
              </a:rPr>
              <a:t>?”</a:t>
            </a:r>
            <a:endParaRPr sz="2800" u="none" strike="noStrike" cap="none" dirty="0">
              <a:solidFill>
                <a:srgbClr val="F33858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7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Desenlace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결말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88" name="Google Shape;488;p37"/>
          <p:cNvSpPr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lang="en-US" sz="27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El plan </a:t>
            </a:r>
            <a:r>
              <a:rPr lang="en-US" sz="27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gratuito</a:t>
            </a:r>
            <a:r>
              <a:rPr lang="en-US" sz="27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tenía</a:t>
            </a:r>
            <a:r>
              <a:rPr lang="en-US" sz="27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un </a:t>
            </a:r>
            <a:r>
              <a:rPr lang="en-US" sz="27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límite</a:t>
            </a:r>
            <a:r>
              <a:rPr lang="en-US" sz="27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7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diario</a:t>
            </a:r>
            <a:r>
              <a:rPr lang="en-US" sz="27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27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Arial"/>
              <a:buNone/>
            </a:pPr>
            <a:r>
              <a:rPr lang="en-US" sz="1485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무료플랜에는</a:t>
            </a:r>
            <a:r>
              <a:rPr lang="en-US" sz="1485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485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일일한도가</a:t>
            </a:r>
            <a:r>
              <a:rPr lang="en-US" sz="1485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485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있었다</a:t>
            </a:r>
            <a:r>
              <a:rPr lang="en-US" sz="1485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27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90" name="Google Shape;490;p37"/>
          <p:cNvSpPr/>
          <p:nvPr/>
        </p:nvSpPr>
        <p:spPr>
          <a:xfrm>
            <a:off x="640080" y="2211324"/>
            <a:ext cx="4602481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3B5C"/>
              </a:buClr>
              <a:buSzPts val="4400"/>
              <a:buFont typeface="Arial"/>
              <a:buNone/>
            </a:pPr>
            <a:r>
              <a:rPr lang="en-US" sz="2400" dirty="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No </a:t>
            </a:r>
            <a:r>
              <a:rPr lang="en-US" sz="2400" dirty="0" err="1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llegó</a:t>
            </a:r>
            <a:r>
              <a:rPr lang="en-US" sz="2400" dirty="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 a </a:t>
            </a:r>
            <a:r>
              <a:rPr lang="en-US" sz="2400" dirty="0" err="1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tardar</a:t>
            </a:r>
            <a:r>
              <a:rPr lang="en-US" sz="2400" dirty="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 5 </a:t>
            </a:r>
            <a:r>
              <a:rPr lang="en-US" sz="2400" dirty="0" err="1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minutos</a:t>
            </a:r>
            <a:r>
              <a:rPr lang="en-US" sz="2400" dirty="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24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3B5C"/>
              </a:buClr>
              <a:buSzPts val="4400"/>
              <a:buFont typeface="Arial"/>
              <a:buNone/>
            </a:pPr>
            <a:r>
              <a:rPr lang="en-US" sz="1800" dirty="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5분도 </a:t>
            </a:r>
            <a:r>
              <a:rPr lang="en-US" sz="1800" dirty="0" err="1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안걸림</a:t>
            </a:r>
            <a:endParaRPr sz="3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91" name="Google Shape;491;p37"/>
          <p:cNvSpPr/>
          <p:nvPr/>
        </p:nvSpPr>
        <p:spPr>
          <a:xfrm>
            <a:off x="644435" y="2851404"/>
            <a:ext cx="6135624" cy="35493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500"/>
              <a:buFont typeface="Arial"/>
              <a:buNone/>
            </a:pPr>
            <a:r>
              <a:rPr lang="en-US" sz="18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Se </a:t>
            </a:r>
            <a:r>
              <a:rPr lang="en-US" sz="18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agotó</a:t>
            </a:r>
            <a:r>
              <a:rPr lang="en-US" sz="18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por</a:t>
            </a:r>
            <a:r>
              <a:rPr lang="en-US" sz="18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completo</a:t>
            </a:r>
            <a:endParaRPr sz="28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500"/>
              <a:buFont typeface="Arial"/>
              <a:buNone/>
            </a:pPr>
            <a:r>
              <a:rPr lang="en-US" sz="12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Cloudflare KV </a:t>
            </a: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무료</a:t>
            </a:r>
            <a:r>
              <a:rPr lang="en-US" sz="12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플랜의</a:t>
            </a:r>
            <a:endParaRPr sz="1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límite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diario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escritura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del plan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gratuito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de Cloudflare KV</a:t>
            </a:r>
            <a:endParaRPr sz="2000" dirty="0">
              <a:solidFill>
                <a:srgbClr val="E9F7EC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일일</a:t>
            </a:r>
            <a:r>
              <a:rPr lang="en-US" sz="12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쓰기</a:t>
            </a:r>
            <a:r>
              <a:rPr lang="en-US" sz="12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한도를</a:t>
            </a:r>
            <a:r>
              <a:rPr lang="en-US" sz="12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전부</a:t>
            </a:r>
            <a:r>
              <a:rPr lang="en-US" sz="12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소진</a:t>
            </a:r>
            <a:endParaRPr sz="1200" dirty="0">
              <a:solidFill>
                <a:srgbClr val="E9F7EC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Para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seguir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con la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clase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, no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quedó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más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remedio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que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quitar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límite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velocidad</a:t>
            </a:r>
            <a:endParaRPr sz="2000" dirty="0">
              <a:solidFill>
                <a:srgbClr val="E9F7EC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수업진행을</a:t>
            </a:r>
            <a:r>
              <a:rPr lang="en-US" sz="12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위해서</a:t>
            </a:r>
            <a:r>
              <a:rPr lang="en-US" sz="12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어쩔</a:t>
            </a:r>
            <a:r>
              <a:rPr lang="en-US" sz="12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수 </a:t>
            </a: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없이</a:t>
            </a:r>
            <a:r>
              <a:rPr lang="en-US" sz="12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Rate Limit </a:t>
            </a: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제거</a:t>
            </a:r>
            <a:endParaRPr sz="1200" dirty="0">
              <a:solidFill>
                <a:srgbClr val="E9F7EC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Y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volvió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final de mil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reservas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simultáneas</a:t>
            </a: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de golpe…</a:t>
            </a:r>
            <a:endParaRPr sz="2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다시</a:t>
            </a:r>
            <a:r>
              <a:rPr lang="en-US" sz="12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한꺼번에</a:t>
            </a:r>
            <a:r>
              <a:rPr lang="en-US" sz="12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1천개 </a:t>
            </a: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동시</a:t>
            </a:r>
            <a:r>
              <a:rPr lang="en-US" sz="12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예매</a:t>
            </a:r>
            <a:r>
              <a:rPr lang="en-US" sz="12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엔딩</a:t>
            </a:r>
            <a:r>
              <a:rPr lang="en-US" sz="12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…</a:t>
            </a:r>
            <a:endParaRPr sz="1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492" name="Google Shape;492;p37"/>
          <p:cNvSpPr/>
          <p:nvPr/>
        </p:nvSpPr>
        <p:spPr>
          <a:xfrm>
            <a:off x="6766560" y="1828800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0E1A0F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>
            <a:off x="6949440" y="1828800"/>
            <a:ext cx="41148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20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Los estudiantes seguían enviando mil solicitudes masivas</a:t>
            </a:r>
            <a:endParaRPr sz="2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11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학생들이 계속 1000개씩 대량 요청</a:t>
            </a:r>
            <a:endParaRPr sz="2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cxnSp>
        <p:nvCxnSpPr>
          <p:cNvPr id="494" name="Google Shape;494;p37"/>
          <p:cNvCxnSpPr>
            <a:cxnSpLocks/>
          </p:cNvCxnSpPr>
          <p:nvPr/>
        </p:nvCxnSpPr>
        <p:spPr>
          <a:xfrm>
            <a:off x="9006840" y="2395728"/>
            <a:ext cx="9144" cy="219456"/>
          </a:xfrm>
          <a:prstGeom prst="straightConnector1">
            <a:avLst/>
          </a:prstGeom>
          <a:noFill/>
          <a:ln w="19050" cap="flat" cmpd="sng">
            <a:solidFill>
              <a:srgbClr val="17C93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5" name="Google Shape;495;p37"/>
          <p:cNvSpPr/>
          <p:nvPr/>
        </p:nvSpPr>
        <p:spPr>
          <a:xfrm>
            <a:off x="6766560" y="2615184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0E1A0F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37"/>
          <p:cNvSpPr/>
          <p:nvPr/>
        </p:nvSpPr>
        <p:spPr>
          <a:xfrm>
            <a:off x="6949440" y="2615184"/>
            <a:ext cx="41148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Límite diario de KV agotado</a:t>
            </a:r>
            <a:endParaRPr sz="2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11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KV 일일 한도 소진</a:t>
            </a:r>
            <a:endParaRPr sz="2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cxnSp>
        <p:nvCxnSpPr>
          <p:cNvPr id="497" name="Google Shape;497;p37"/>
          <p:cNvCxnSpPr/>
          <p:nvPr/>
        </p:nvCxnSpPr>
        <p:spPr>
          <a:xfrm>
            <a:off x="9006840" y="3182112"/>
            <a:ext cx="9144" cy="219456"/>
          </a:xfrm>
          <a:prstGeom prst="straightConnector1">
            <a:avLst/>
          </a:prstGeom>
          <a:noFill/>
          <a:ln w="19050" cap="flat" cmpd="sng">
            <a:solidFill>
              <a:srgbClr val="17C93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498" name="Google Shape;498;p37"/>
          <p:cNvSpPr/>
          <p:nvPr/>
        </p:nvSpPr>
        <p:spPr>
          <a:xfrm>
            <a:off x="6766560" y="3401568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0E1A0F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37"/>
          <p:cNvSpPr/>
          <p:nvPr/>
        </p:nvSpPr>
        <p:spPr>
          <a:xfrm>
            <a:off x="6949440" y="3401568"/>
            <a:ext cx="41148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20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Límite de velocidad eliminado por la fuerza</a:t>
            </a:r>
            <a:endParaRPr sz="2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2000"/>
              <a:buFont typeface="Arial"/>
              <a:buNone/>
            </a:pPr>
            <a:r>
              <a:rPr lang="en-US" sz="11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Rate Limit 강제 제거</a:t>
            </a:r>
            <a:endParaRPr sz="2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cxnSp>
        <p:nvCxnSpPr>
          <p:cNvPr id="500" name="Google Shape;500;p37"/>
          <p:cNvCxnSpPr/>
          <p:nvPr/>
        </p:nvCxnSpPr>
        <p:spPr>
          <a:xfrm>
            <a:off x="9006840" y="3968496"/>
            <a:ext cx="9144" cy="219456"/>
          </a:xfrm>
          <a:prstGeom prst="straightConnector1">
            <a:avLst/>
          </a:prstGeom>
          <a:noFill/>
          <a:ln w="19050" cap="flat" cmpd="sng">
            <a:solidFill>
              <a:srgbClr val="17C93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01" name="Google Shape;501;p37"/>
          <p:cNvSpPr/>
          <p:nvPr/>
        </p:nvSpPr>
        <p:spPr>
          <a:xfrm>
            <a:off x="6766560" y="4187952"/>
            <a:ext cx="4480560" cy="566928"/>
          </a:xfrm>
          <a:prstGeom prst="roundRect">
            <a:avLst>
              <a:gd name="adj" fmla="val 9677"/>
            </a:avLst>
          </a:prstGeom>
          <a:solidFill>
            <a:srgbClr val="0E4419"/>
          </a:solidFill>
          <a:ln w="12700" cap="flat" cmpd="sng">
            <a:solidFill>
              <a:srgbClr val="00FF4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37"/>
          <p:cNvSpPr/>
          <p:nvPr/>
        </p:nvSpPr>
        <p:spPr>
          <a:xfrm>
            <a:off x="6949440" y="4187952"/>
            <a:ext cx="4114800" cy="5669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FF41"/>
              </a:buClr>
              <a:buSzPts val="2000"/>
              <a:buFont typeface="Arial"/>
              <a:buNone/>
            </a:pPr>
            <a:r>
              <a:rPr lang="en-US" sz="20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Victoria de los estudiantes</a:t>
            </a:r>
            <a:endParaRPr sz="2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FF41"/>
              </a:buClr>
              <a:buSzPts val="2000"/>
              <a:buFont typeface="Arial"/>
              <a:buNone/>
            </a:pPr>
            <a:r>
              <a:rPr lang="en-US" sz="11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학생 승리</a:t>
            </a:r>
            <a:endParaRPr sz="2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03" name="Google Shape;503;p37"/>
          <p:cNvSpPr/>
          <p:nvPr/>
        </p:nvSpPr>
        <p:spPr>
          <a:xfrm>
            <a:off x="6838841" y="4919472"/>
            <a:ext cx="4354285" cy="7768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4000"/>
              <a:buFont typeface="Arial"/>
              <a:buNone/>
            </a:pPr>
            <a:r>
              <a:rPr lang="en-US" sz="2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Ya no hay forma de </a:t>
            </a:r>
            <a:r>
              <a:rPr lang="en-US" sz="2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detenerlos</a:t>
            </a:r>
            <a:endParaRPr sz="20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4000"/>
              <a:buFont typeface="Arial"/>
              <a:buNone/>
            </a:pP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더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이상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막을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방법이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없다</a:t>
            </a:r>
            <a:endParaRPr sz="24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04" name="Google Shape;504;p37"/>
          <p:cNvSpPr/>
          <p:nvPr/>
        </p:nvSpPr>
        <p:spPr>
          <a:xfrm>
            <a:off x="640080" y="1502882"/>
            <a:ext cx="4602481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3B5C"/>
              </a:buClr>
              <a:buSzPts val="2700"/>
              <a:buFont typeface="Arial"/>
              <a:buNone/>
            </a:pPr>
            <a:r>
              <a:rPr lang="en-US" sz="2700" dirty="0" err="1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Tiempo</a:t>
            </a:r>
            <a:r>
              <a:rPr lang="en-US" sz="2700" dirty="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 hasta </a:t>
            </a:r>
            <a:r>
              <a:rPr lang="en-US" sz="2700" dirty="0" err="1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agotar</a:t>
            </a:r>
            <a:r>
              <a:rPr lang="en-US" sz="2700" dirty="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700" dirty="0" err="1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2700" dirty="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700" dirty="0" err="1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límite</a:t>
            </a:r>
            <a:endParaRPr sz="2700" dirty="0">
              <a:solidFill>
                <a:srgbClr val="FF3B5C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3B5C"/>
              </a:buClr>
              <a:buSzPts val="2700"/>
              <a:buFont typeface="Arial"/>
              <a:buNone/>
            </a:pPr>
            <a:r>
              <a:rPr lang="en-US" sz="1485" dirty="0" err="1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한도</a:t>
            </a:r>
            <a:r>
              <a:rPr lang="en-US" sz="1485" dirty="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 다 쓸 </a:t>
            </a:r>
            <a:r>
              <a:rPr lang="en-US" sz="1485" dirty="0" err="1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때까지</a:t>
            </a:r>
            <a:r>
              <a:rPr lang="en-US" sz="1485" dirty="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485" dirty="0" err="1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걸리는</a:t>
            </a:r>
            <a:r>
              <a:rPr lang="en-US" sz="1485" dirty="0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485" dirty="0" err="1">
                <a:solidFill>
                  <a:srgbClr val="FF3B5C"/>
                </a:solidFill>
                <a:latin typeface="Jua"/>
                <a:ea typeface="Jua"/>
                <a:cs typeface="Jua"/>
                <a:sym typeface="Jua"/>
              </a:rPr>
              <a:t>시간</a:t>
            </a:r>
            <a:endParaRPr sz="2700" dirty="0">
              <a:solidFill>
                <a:srgbClr val="FF3B5C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" grpId="0"/>
      <p:bldP spid="502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/>
          <p:nvPr/>
        </p:nvSpPr>
        <p:spPr>
          <a:xfrm>
            <a:off x="5592928" y="2286000"/>
            <a:ext cx="1005840" cy="100584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11" name="Google Shape;511;p38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23687" y="2416759"/>
            <a:ext cx="744322" cy="744322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38"/>
          <p:cNvSpPr/>
          <p:nvPr/>
        </p:nvSpPr>
        <p:spPr>
          <a:xfrm>
            <a:off x="0" y="3886200"/>
            <a:ext cx="1219169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3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Reflexiones</a:t>
            </a:r>
            <a:endParaRPr sz="34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Arial"/>
              <a:buNone/>
            </a:pPr>
            <a:r>
              <a:rPr lang="en-US" sz="187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느낀점</a:t>
            </a:r>
            <a:endParaRPr sz="34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p39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Repaso</a:t>
            </a:r>
            <a:endParaRPr sz="1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되짚어보기</a:t>
            </a:r>
            <a:endParaRPr sz="1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19" name="Google Shape;519;p39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10000"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Conocimientos que los estudiantes descubrieron explorando por su cuenta</a:t>
            </a:r>
            <a:endParaRPr sz="3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165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학생들이 스스로 탐구하면서 알아낸 지식들</a:t>
            </a:r>
            <a:endParaRPr sz="3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20" name="Google Shape;520;p39"/>
          <p:cNvSpPr/>
          <p:nvPr/>
        </p:nvSpPr>
        <p:spPr>
          <a:xfrm>
            <a:off x="640080" y="196596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9"/>
          <p:cNvSpPr/>
          <p:nvPr/>
        </p:nvSpPr>
        <p:spPr>
          <a:xfrm>
            <a:off x="896112" y="2372868"/>
            <a:ext cx="603504" cy="603504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2" name="Google Shape;522;p39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74568" y="2451324"/>
            <a:ext cx="446593" cy="446593"/>
          </a:xfrm>
          <a:prstGeom prst="rect">
            <a:avLst/>
          </a:prstGeom>
          <a:noFill/>
          <a:ln>
            <a:noFill/>
          </a:ln>
        </p:spPr>
      </p:pic>
      <p:sp>
        <p:nvSpPr>
          <p:cNvPr id="523" name="Google Shape;523;p39"/>
          <p:cNvSpPr/>
          <p:nvPr/>
        </p:nvSpPr>
        <p:spPr>
          <a:xfrm>
            <a:off x="1645920" y="1965960"/>
            <a:ext cx="2265578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Descubrimiento de vulnerabilidades del sitio web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00"/>
              <a:buFont typeface="Arial"/>
              <a:buNone/>
            </a:pPr>
            <a:r>
              <a:rPr lang="en-US" sz="9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웹 사이트의 취약점 발견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24" name="Google Shape;524;p39"/>
          <p:cNvSpPr/>
          <p:nvPr/>
        </p:nvSpPr>
        <p:spPr>
          <a:xfrm>
            <a:off x="4368698" y="196596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39"/>
          <p:cNvSpPr/>
          <p:nvPr/>
        </p:nvSpPr>
        <p:spPr>
          <a:xfrm>
            <a:off x="4624730" y="2372868"/>
            <a:ext cx="603504" cy="603504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26" name="Google Shape;526;p39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03186" y="2451324"/>
            <a:ext cx="446593" cy="446593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39"/>
          <p:cNvSpPr/>
          <p:nvPr/>
        </p:nvSpPr>
        <p:spPr>
          <a:xfrm>
            <a:off x="5374538" y="1965960"/>
            <a:ext cx="2265578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DB REST API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28" name="Google Shape;528;p39"/>
          <p:cNvSpPr/>
          <p:nvPr/>
        </p:nvSpPr>
        <p:spPr>
          <a:xfrm>
            <a:off x="8097317" y="196596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39"/>
          <p:cNvSpPr/>
          <p:nvPr/>
        </p:nvSpPr>
        <p:spPr>
          <a:xfrm>
            <a:off x="8353349" y="2372868"/>
            <a:ext cx="603504" cy="603504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0" name="Google Shape;530;p39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431804" y="2451324"/>
            <a:ext cx="446593" cy="446593"/>
          </a:xfrm>
          <a:prstGeom prst="rect">
            <a:avLst/>
          </a:prstGeom>
          <a:noFill/>
          <a:ln>
            <a:noFill/>
          </a:ln>
        </p:spPr>
      </p:pic>
      <p:sp>
        <p:nvSpPr>
          <p:cNvPr id="531" name="Google Shape;531;p39"/>
          <p:cNvSpPr/>
          <p:nvPr/>
        </p:nvSpPr>
        <p:spPr>
          <a:xfrm>
            <a:off x="9103157" y="1965960"/>
            <a:ext cx="2265578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Race Condition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32" name="Google Shape;532;p39"/>
          <p:cNvSpPr/>
          <p:nvPr/>
        </p:nvSpPr>
        <p:spPr>
          <a:xfrm>
            <a:off x="640080" y="365760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39"/>
          <p:cNvSpPr/>
          <p:nvPr/>
        </p:nvSpPr>
        <p:spPr>
          <a:xfrm>
            <a:off x="896112" y="4064508"/>
            <a:ext cx="603504" cy="603504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4" name="Google Shape;534;p39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74568" y="4142964"/>
            <a:ext cx="446593" cy="446593"/>
          </a:xfrm>
          <a:prstGeom prst="rect">
            <a:avLst/>
          </a:prstGeom>
          <a:noFill/>
          <a:ln>
            <a:noFill/>
          </a:ln>
        </p:spPr>
      </p:pic>
      <p:sp>
        <p:nvSpPr>
          <p:cNvPr id="535" name="Google Shape;535;p39"/>
          <p:cNvSpPr/>
          <p:nvPr/>
        </p:nvSpPr>
        <p:spPr>
          <a:xfrm>
            <a:off x="1645920" y="3657600"/>
            <a:ext cx="2265578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800"/>
              <a:buFont typeface="Arial"/>
              <a:buNone/>
            </a:pPr>
            <a:r>
              <a:rPr lang="en-US" sz="18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Auth Bypass</a:t>
            </a:r>
            <a:endParaRPr sz="18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36" name="Google Shape;536;p39"/>
          <p:cNvSpPr/>
          <p:nvPr/>
        </p:nvSpPr>
        <p:spPr>
          <a:xfrm>
            <a:off x="4368698" y="365760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39"/>
          <p:cNvSpPr/>
          <p:nvPr/>
        </p:nvSpPr>
        <p:spPr>
          <a:xfrm>
            <a:off x="4624730" y="4064508"/>
            <a:ext cx="603504" cy="603504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38" name="Google Shape;538;p39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03186" y="4142964"/>
            <a:ext cx="446593" cy="446593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9"/>
          <p:cNvSpPr/>
          <p:nvPr/>
        </p:nvSpPr>
        <p:spPr>
          <a:xfrm>
            <a:off x="5374538" y="3657600"/>
            <a:ext cx="2265578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Python Threading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40" name="Google Shape;540;p39"/>
          <p:cNvSpPr/>
          <p:nvPr/>
        </p:nvSpPr>
        <p:spPr>
          <a:xfrm>
            <a:off x="8097317" y="3657600"/>
            <a:ext cx="3454298" cy="1417320"/>
          </a:xfrm>
          <a:prstGeom prst="roundRect">
            <a:avLst>
              <a:gd name="adj" fmla="val 5161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39"/>
          <p:cNvSpPr/>
          <p:nvPr/>
        </p:nvSpPr>
        <p:spPr>
          <a:xfrm>
            <a:off x="8353349" y="4064508"/>
            <a:ext cx="603504" cy="603504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42" name="Google Shape;542;p39" descr="preencoded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431804" y="4142964"/>
            <a:ext cx="446593" cy="446593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39"/>
          <p:cNvSpPr/>
          <p:nvPr/>
        </p:nvSpPr>
        <p:spPr>
          <a:xfrm>
            <a:off x="9103157" y="3657600"/>
            <a:ext cx="2265578" cy="1417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00"/>
              <a:buFont typeface="Arial"/>
              <a:buNone/>
            </a:pPr>
            <a:r>
              <a:rPr lang="en-US" sz="16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JS Event Loop</a:t>
            </a:r>
            <a:endParaRPr sz="16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44" name="Google Shape;544;p39"/>
          <p:cNvSpPr/>
          <p:nvPr/>
        </p:nvSpPr>
        <p:spPr>
          <a:xfrm>
            <a:off x="640080" y="5442639"/>
            <a:ext cx="11127377" cy="822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2400"/>
              <a:buFont typeface="Arial"/>
              <a:buNone/>
            </a:pPr>
            <a:r>
              <a:rPr lang="en-US" sz="22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De todo esto, el profesor no enseñó nada — todo lo descubrieron solos hablando con la IA</a:t>
            </a:r>
            <a:endParaRPr sz="2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2400"/>
              <a:buFont typeface="Arial"/>
              <a:buNone/>
            </a:pPr>
            <a:r>
              <a:rPr lang="en-US" sz="17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이 중에서 선생님이 알려준 것은 하나도 없다  - 전부 AI와의 대화에서 스스로 발견</a:t>
            </a:r>
            <a:endParaRPr sz="35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4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Significado educativo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교육적 의미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51" name="Google Shape;551;p40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La autoeficacia que generó la batalla</a:t>
            </a:r>
            <a:endParaRPr sz="3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165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공방전이 만든 자기효능감</a:t>
            </a:r>
            <a:endParaRPr sz="3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cxnSp>
        <p:nvCxnSpPr>
          <p:cNvPr id="552" name="Google Shape;552;p40"/>
          <p:cNvCxnSpPr/>
          <p:nvPr/>
        </p:nvCxnSpPr>
        <p:spPr>
          <a:xfrm>
            <a:off x="2669177" y="2346959"/>
            <a:ext cx="1508760" cy="1508760"/>
          </a:xfrm>
          <a:prstGeom prst="straightConnector1">
            <a:avLst/>
          </a:prstGeom>
          <a:noFill/>
          <a:ln w="15875" cap="flat" cmpd="sng">
            <a:solidFill>
              <a:srgbClr val="17C93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3" name="Google Shape;553;p40"/>
          <p:cNvCxnSpPr/>
          <p:nvPr/>
        </p:nvCxnSpPr>
        <p:spPr>
          <a:xfrm flipH="1">
            <a:off x="2669177" y="3855719"/>
            <a:ext cx="1508760" cy="1508760"/>
          </a:xfrm>
          <a:prstGeom prst="straightConnector1">
            <a:avLst/>
          </a:prstGeom>
          <a:noFill/>
          <a:ln w="15875" cap="flat" cmpd="sng">
            <a:solidFill>
              <a:srgbClr val="17C93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4" name="Google Shape;554;p40"/>
          <p:cNvCxnSpPr/>
          <p:nvPr/>
        </p:nvCxnSpPr>
        <p:spPr>
          <a:xfrm rot="10800000">
            <a:off x="1160417" y="3855719"/>
            <a:ext cx="1508760" cy="1508760"/>
          </a:xfrm>
          <a:prstGeom prst="straightConnector1">
            <a:avLst/>
          </a:prstGeom>
          <a:noFill/>
          <a:ln w="15875" cap="flat" cmpd="sng">
            <a:solidFill>
              <a:srgbClr val="17C93B"/>
            </a:solidFill>
            <a:prstDash val="solid"/>
            <a:round/>
            <a:headEnd type="none" w="sm" len="sm"/>
            <a:tailEnd type="triangle" w="med" len="med"/>
          </a:ln>
        </p:spPr>
      </p:cxnSp>
      <p:cxnSp>
        <p:nvCxnSpPr>
          <p:cNvPr id="555" name="Google Shape;555;p40"/>
          <p:cNvCxnSpPr/>
          <p:nvPr/>
        </p:nvCxnSpPr>
        <p:spPr>
          <a:xfrm rot="10800000" flipH="1">
            <a:off x="1160417" y="2346959"/>
            <a:ext cx="1508760" cy="1508760"/>
          </a:xfrm>
          <a:prstGeom prst="straightConnector1">
            <a:avLst/>
          </a:prstGeom>
          <a:noFill/>
          <a:ln w="15875" cap="flat" cmpd="sng">
            <a:solidFill>
              <a:srgbClr val="17C93B"/>
            </a:solidFill>
            <a:prstDash val="solid"/>
            <a:round/>
            <a:headEnd type="none" w="sm" len="sm"/>
            <a:tailEnd type="triangle" w="med" len="med"/>
          </a:ln>
        </p:spPr>
      </p:cxnSp>
      <p:sp>
        <p:nvSpPr>
          <p:cNvPr id="556" name="Google Shape;556;p40"/>
          <p:cNvSpPr/>
          <p:nvPr/>
        </p:nvSpPr>
        <p:spPr>
          <a:xfrm>
            <a:off x="2303417" y="1981199"/>
            <a:ext cx="731520" cy="73152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57" name="Google Shape;557;p40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398515" y="2076297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0"/>
          <p:cNvSpPr/>
          <p:nvPr/>
        </p:nvSpPr>
        <p:spPr>
          <a:xfrm>
            <a:off x="1617617" y="2731007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100"/>
              <a:buFont typeface="Arial"/>
              <a:buNone/>
            </a:pPr>
            <a:r>
              <a:rPr lang="en-US" sz="11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El </a:t>
            </a:r>
            <a:r>
              <a:rPr lang="en-US" sz="11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profesor</a:t>
            </a:r>
            <a:r>
              <a:rPr lang="en-US" sz="11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bloquea</a:t>
            </a:r>
            <a:endParaRPr sz="11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100"/>
              <a:buFont typeface="Arial"/>
              <a:buNone/>
            </a:pP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선생님이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막는다</a:t>
            </a:r>
            <a:endParaRPr sz="11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59" name="Google Shape;559;p40"/>
          <p:cNvSpPr/>
          <p:nvPr/>
        </p:nvSpPr>
        <p:spPr>
          <a:xfrm>
            <a:off x="3812177" y="3489959"/>
            <a:ext cx="731520" cy="73152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0" name="Google Shape;560;p40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07275" y="3585057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0"/>
          <p:cNvSpPr/>
          <p:nvPr/>
        </p:nvSpPr>
        <p:spPr>
          <a:xfrm>
            <a:off x="3126377" y="4239767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100"/>
              <a:buFont typeface="Arial"/>
              <a:buNone/>
            </a:pPr>
            <a:r>
              <a:rPr lang="en-US" sz="11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El </a:t>
            </a:r>
            <a:r>
              <a:rPr lang="en-US" sz="11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estudiante</a:t>
            </a:r>
            <a:r>
              <a:rPr lang="en-US" sz="11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lo burla</a:t>
            </a:r>
            <a:endParaRPr sz="11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100"/>
              <a:buFont typeface="Arial"/>
              <a:buNone/>
            </a:pP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학생이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뚫는다</a:t>
            </a:r>
            <a:endParaRPr sz="11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62" name="Google Shape;562;p40"/>
          <p:cNvSpPr/>
          <p:nvPr/>
        </p:nvSpPr>
        <p:spPr>
          <a:xfrm>
            <a:off x="2303417" y="4998719"/>
            <a:ext cx="731520" cy="73152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3" name="Google Shape;563;p40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398515" y="5093817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0"/>
          <p:cNvSpPr/>
          <p:nvPr/>
        </p:nvSpPr>
        <p:spPr>
          <a:xfrm>
            <a:off x="1617617" y="5748527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100"/>
              <a:buFont typeface="Arial"/>
              <a:buNone/>
            </a:pPr>
            <a:r>
              <a:rPr lang="en-US" sz="11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Logro</a:t>
            </a:r>
            <a:r>
              <a:rPr lang="en-US" sz="11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y </a:t>
            </a:r>
            <a:r>
              <a:rPr lang="en-US" sz="11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motivación</a:t>
            </a:r>
            <a:r>
              <a:rPr lang="en-US" sz="11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↑</a:t>
            </a:r>
            <a:endParaRPr sz="11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100"/>
              <a:buFont typeface="Arial"/>
              <a:buNone/>
            </a:pP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성취감·의욕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↑</a:t>
            </a:r>
            <a:endParaRPr sz="11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65" name="Google Shape;565;p40"/>
          <p:cNvSpPr/>
          <p:nvPr/>
        </p:nvSpPr>
        <p:spPr>
          <a:xfrm>
            <a:off x="794657" y="3489959"/>
            <a:ext cx="731520" cy="73152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66" name="Google Shape;566;p40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89755" y="3585057"/>
            <a:ext cx="541325" cy="541325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0"/>
          <p:cNvSpPr/>
          <p:nvPr/>
        </p:nvSpPr>
        <p:spPr>
          <a:xfrm>
            <a:off x="108857" y="4239767"/>
            <a:ext cx="21031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100"/>
              <a:buFont typeface="Arial"/>
              <a:buNone/>
            </a:pPr>
            <a:r>
              <a:rPr lang="en-US" sz="11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Explora otro método</a:t>
            </a:r>
            <a:endParaRPr sz="11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100"/>
              <a:buFont typeface="Arial"/>
              <a:buNone/>
            </a:pPr>
            <a:r>
              <a:rPr lang="en-US" sz="9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다른 방법 탐색</a:t>
            </a:r>
            <a:endParaRPr sz="11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68" name="Google Shape;568;p40"/>
          <p:cNvSpPr/>
          <p:nvPr/>
        </p:nvSpPr>
        <p:spPr>
          <a:xfrm>
            <a:off x="5229498" y="1572768"/>
            <a:ext cx="6322118" cy="5013089"/>
          </a:xfrm>
          <a:prstGeom prst="roundRect">
            <a:avLst>
              <a:gd name="adj" fmla="val 2051"/>
            </a:avLst>
          </a:prstGeom>
          <a:solidFill>
            <a:srgbClr val="0B1510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40"/>
          <p:cNvSpPr/>
          <p:nvPr/>
        </p:nvSpPr>
        <p:spPr>
          <a:xfrm>
            <a:off x="5440678" y="1607493"/>
            <a:ext cx="5967549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00"/>
              <a:buFont typeface="Arial"/>
              <a:buNone/>
            </a:pP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Profesor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: “Vaya,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así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que lo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hicieron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así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. Hay que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bloquearlo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.”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00"/>
              <a:buFont typeface="Arial"/>
              <a:buNone/>
            </a:pP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선생님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: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어쭈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이걸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이렇게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하네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?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막아야지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70" name="Google Shape;570;p40"/>
          <p:cNvSpPr/>
          <p:nvPr/>
        </p:nvSpPr>
        <p:spPr>
          <a:xfrm>
            <a:off x="5440678" y="2076297"/>
            <a:ext cx="5967549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600"/>
              <a:buFont typeface="Arial"/>
              <a:buNone/>
            </a:pP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Estudiante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: “¿Eh? Lo </a:t>
            </a: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bloquearon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. Bueno, </a:t>
            </a: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otro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método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.”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600"/>
              <a:buFont typeface="Arial"/>
              <a:buNone/>
            </a:pPr>
            <a:r>
              <a:rPr lang="en-US" sz="9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학생</a:t>
            </a:r>
            <a:r>
              <a:rPr lang="en-US" sz="9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: 어? </a:t>
            </a:r>
            <a:r>
              <a:rPr lang="en-US" sz="9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이걸</a:t>
            </a:r>
            <a:r>
              <a:rPr lang="en-US" sz="9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막네</a:t>
            </a:r>
            <a:r>
              <a:rPr lang="en-US" sz="9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? 응, </a:t>
            </a:r>
            <a:r>
              <a:rPr lang="en-US" sz="9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다른</a:t>
            </a:r>
            <a:r>
              <a:rPr lang="en-US" sz="9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방법</a:t>
            </a:r>
            <a:r>
              <a:rPr lang="en-US" sz="9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71" name="Google Shape;571;p40"/>
          <p:cNvSpPr/>
          <p:nvPr/>
        </p:nvSpPr>
        <p:spPr>
          <a:xfrm>
            <a:off x="5438497" y="2550175"/>
            <a:ext cx="5967549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00"/>
              <a:buFont typeface="Arial"/>
              <a:buNone/>
            </a:pP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Profesor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: “Ah, lo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volvieron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a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burlar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. Pues lo </a:t>
            </a:r>
            <a:r>
              <a:rPr lang="en-US" sz="16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bloqueo</a:t>
            </a:r>
            <a:r>
              <a:rPr lang="en-US" sz="16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de nuevo.”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600"/>
              <a:buFont typeface="Arial"/>
              <a:buNone/>
            </a:pP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선생님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: 아 또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뚫었네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그럼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 또 </a:t>
            </a:r>
            <a:r>
              <a:rPr lang="en-US" sz="900" dirty="0" err="1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막아</a:t>
            </a:r>
            <a:r>
              <a:rPr lang="en-US" sz="900" dirty="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72" name="Google Shape;572;p40"/>
          <p:cNvSpPr/>
          <p:nvPr/>
        </p:nvSpPr>
        <p:spPr>
          <a:xfrm>
            <a:off x="5440677" y="3017520"/>
            <a:ext cx="5967552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600"/>
              <a:buFont typeface="Arial"/>
              <a:buNone/>
            </a:pP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Estudiante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: “¿Eh? ¿</a:t>
            </a: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Bloquearon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esto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también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? Bueno, </a:t>
            </a: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otro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método</a:t>
            </a:r>
            <a:r>
              <a:rPr lang="en-US" sz="1600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.”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600"/>
              <a:buFont typeface="Arial"/>
              <a:buNone/>
            </a:pPr>
            <a:r>
              <a:rPr lang="en-US" sz="900" i="1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학생</a:t>
            </a:r>
            <a:r>
              <a:rPr lang="en-US" sz="900" i="1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: 어? </a:t>
            </a:r>
            <a:r>
              <a:rPr lang="en-US" sz="900" i="1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이걸</a:t>
            </a:r>
            <a:r>
              <a:rPr lang="en-US" sz="900" i="1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i="1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막아</a:t>
            </a:r>
            <a:r>
              <a:rPr lang="en-US" sz="900" i="1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? 응, </a:t>
            </a:r>
            <a:r>
              <a:rPr lang="en-US" sz="900" i="1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다른</a:t>
            </a:r>
            <a:r>
              <a:rPr lang="en-US" sz="900" i="1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i="1" dirty="0" err="1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방법</a:t>
            </a:r>
            <a:r>
              <a:rPr lang="en-US" sz="900" i="1" dirty="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.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73" name="Google Shape;573;p40"/>
          <p:cNvSpPr/>
          <p:nvPr/>
        </p:nvSpPr>
        <p:spPr>
          <a:xfrm>
            <a:off x="5438497" y="3579832"/>
            <a:ext cx="5861571" cy="4002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70000" lnSpcReduction="2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600"/>
              <a:buFont typeface="Arial"/>
              <a:buNone/>
            </a:pPr>
            <a:r>
              <a:rPr lang="en-US" sz="18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Aunque</a:t>
            </a:r>
            <a:r>
              <a:rPr lang="en-US" sz="18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fallan</a:t>
            </a:r>
            <a:r>
              <a:rPr lang="en-US" sz="18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18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los</a:t>
            </a:r>
            <a:r>
              <a:rPr lang="en-US" sz="18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estudiantes</a:t>
            </a:r>
            <a:r>
              <a:rPr lang="en-US" sz="18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no se </a:t>
            </a:r>
            <a:r>
              <a:rPr lang="en-US" sz="18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rinden</a:t>
            </a:r>
            <a:r>
              <a:rPr lang="en-US" sz="18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y </a:t>
            </a:r>
            <a:r>
              <a:rPr lang="en-US" sz="18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buscan</a:t>
            </a:r>
            <a:r>
              <a:rPr lang="en-US" sz="18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soluciones</a:t>
            </a:r>
            <a:r>
              <a:rPr lang="en-US" sz="18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por</a:t>
            </a:r>
            <a:r>
              <a:rPr lang="en-US" sz="18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su</a:t>
            </a:r>
            <a:r>
              <a:rPr lang="en-US" sz="18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cuenta</a:t>
            </a:r>
            <a:endParaRPr sz="18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600"/>
              <a:buFont typeface="Arial"/>
              <a:buNone/>
            </a:pPr>
            <a:r>
              <a:rPr lang="en-US" sz="13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학생들은</a:t>
            </a:r>
            <a:r>
              <a:rPr lang="en-US" sz="13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3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실패해도</a:t>
            </a:r>
            <a:r>
              <a:rPr lang="en-US" sz="13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3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포기하지</a:t>
            </a:r>
            <a:r>
              <a:rPr lang="en-US" sz="13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3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않고</a:t>
            </a:r>
            <a:r>
              <a:rPr lang="en-US" sz="13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13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스스로</a:t>
            </a:r>
            <a:r>
              <a:rPr lang="en-US" sz="13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3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해결책을</a:t>
            </a:r>
            <a:r>
              <a:rPr lang="en-US" sz="13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3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탐색</a:t>
            </a:r>
            <a:endParaRPr sz="21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74" name="Google Shape;574;p40"/>
          <p:cNvSpPr/>
          <p:nvPr/>
        </p:nvSpPr>
        <p:spPr>
          <a:xfrm>
            <a:off x="5438497" y="3960352"/>
            <a:ext cx="5967554" cy="2311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85000" lnSpcReduction="20000"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La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sensación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logro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haber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vencido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la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clase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creada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por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profesor</a:t>
            </a:r>
            <a:endParaRPr sz="1600" dirty="0">
              <a:solidFill>
                <a:srgbClr val="6E9679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600"/>
              <a:buFont typeface="Arial"/>
              <a:buNone/>
            </a:pP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선생님이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만든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수업을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자신이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공략했다는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성취감</a:t>
            </a:r>
            <a:endParaRPr sz="1900" dirty="0">
              <a:solidFill>
                <a:srgbClr val="6E9679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600"/>
              <a:buFont typeface="Arial"/>
              <a:buNone/>
            </a:pP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Cuanto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más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bloquea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profesor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más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motivación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sienten</a:t>
            </a:r>
            <a:endParaRPr sz="1600" dirty="0">
              <a:solidFill>
                <a:srgbClr val="6E9679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600"/>
              <a:buFont typeface="Arial"/>
              <a:buNone/>
            </a:pP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선생님이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막을수록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더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의욕이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생김</a:t>
            </a:r>
            <a:endParaRPr sz="1900" dirty="0">
              <a:solidFill>
                <a:srgbClr val="6E9679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No se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rinden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al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fallar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;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exploran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otra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ruta</a:t>
            </a:r>
            <a:endParaRPr sz="1600" dirty="0">
              <a:solidFill>
                <a:srgbClr val="6E9679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600"/>
              <a:buFont typeface="Arial"/>
              <a:buNone/>
            </a:pP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실패해도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포기하지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않고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다른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루트를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탐색</a:t>
            </a:r>
            <a:endParaRPr sz="1900" dirty="0">
              <a:solidFill>
                <a:srgbClr val="6E9679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600"/>
              <a:buFont typeface="Arial"/>
              <a:buNone/>
            </a:pP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Investigan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la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solución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por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su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cuenta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preguntándole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a la IA</a:t>
            </a:r>
            <a:endParaRPr sz="1600" dirty="0">
              <a:solidFill>
                <a:srgbClr val="6E9679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600"/>
              <a:buFont typeface="Arial"/>
              <a:buNone/>
            </a:pP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AI에게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물어보며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스스로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해결법을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연구</a:t>
            </a:r>
            <a:endParaRPr sz="1900" dirty="0">
              <a:solidFill>
                <a:srgbClr val="6E9679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600"/>
              <a:buFont typeface="Arial"/>
              <a:buNone/>
            </a:pP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Una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experiencia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divertida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tanto para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los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estudiantes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como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para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16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profesor</a:t>
            </a:r>
            <a:endParaRPr sz="16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600"/>
              <a:buFont typeface="Arial"/>
              <a:buNone/>
            </a:pP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학생들도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선생님도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재밌던</a:t>
            </a:r>
            <a:r>
              <a:rPr lang="en-US" sz="11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1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경험</a:t>
            </a:r>
            <a:endParaRPr sz="19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41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Observaciones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관찰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81" name="Google Shape;581;p4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/>
          </a:bodyPr>
          <a:lstStyle/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300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Sin conocer los detalles del principio, lo entienden de forma intuitiva.</a:t>
            </a:r>
            <a:endParaRPr sz="3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"/>
              <a:buNone/>
            </a:pPr>
            <a:r>
              <a:rPr lang="en-US" sz="165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원리는 자세하게 몰라도, 직관적으로 이해하고 있다.</a:t>
            </a:r>
            <a:endParaRPr sz="3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82" name="Google Shape;582;p41"/>
          <p:cNvSpPr/>
          <p:nvPr/>
        </p:nvSpPr>
        <p:spPr>
          <a:xfrm>
            <a:off x="640080" y="2057400"/>
            <a:ext cx="3393338" cy="3977640"/>
          </a:xfrm>
          <a:prstGeom prst="roundRect">
            <a:avLst>
              <a:gd name="adj" fmla="val 2156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41"/>
          <p:cNvSpPr/>
          <p:nvPr/>
        </p:nvSpPr>
        <p:spPr>
          <a:xfrm>
            <a:off x="914400" y="2331720"/>
            <a:ext cx="548640" cy="54864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4" name="Google Shape;584;p4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85723" y="2403043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1"/>
          <p:cNvSpPr/>
          <p:nvPr/>
        </p:nvSpPr>
        <p:spPr>
          <a:xfrm>
            <a:off x="914400" y="3017520"/>
            <a:ext cx="284469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¿Cómo reservaste burlando el STOP?</a:t>
            </a:r>
            <a:endParaRPr sz="125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250"/>
              <a:buFont typeface="Arial"/>
              <a:buNone/>
            </a:pPr>
            <a:r>
              <a:rPr lang="en-US" sz="9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STOP을 뚫고 어떻게 예매했냐?</a:t>
            </a:r>
            <a:endParaRPr sz="125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cxnSp>
        <p:nvCxnSpPr>
          <p:cNvPr id="586" name="Google Shape;586;p41"/>
          <p:cNvCxnSpPr/>
          <p:nvPr/>
        </p:nvCxnSpPr>
        <p:spPr>
          <a:xfrm>
            <a:off x="914400" y="3886200"/>
            <a:ext cx="2844698" cy="0"/>
          </a:xfrm>
          <a:prstGeom prst="straightConnector1">
            <a:avLst/>
          </a:prstGeom>
          <a:noFill/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87" name="Google Shape;587;p41"/>
          <p:cNvSpPr/>
          <p:nvPr/>
        </p:nvSpPr>
        <p:spPr>
          <a:xfrm>
            <a:off x="914400" y="3995928"/>
            <a:ext cx="28446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Estudiante</a:t>
            </a:r>
            <a:endParaRPr sz="1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000"/>
              <a:buFont typeface="Arial"/>
              <a:buNone/>
            </a:pPr>
            <a:r>
              <a:rPr lang="en-US" sz="9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학생</a:t>
            </a:r>
            <a:endParaRPr sz="1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88" name="Google Shape;588;p41"/>
          <p:cNvSpPr/>
          <p:nvPr/>
        </p:nvSpPr>
        <p:spPr>
          <a:xfrm>
            <a:off x="914400" y="4270248"/>
            <a:ext cx="284469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Dicen que basta con acceder directo a la base de datos desde el sitio de reservas.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예매사이트에서 직접 데이터베이스에 접근한다고 하면 되던데요?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89" name="Google Shape;589;p41"/>
          <p:cNvSpPr/>
          <p:nvPr/>
        </p:nvSpPr>
        <p:spPr>
          <a:xfrm>
            <a:off x="914400" y="5303520"/>
            <a:ext cx="284469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No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conoce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principio de las solicitudes API,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pero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solicita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directo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a la base de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datos</a:t>
            </a:r>
            <a:endParaRPr sz="1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1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API </a:t>
            </a:r>
            <a:r>
              <a:rPr lang="en-US" sz="1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요청의</a:t>
            </a:r>
            <a:r>
              <a:rPr lang="en-US" sz="1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원리는</a:t>
            </a:r>
            <a:r>
              <a:rPr lang="en-US" sz="1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몰라도</a:t>
            </a:r>
            <a:r>
              <a:rPr lang="en-US" sz="1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디비에</a:t>
            </a:r>
            <a:r>
              <a:rPr lang="en-US" sz="1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직접</a:t>
            </a:r>
            <a:r>
              <a:rPr lang="en-US" sz="1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요청</a:t>
            </a:r>
            <a:endParaRPr sz="13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90" name="Google Shape;590;p41"/>
          <p:cNvSpPr/>
          <p:nvPr/>
        </p:nvSpPr>
        <p:spPr>
          <a:xfrm>
            <a:off x="4399178" y="2057400"/>
            <a:ext cx="3393338" cy="3977640"/>
          </a:xfrm>
          <a:prstGeom prst="roundRect">
            <a:avLst>
              <a:gd name="adj" fmla="val 2156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1" name="Google Shape;591;p41"/>
          <p:cNvSpPr/>
          <p:nvPr/>
        </p:nvSpPr>
        <p:spPr>
          <a:xfrm>
            <a:off x="4673498" y="2331720"/>
            <a:ext cx="548640" cy="54864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92" name="Google Shape;592;p4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744822" y="2403043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593" name="Google Shape;593;p41"/>
          <p:cNvSpPr/>
          <p:nvPr/>
        </p:nvSpPr>
        <p:spPr>
          <a:xfrm>
            <a:off x="4673498" y="3017520"/>
            <a:ext cx="284469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¿Cómo reservaste mil de golpe?</a:t>
            </a:r>
            <a:endParaRPr sz="125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250"/>
              <a:buFont typeface="Arial"/>
              <a:buNone/>
            </a:pPr>
            <a:r>
              <a:rPr lang="en-US" sz="9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어떻게 천 개씩 한꺼번에 예매했냐?</a:t>
            </a:r>
            <a:endParaRPr sz="125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cxnSp>
        <p:nvCxnSpPr>
          <p:cNvPr id="594" name="Google Shape;594;p41"/>
          <p:cNvCxnSpPr/>
          <p:nvPr/>
        </p:nvCxnSpPr>
        <p:spPr>
          <a:xfrm>
            <a:off x="4673498" y="3886200"/>
            <a:ext cx="2844698" cy="0"/>
          </a:xfrm>
          <a:prstGeom prst="straightConnector1">
            <a:avLst/>
          </a:prstGeom>
          <a:noFill/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595" name="Google Shape;595;p41"/>
          <p:cNvSpPr/>
          <p:nvPr/>
        </p:nvSpPr>
        <p:spPr>
          <a:xfrm>
            <a:off x="4673498" y="3995928"/>
            <a:ext cx="28446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Estudiante</a:t>
            </a:r>
            <a:endParaRPr sz="1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000"/>
              <a:buFont typeface="Arial"/>
              <a:buNone/>
            </a:pPr>
            <a:r>
              <a:rPr lang="en-US" sz="9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학생</a:t>
            </a:r>
            <a:endParaRPr sz="1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96" name="Google Shape;596;p41"/>
          <p:cNvSpPr/>
          <p:nvPr/>
        </p:nvSpPr>
        <p:spPr>
          <a:xfrm>
            <a:off x="4673498" y="4270248"/>
            <a:ext cx="284469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No lo sé muy bien, pero dicen que con “threading” es más rápido.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이거 잘 모르는데요, 쓰레딩? 그거 쓰면 빠르다고 하더라고요.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97" name="Google Shape;597;p41"/>
          <p:cNvSpPr/>
          <p:nvPr/>
        </p:nvSpPr>
        <p:spPr>
          <a:xfrm>
            <a:off x="4673498" y="5303520"/>
            <a:ext cx="284469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fontScale="92500"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No sabe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qué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es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threading,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pero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entiende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que se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envía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todo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al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mismo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tiempo</a:t>
            </a:r>
            <a:endParaRPr sz="1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1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쓰레딩</a:t>
            </a:r>
            <a:r>
              <a:rPr lang="en-US" sz="1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뭔진</a:t>
            </a:r>
            <a:r>
              <a:rPr lang="en-US" sz="1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모르지만</a:t>
            </a:r>
            <a:r>
              <a:rPr lang="en-US" sz="1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1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동시에</a:t>
            </a:r>
            <a:r>
              <a:rPr lang="en-US" sz="1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요청하는</a:t>
            </a:r>
            <a:r>
              <a:rPr lang="en-US" sz="10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건 </a:t>
            </a:r>
            <a:r>
              <a:rPr lang="en-US" sz="10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이해</a:t>
            </a:r>
            <a:endParaRPr sz="13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598" name="Google Shape;598;p41"/>
          <p:cNvSpPr/>
          <p:nvPr/>
        </p:nvSpPr>
        <p:spPr>
          <a:xfrm>
            <a:off x="8158277" y="2057400"/>
            <a:ext cx="3393338" cy="3977640"/>
          </a:xfrm>
          <a:prstGeom prst="roundRect">
            <a:avLst>
              <a:gd name="adj" fmla="val 2156"/>
            </a:avLst>
          </a:prstGeom>
          <a:solidFill>
            <a:srgbClr val="0E1A0F"/>
          </a:solidFill>
          <a:ln w="9525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  <a:effectLst>
            <a:outerShdw blurRad="101600" dist="38100" dir="5400000" algn="bl" rotWithShape="0">
              <a:srgbClr val="000000">
                <a:alpha val="50196"/>
              </a:srgbClr>
            </a:outerShdw>
          </a:effectLst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41"/>
          <p:cNvSpPr/>
          <p:nvPr/>
        </p:nvSpPr>
        <p:spPr>
          <a:xfrm>
            <a:off x="8432597" y="2331720"/>
            <a:ext cx="548640" cy="548640"/>
          </a:xfrm>
          <a:prstGeom prst="ellipse">
            <a:avLst/>
          </a:prstGeom>
          <a:solidFill>
            <a:srgbClr val="0E4419"/>
          </a:solidFill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0" name="Google Shape;600;p41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503920" y="2403043"/>
            <a:ext cx="405994" cy="405994"/>
          </a:xfrm>
          <a:prstGeom prst="rect">
            <a:avLst/>
          </a:prstGeom>
          <a:noFill/>
          <a:ln>
            <a:noFill/>
          </a:ln>
        </p:spPr>
      </p:pic>
      <p:sp>
        <p:nvSpPr>
          <p:cNvPr id="601" name="Google Shape;601;p41"/>
          <p:cNvSpPr/>
          <p:nvPr/>
        </p:nvSpPr>
        <p:spPr>
          <a:xfrm>
            <a:off x="8432597" y="3017520"/>
            <a:ext cx="2844698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250"/>
              <a:buFont typeface="Arial"/>
              <a:buNone/>
            </a:pPr>
            <a:r>
              <a:rPr lang="en-US" sz="125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¿Cómo fuiste más rápido que él?</a:t>
            </a:r>
            <a:endParaRPr sz="125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E9F7EC"/>
              </a:buClr>
              <a:buSzPts val="1250"/>
              <a:buFont typeface="Arial"/>
              <a:buNone/>
            </a:pPr>
            <a:r>
              <a:rPr lang="en-US" sz="900">
                <a:solidFill>
                  <a:srgbClr val="E9F7EC"/>
                </a:solidFill>
                <a:latin typeface="Jua"/>
                <a:ea typeface="Jua"/>
                <a:cs typeface="Jua"/>
                <a:sym typeface="Jua"/>
              </a:rPr>
              <a:t>쟤보다 어떻게 더 빠르게 했냐?</a:t>
            </a:r>
            <a:endParaRPr sz="125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cxnSp>
        <p:nvCxnSpPr>
          <p:cNvPr id="602" name="Google Shape;602;p41"/>
          <p:cNvCxnSpPr/>
          <p:nvPr/>
        </p:nvCxnSpPr>
        <p:spPr>
          <a:xfrm>
            <a:off x="8432597" y="3886200"/>
            <a:ext cx="2844698" cy="0"/>
          </a:xfrm>
          <a:prstGeom prst="straightConnector1">
            <a:avLst/>
          </a:prstGeom>
          <a:noFill/>
          <a:ln w="12700" cap="flat" cmpd="sng">
            <a:solidFill>
              <a:srgbClr val="17431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03" name="Google Shape;603;p41"/>
          <p:cNvSpPr/>
          <p:nvPr/>
        </p:nvSpPr>
        <p:spPr>
          <a:xfrm>
            <a:off x="8432597" y="3995928"/>
            <a:ext cx="2844698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000"/>
              <a:buFont typeface="Arial"/>
              <a:buNone/>
            </a:pPr>
            <a:r>
              <a:rPr lang="en-US" sz="10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Estudiante</a:t>
            </a:r>
            <a:endParaRPr sz="1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000"/>
              <a:buFont typeface="Arial"/>
              <a:buNone/>
            </a:pPr>
            <a:r>
              <a:rPr lang="en-US" sz="9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학생</a:t>
            </a:r>
            <a:endParaRPr sz="10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04" name="Google Shape;604;p41"/>
          <p:cNvSpPr/>
          <p:nvPr/>
        </p:nvSpPr>
        <p:spPr>
          <a:xfrm>
            <a:off x="8432597" y="4270248"/>
            <a:ext cx="2844698" cy="9601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12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Es más rápido hacerlo aquí mismo con JS que abrir una ventana con Python.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17C93B"/>
              </a:buClr>
              <a:buSzPts val="1200"/>
              <a:buFont typeface="Arial"/>
              <a:buNone/>
            </a:pPr>
            <a:r>
              <a:rPr lang="en-US" sz="900">
                <a:solidFill>
                  <a:srgbClr val="17C93B"/>
                </a:solidFill>
                <a:latin typeface="Jua"/>
                <a:ea typeface="Jua"/>
                <a:cs typeface="Jua"/>
                <a:sym typeface="Jua"/>
              </a:rPr>
              <a:t>파이썬으로 창 여는 것보다, 바로 여기서  JS로 하는 게 더 빨라요.</a:t>
            </a:r>
            <a:endParaRPr sz="120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05" name="Google Shape;605;p41"/>
          <p:cNvSpPr/>
          <p:nvPr/>
        </p:nvSpPr>
        <p:spPr>
          <a:xfrm>
            <a:off x="8432597" y="5303520"/>
            <a:ext cx="2844698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rmAutofit/>
          </a:bodyPr>
          <a:lstStyle/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Entiende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de forma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intuitiva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la </a:t>
            </a:r>
            <a:r>
              <a:rPr lang="en-US" sz="12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importancia</a:t>
            </a:r>
            <a:r>
              <a:rPr lang="en-US" sz="12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del cold start</a:t>
            </a:r>
            <a:endParaRPr sz="1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6E9679"/>
              </a:buClr>
              <a:buSzPts val="1200"/>
              <a:buFont typeface="Arial"/>
              <a:buNone/>
            </a:pP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콜드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스타트의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중요성을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직관적으로</a:t>
            </a:r>
            <a:r>
              <a:rPr lang="en-US" sz="900" dirty="0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900" dirty="0" err="1">
                <a:solidFill>
                  <a:srgbClr val="6E9679"/>
                </a:solidFill>
                <a:latin typeface="Jua"/>
                <a:ea typeface="Jua"/>
                <a:cs typeface="Jua"/>
                <a:sym typeface="Jua"/>
              </a:rPr>
              <a:t>이해</a:t>
            </a:r>
            <a:endParaRPr sz="1200" dirty="0">
              <a:solidFill>
                <a:schemeClr val="dk1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p42"/>
          <p:cNvSpPr/>
          <p:nvPr/>
        </p:nvSpPr>
        <p:spPr>
          <a:xfrm>
            <a:off x="367348" y="1371601"/>
            <a:ext cx="11430000" cy="2057400"/>
          </a:xfrm>
          <a:prstGeom prst="rect">
            <a:avLst/>
          </a:prstGeom>
          <a:solidFill>
            <a:srgbClr val="0E1A0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11" name="Google Shape;611;p42"/>
          <p:cNvSpPr txBox="1"/>
          <p:nvPr/>
        </p:nvSpPr>
        <p:spPr>
          <a:xfrm>
            <a:off x="458788" y="1567543"/>
            <a:ext cx="10972800" cy="8060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▸ 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Incluso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estudiantes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sin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conocimientos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programación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analizan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la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estructura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del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sistema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preguntándole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a la IA</a:t>
            </a:r>
            <a:endParaRPr sz="16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▸ 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코딩이나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전문적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지식이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부족한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학생도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AI에게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질문하며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시스템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구조를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분석</a:t>
            </a:r>
            <a:endParaRPr sz="16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12" name="Google Shape;612;p42"/>
          <p:cNvSpPr txBox="1"/>
          <p:nvPr/>
        </p:nvSpPr>
        <p:spPr>
          <a:xfrm>
            <a:off x="458788" y="2090845"/>
            <a:ext cx="10972800" cy="8060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▸  Le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preguntan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a la IA “¿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cómo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puedo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hacerlo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más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rápido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?” e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investigan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varios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métodos</a:t>
            </a:r>
            <a:endParaRPr sz="18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▸ 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어떻게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하면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더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빠르게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할 수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있어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?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라고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AI에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질문하며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다양한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방법</a:t>
            </a:r>
            <a:r>
              <a:rPr lang="en-US" sz="1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조사</a:t>
            </a:r>
            <a:endParaRPr sz="18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13" name="Google Shape;613;p42"/>
          <p:cNvSpPr txBox="1"/>
          <p:nvPr/>
        </p:nvSpPr>
        <p:spPr>
          <a:xfrm>
            <a:off x="458788" y="2742209"/>
            <a:ext cx="10972800" cy="6623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▸  Con la IA, </a:t>
            </a:r>
            <a:r>
              <a:rPr lang="en-US" sz="18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incluso</a:t>
            </a:r>
            <a:r>
              <a:rPr lang="en-US" sz="18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estudiantes</a:t>
            </a:r>
            <a:r>
              <a:rPr lang="en-US" sz="18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18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secundaria</a:t>
            </a:r>
            <a:r>
              <a:rPr lang="en-US" sz="18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alcanzan</a:t>
            </a:r>
            <a:r>
              <a:rPr lang="en-US" sz="18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un </a:t>
            </a:r>
            <a:r>
              <a:rPr lang="en-US" sz="18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nivel</a:t>
            </a:r>
            <a:r>
              <a:rPr lang="en-US" sz="18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avanzado</a:t>
            </a:r>
            <a:endParaRPr sz="1800" dirty="0">
              <a:solidFill>
                <a:srgbClr val="FFC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▸  </a:t>
            </a:r>
            <a:r>
              <a:rPr lang="en-US" sz="18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AI와</a:t>
            </a:r>
            <a:r>
              <a:rPr lang="en-US" sz="18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함께라면</a:t>
            </a:r>
            <a:r>
              <a:rPr lang="en-US" sz="18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중학생들도</a:t>
            </a:r>
            <a:r>
              <a:rPr lang="en-US" sz="18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높은</a:t>
            </a:r>
            <a:r>
              <a:rPr lang="en-US" sz="18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수준의</a:t>
            </a:r>
            <a:r>
              <a:rPr lang="en-US" sz="18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접근</a:t>
            </a:r>
            <a:r>
              <a:rPr lang="en-US" sz="18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가능</a:t>
            </a:r>
            <a:endParaRPr sz="1800" dirty="0">
              <a:solidFill>
                <a:srgbClr val="FFC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14" name="Google Shape;614;p42"/>
          <p:cNvSpPr/>
          <p:nvPr/>
        </p:nvSpPr>
        <p:spPr>
          <a:xfrm>
            <a:off x="367348" y="4104379"/>
            <a:ext cx="11430000" cy="1199141"/>
          </a:xfrm>
          <a:prstGeom prst="rect">
            <a:avLst/>
          </a:prstGeom>
          <a:solidFill>
            <a:srgbClr val="0E4419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42"/>
          <p:cNvSpPr txBox="1"/>
          <p:nvPr/>
        </p:nvSpPr>
        <p:spPr>
          <a:xfrm>
            <a:off x="733107" y="4213239"/>
            <a:ext cx="10701144" cy="1077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Usar IA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puede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reducir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la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brecha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competencias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digitales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y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permitirclases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mucho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más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variadas</a:t>
            </a:r>
            <a:endParaRPr sz="28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  <a:p>
            <a:pPr lvl="0" algn="ctr"/>
            <a:r>
              <a:rPr lang="en-US" altLang="ko-KR" sz="176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AI를</a:t>
            </a:r>
            <a:r>
              <a:rPr lang="en-US" altLang="ko-KR" sz="176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altLang="ko-KR" sz="176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활용하면</a:t>
            </a:r>
            <a:r>
              <a:rPr lang="en-US" altLang="ko-KR" sz="176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altLang="ko-KR" sz="176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디지털역량의</a:t>
            </a:r>
            <a:r>
              <a:rPr lang="en-US" altLang="ko-KR" sz="176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altLang="ko-KR" sz="176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격차를</a:t>
            </a:r>
            <a:r>
              <a:rPr lang="en-US" altLang="ko-KR" sz="176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altLang="ko-KR" sz="176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줄일</a:t>
            </a:r>
            <a:r>
              <a:rPr lang="en-US" altLang="ko-KR" sz="176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수 </a:t>
            </a:r>
            <a:r>
              <a:rPr lang="en-US" altLang="ko-KR" sz="176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있고</a:t>
            </a:r>
            <a:r>
              <a:rPr lang="en-US" altLang="ko-KR" sz="176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altLang="ko-KR" sz="176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훨씬</a:t>
            </a:r>
            <a:r>
              <a:rPr lang="en-US" altLang="ko-KR" sz="176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altLang="ko-KR" sz="176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다양한</a:t>
            </a:r>
            <a:r>
              <a:rPr lang="en-US" altLang="ko-KR" sz="176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76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수업이</a:t>
            </a:r>
            <a:r>
              <a:rPr lang="en-US" sz="176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76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가능하다</a:t>
            </a:r>
            <a:endParaRPr sz="32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16" name="Google Shape;616;p42"/>
          <p:cNvSpPr txBox="1"/>
          <p:nvPr/>
        </p:nvSpPr>
        <p:spPr>
          <a:xfrm>
            <a:off x="458788" y="598738"/>
            <a:ext cx="11430000" cy="769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Aprender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con IA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en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áreas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técnicas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genera un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efecto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aprendizaje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muy</a:t>
            </a:r>
            <a:r>
              <a:rPr lang="en-US" sz="2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potente</a:t>
            </a:r>
            <a:endParaRPr sz="2400" dirty="0">
              <a:solidFill>
                <a:srgbClr val="FFFFFF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기술관련</a:t>
            </a: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분야에서</a:t>
            </a: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AI와</a:t>
            </a: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함께</a:t>
            </a: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학습</a:t>
            </a: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했을</a:t>
            </a: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때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강력한</a:t>
            </a: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학습효과</a:t>
            </a:r>
            <a:r>
              <a:rPr lang="en-US" sz="16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발생</a:t>
            </a:r>
            <a:endParaRPr sz="3200" dirty="0">
              <a:solidFill>
                <a:srgbClr val="FFFFFF"/>
              </a:solidFill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6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1" name="Google Shape;621;p43"/>
          <p:cNvSpPr txBox="1"/>
          <p:nvPr/>
        </p:nvSpPr>
        <p:spPr>
          <a:xfrm>
            <a:off x="458788" y="397429"/>
            <a:ext cx="11430000" cy="164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El poder de la motivación: la sensación de “lo logré yo”</a:t>
            </a:r>
            <a:endParaRPr sz="3600">
              <a:solidFill>
                <a:srgbClr val="FFFFFF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동기의 힘 – 내가 해냈다는 성취감</a:t>
            </a:r>
            <a:endParaRPr sz="3600">
              <a:solidFill>
                <a:srgbClr val="FFFFFF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22" name="Google Shape;622;p43"/>
          <p:cNvSpPr txBox="1"/>
          <p:nvPr/>
        </p:nvSpPr>
        <p:spPr>
          <a:xfrm>
            <a:off x="458788" y="1463039"/>
            <a:ext cx="11247120" cy="1166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▸  Los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estudiantes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muestran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mucha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más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concentración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y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creatividad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de lo habitual</a:t>
            </a:r>
            <a:endParaRPr sz="22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▸ 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학생들이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평소보다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훨씬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높은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집중력과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창의력을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발휘</a:t>
            </a:r>
            <a:endParaRPr sz="15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23" name="Google Shape;623;p43"/>
          <p:cNvSpPr txBox="1"/>
          <p:nvPr/>
        </p:nvSpPr>
        <p:spPr>
          <a:xfrm>
            <a:off x="458787" y="2089576"/>
            <a:ext cx="11247120" cy="1166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▸ 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Aunque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fallan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, no se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rinden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y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buscan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otros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métodos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por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su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cuenta</a:t>
            </a:r>
            <a:endParaRPr sz="22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▸ 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실패해도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포기하지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않고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다른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방법을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스스로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탐색</a:t>
            </a:r>
            <a:endParaRPr sz="15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24" name="Google Shape;624;p43"/>
          <p:cNvSpPr txBox="1"/>
          <p:nvPr/>
        </p:nvSpPr>
        <p:spPr>
          <a:xfrm>
            <a:off x="458787" y="2716295"/>
            <a:ext cx="11247120" cy="7732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▸  El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orgullo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de “lo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logré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yo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” se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convierte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en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una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motivación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aprendizaje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muy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fuerte</a:t>
            </a:r>
            <a:endParaRPr sz="2200" dirty="0">
              <a:solidFill>
                <a:srgbClr val="FFC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▸  </a:t>
            </a:r>
            <a:r>
              <a:rPr 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내가</a:t>
            </a:r>
            <a:r>
              <a:rPr 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해냈다는</a:t>
            </a:r>
            <a:r>
              <a:rPr 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뿌듯함</a:t>
            </a:r>
            <a:r>
              <a:rPr 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→ </a:t>
            </a:r>
            <a:r>
              <a:rPr 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강력한</a:t>
            </a:r>
            <a:r>
              <a:rPr 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학습</a:t>
            </a:r>
            <a:r>
              <a:rPr 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동기로</a:t>
            </a:r>
            <a:r>
              <a:rPr 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연결</a:t>
            </a:r>
            <a:endParaRPr sz="1500" dirty="0">
              <a:solidFill>
                <a:srgbClr val="FFC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25" name="Google Shape;625;p43"/>
          <p:cNvSpPr txBox="1"/>
          <p:nvPr/>
        </p:nvSpPr>
        <p:spPr>
          <a:xfrm>
            <a:off x="391886" y="3882183"/>
            <a:ext cx="11314021" cy="185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"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Aunque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se use IA,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hace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falta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diseñar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un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proceso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enseñanza</a:t>
            </a:r>
            <a:endParaRPr sz="28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donde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los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estudiantes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exploren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libremente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y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sientan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logro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en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8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camino</a:t>
            </a:r>
            <a:r>
              <a:rPr lang="en-US" sz="28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"</a:t>
            </a:r>
            <a:endParaRPr sz="1800" dirty="0">
              <a:latin typeface="Jua"/>
              <a:ea typeface="Jua"/>
              <a:cs typeface="Jua"/>
              <a:sym typeface="Jua"/>
            </a:endParaRPr>
          </a:p>
          <a:p>
            <a:pPr algn="ctr"/>
            <a:r>
              <a:rPr lang="en-US" altLang="ko-KR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"AI</a:t>
            </a:r>
            <a:r>
              <a:rPr lang="ko-KR" alt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를 활용하더라도 학생들이 자유롭게 탐구할 수 있고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그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과정에서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성취감을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느낄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수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있는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교수학습과정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설계가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필요하다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"</a:t>
            </a:r>
            <a:endParaRPr sz="1500" dirty="0">
              <a:latin typeface="Jua"/>
              <a:ea typeface="Jua"/>
              <a:cs typeface="Jua"/>
              <a:sym typeface="Ju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44"/>
          <p:cNvSpPr txBox="1"/>
          <p:nvPr/>
        </p:nvSpPr>
        <p:spPr>
          <a:xfrm>
            <a:off x="458668" y="515598"/>
            <a:ext cx="11430000" cy="615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77500" lnSpcReduction="2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La era de la IA: </a:t>
            </a:r>
            <a:r>
              <a:rPr lang="en-US" sz="3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3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3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rol</a:t>
            </a:r>
            <a:r>
              <a:rPr lang="en-US" sz="340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del </a:t>
            </a:r>
            <a:r>
              <a:rPr lang="en-US" sz="340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docente</a:t>
            </a:r>
            <a:endParaRPr sz="3400" dirty="0">
              <a:solidFill>
                <a:srgbClr val="FFFFFF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7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AI </a:t>
            </a:r>
            <a:r>
              <a:rPr lang="en-US" sz="187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시대</a:t>
            </a:r>
            <a:r>
              <a:rPr lang="en-US" sz="187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187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교사의</a:t>
            </a:r>
            <a:r>
              <a:rPr lang="en-US" sz="1870" dirty="0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870" dirty="0" err="1">
                <a:solidFill>
                  <a:srgbClr val="FFFFFF"/>
                </a:solidFill>
                <a:latin typeface="Jua"/>
                <a:ea typeface="Jua"/>
                <a:cs typeface="Jua"/>
                <a:sym typeface="Jua"/>
              </a:rPr>
              <a:t>역할</a:t>
            </a:r>
            <a:endParaRPr sz="3400" dirty="0">
              <a:solidFill>
                <a:srgbClr val="FFFFFF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31" name="Google Shape;631;p44"/>
          <p:cNvSpPr txBox="1"/>
          <p:nvPr/>
        </p:nvSpPr>
        <p:spPr>
          <a:xfrm>
            <a:off x="458788" y="1463041"/>
            <a:ext cx="11247120" cy="692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▸  Con IA,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los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estudiantes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logran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resultados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más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allá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de lo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esperado</a:t>
            </a:r>
            <a:endParaRPr lang="en-US" sz="22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   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AI를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활용하면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학생들이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생각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이상의</a:t>
            </a:r>
            <a:r>
              <a:rPr lang="en-US" sz="16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6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성과</a:t>
            </a:r>
            <a:endParaRPr sz="16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32" name="Google Shape;632;p44"/>
          <p:cNvSpPr txBox="1"/>
          <p:nvPr/>
        </p:nvSpPr>
        <p:spPr>
          <a:xfrm>
            <a:off x="458668" y="2235105"/>
            <a:ext cx="11247120" cy="821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▸  La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motivación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pesa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más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que la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diferencia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de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conocimientos</a:t>
            </a: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previos</a:t>
            </a:r>
            <a:endParaRPr lang="en-US" sz="22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   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배경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지식의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차이보다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동기부여가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더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강력함</a:t>
            </a:r>
            <a:endParaRPr sz="15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33" name="Google Shape;633;p44"/>
          <p:cNvSpPr txBox="1"/>
          <p:nvPr/>
        </p:nvSpPr>
        <p:spPr>
          <a:xfrm>
            <a:off x="458668" y="3136492"/>
            <a:ext cx="11247120" cy="8216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▸  </a:t>
            </a:r>
            <a:r>
              <a:rPr lang="en-US" sz="19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Se </a:t>
            </a:r>
            <a:r>
              <a:rPr lang="en-US" sz="19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necesita</a:t>
            </a:r>
            <a:r>
              <a:rPr lang="en-US" sz="19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un “campo de </a:t>
            </a:r>
            <a:r>
              <a:rPr lang="en-US" sz="19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juego</a:t>
            </a:r>
            <a:r>
              <a:rPr lang="en-US" sz="19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” </a:t>
            </a:r>
            <a:r>
              <a:rPr lang="en-US" sz="19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donde</a:t>
            </a:r>
            <a:r>
              <a:rPr lang="en-US" sz="19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9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19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9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estudiante</a:t>
            </a:r>
            <a:r>
              <a:rPr lang="en-US" sz="19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9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encuentre</a:t>
            </a:r>
            <a:r>
              <a:rPr lang="en-US" sz="19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y </a:t>
            </a:r>
            <a:r>
              <a:rPr lang="en-US" sz="19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resuelva</a:t>
            </a:r>
            <a:r>
              <a:rPr lang="en-US" sz="19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9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problemas</a:t>
            </a:r>
            <a:r>
              <a:rPr lang="en-US" sz="19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9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por</a:t>
            </a:r>
            <a:r>
              <a:rPr lang="en-US" sz="19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9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sí</a:t>
            </a:r>
            <a:r>
              <a:rPr lang="en-US" sz="19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9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mismo</a:t>
            </a:r>
            <a:endParaRPr lang="en-US" sz="19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    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학생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스스로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문제를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찾고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해결하게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만들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수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있는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운동장</a:t>
            </a:r>
            <a:r>
              <a:rPr lang="en-US" sz="1500" dirty="0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00FF41"/>
                </a:solidFill>
                <a:latin typeface="Jua"/>
                <a:ea typeface="Jua"/>
                <a:cs typeface="Jua"/>
                <a:sym typeface="Jua"/>
              </a:rPr>
              <a:t>필요</a:t>
            </a:r>
            <a:endParaRPr sz="1500" dirty="0">
              <a:solidFill>
                <a:srgbClr val="00FF41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34" name="Google Shape;634;p44"/>
          <p:cNvSpPr txBox="1"/>
          <p:nvPr/>
        </p:nvSpPr>
        <p:spPr>
          <a:xfrm>
            <a:off x="458788" y="4261176"/>
            <a:ext cx="11247000" cy="19048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▸  En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esta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era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en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la que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todos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usan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IA y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hacen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vibe coding,</a:t>
            </a:r>
            <a:endParaRPr sz="2200" dirty="0">
              <a:solidFill>
                <a:srgbClr val="FFC000"/>
              </a:solidFill>
              <a:latin typeface="Jua"/>
              <a:ea typeface="Jua"/>
              <a:cs typeface="Jua"/>
              <a:sym typeface="Ju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  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rol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del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docente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no es solo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transmitir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conocimiento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sino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diseñar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la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enseñanza</a:t>
            </a:r>
            <a:endParaRPr sz="2200" dirty="0">
              <a:solidFill>
                <a:srgbClr val="FFC000"/>
              </a:solidFill>
              <a:latin typeface="Jua"/>
              <a:ea typeface="Jua"/>
              <a:cs typeface="Jua"/>
              <a:sym typeface="Jua"/>
            </a:endParaRPr>
          </a:p>
          <a:p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   y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el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“campo de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juego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”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donde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exploren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apliquen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y se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atrevan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libremente</a:t>
            </a:r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con la </a:t>
            </a:r>
          </a:p>
          <a:p>
            <a:r>
              <a:rPr lang="en-US" sz="22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   </a:t>
            </a:r>
            <a:r>
              <a:rPr lang="en-US" sz="22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tecnología</a:t>
            </a:r>
            <a:endParaRPr sz="2200" dirty="0">
              <a:solidFill>
                <a:srgbClr val="FFC000"/>
              </a:solidFill>
              <a:latin typeface="Jua"/>
              <a:ea typeface="Jua"/>
              <a:cs typeface="Jua"/>
              <a:sym typeface="Jua"/>
            </a:endParaRPr>
          </a:p>
          <a:p>
            <a:r>
              <a:rPr lang="en-US" sz="121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 </a:t>
            </a:r>
            <a:r>
              <a:rPr lang="en-US" altLang="ko-KR" sz="121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ko-KR" altLang="en-US" sz="121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  </a:t>
            </a:r>
            <a:endParaRPr lang="en-US" altLang="ko-KR" sz="1210" dirty="0">
              <a:solidFill>
                <a:srgbClr val="FFC000"/>
              </a:solidFill>
              <a:latin typeface="Jua"/>
              <a:ea typeface="Jua"/>
              <a:cs typeface="Jua"/>
              <a:sym typeface="Jua"/>
            </a:endParaRPr>
          </a:p>
          <a:p>
            <a:r>
              <a:rPr lang="ko-KR" alt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     모두가 </a:t>
            </a:r>
            <a:r>
              <a:rPr lang="en-US" altLang="ko-KR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AI</a:t>
            </a:r>
            <a:r>
              <a:rPr lang="ko-KR" alt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를 활용하고 </a:t>
            </a:r>
            <a:r>
              <a:rPr lang="ko-KR" alt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바이브코딩을</a:t>
            </a:r>
            <a:r>
              <a:rPr lang="ko-KR" alt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하는 지금 시대에서 </a:t>
            </a:r>
            <a:r>
              <a:rPr lang="en-US" altLang="ko-KR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교사의</a:t>
            </a:r>
            <a:r>
              <a:rPr lang="en-US" altLang="ko-KR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altLang="ko-KR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역할은</a:t>
            </a:r>
            <a:r>
              <a:rPr lang="en-US" altLang="ko-KR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altLang="ko-KR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지식</a:t>
            </a:r>
            <a:r>
              <a:rPr lang="en-US" altLang="ko-KR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altLang="ko-KR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전달</a:t>
            </a:r>
            <a:r>
              <a:rPr lang="en-US" altLang="ko-KR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altLang="ko-KR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뿐만</a:t>
            </a:r>
            <a:r>
              <a:rPr lang="en-US" altLang="ko-KR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altLang="ko-KR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아니라</a:t>
            </a:r>
            <a:endParaRPr lang="en-US" altLang="ko-KR" sz="1500" dirty="0">
              <a:solidFill>
                <a:srgbClr val="FFC000"/>
              </a:solidFill>
              <a:latin typeface="Jua"/>
              <a:ea typeface="Jua"/>
              <a:cs typeface="Jua"/>
              <a:sym typeface="Jua"/>
            </a:endParaRPr>
          </a:p>
          <a:p>
            <a:r>
              <a:rPr lang="en-US" altLang="ko-KR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     </a:t>
            </a:r>
            <a:r>
              <a:rPr lang="en-US" altLang="ko-KR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학생들이</a:t>
            </a:r>
            <a:r>
              <a:rPr lang="en-US" altLang="ko-KR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altLang="ko-KR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자유롭게</a:t>
            </a:r>
            <a:r>
              <a:rPr lang="en-US" altLang="ko-KR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altLang="ko-KR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기술을</a:t>
            </a:r>
            <a:r>
              <a:rPr lang="en-US" altLang="ko-KR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altLang="ko-KR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탐구하고</a:t>
            </a:r>
            <a:r>
              <a:rPr lang="en-US" altLang="ko-KR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적용하며</a:t>
            </a:r>
            <a:r>
              <a:rPr 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도전할</a:t>
            </a:r>
            <a:r>
              <a:rPr 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수 </a:t>
            </a:r>
            <a:r>
              <a:rPr 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있는</a:t>
            </a:r>
            <a:r>
              <a:rPr 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교수학습설계</a:t>
            </a:r>
            <a:r>
              <a:rPr 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, </a:t>
            </a:r>
            <a:r>
              <a:rPr 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운동장을</a:t>
            </a:r>
            <a:r>
              <a:rPr 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설계</a:t>
            </a:r>
            <a:r>
              <a:rPr 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하는</a:t>
            </a:r>
            <a:r>
              <a:rPr 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것이</a:t>
            </a:r>
            <a:r>
              <a:rPr lang="en-US" sz="1500" dirty="0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 </a:t>
            </a:r>
            <a:r>
              <a:rPr lang="en-US" sz="1500" dirty="0" err="1">
                <a:solidFill>
                  <a:srgbClr val="FFC000"/>
                </a:solidFill>
                <a:latin typeface="Jua"/>
                <a:ea typeface="Jua"/>
                <a:cs typeface="Jua"/>
                <a:sym typeface="Jua"/>
              </a:rPr>
              <a:t>중요</a:t>
            </a:r>
            <a:endParaRPr sz="1500" dirty="0">
              <a:solidFill>
                <a:srgbClr val="FFC000"/>
              </a:solidFill>
              <a:latin typeface="Jua"/>
              <a:ea typeface="Jua"/>
              <a:cs typeface="Jua"/>
              <a:sym typeface="Jua"/>
            </a:endParaRPr>
          </a:p>
        </p:txBody>
      </p:sp>
      <p:sp>
        <p:nvSpPr>
          <p:cNvPr id="635" name="Google Shape;635;p44"/>
          <p:cNvSpPr/>
          <p:nvPr/>
        </p:nvSpPr>
        <p:spPr>
          <a:xfrm>
            <a:off x="458788" y="6166053"/>
            <a:ext cx="11247120" cy="36576"/>
          </a:xfrm>
          <a:prstGeom prst="rect">
            <a:avLst/>
          </a:prstGeom>
          <a:solidFill>
            <a:srgbClr val="17431F"/>
          </a:solidFill>
          <a:ln>
            <a:noFill/>
          </a:ln>
          <a:effectLst>
            <a:outerShdw blurRad="40000" dist="23000" dir="5400000" rotWithShape="0">
              <a:srgbClr val="000000">
                <a:alpha val="3490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 fontScale="25000" lnSpcReduction="20000"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D08"/>
        </a:solidFill>
        <a:effectLst/>
      </p:bgPr>
    </p:bg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Google Shape;645;p4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0770" y="583110"/>
            <a:ext cx="3597973" cy="2697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45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35286" y="583109"/>
            <a:ext cx="3597973" cy="2697844"/>
          </a:xfrm>
          <a:prstGeom prst="rect">
            <a:avLst/>
          </a:prstGeom>
          <a:noFill/>
          <a:ln>
            <a:noFill/>
          </a:ln>
        </p:spPr>
      </p:pic>
      <p:pic>
        <p:nvPicPr>
          <p:cNvPr id="647" name="Google Shape;647;p45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16498" y="583111"/>
            <a:ext cx="3597970" cy="2697842"/>
          </a:xfrm>
          <a:prstGeom prst="rect">
            <a:avLst/>
          </a:prstGeom>
          <a:noFill/>
          <a:ln>
            <a:noFill/>
          </a:ln>
        </p:spPr>
      </p:pic>
      <p:pic>
        <p:nvPicPr>
          <p:cNvPr id="648" name="Google Shape;648;p45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49490" y="3423982"/>
            <a:ext cx="3597969" cy="2697841"/>
          </a:xfrm>
          <a:prstGeom prst="rect">
            <a:avLst/>
          </a:prstGeom>
          <a:noFill/>
          <a:ln>
            <a:noFill/>
          </a:ln>
        </p:spPr>
      </p:pic>
      <p:pic>
        <p:nvPicPr>
          <p:cNvPr id="649" name="Google Shape;649;p45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613432" y="3429000"/>
            <a:ext cx="3591277" cy="269282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3404</Words>
  <Application>Microsoft Office PowerPoint</Application>
  <PresentationFormat>와이드스크린</PresentationFormat>
  <Paragraphs>415</Paragraphs>
  <Slides>31</Slides>
  <Notes>31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31</vt:i4>
      </vt:variant>
    </vt:vector>
  </HeadingPairs>
  <TitlesOfParts>
    <vt:vector size="37" baseType="lpstr">
      <vt:lpstr>Arial</vt:lpstr>
      <vt:lpstr>Jua</vt:lpstr>
      <vt:lpstr>Calibri</vt:lpstr>
      <vt:lpstr>Malgun Gothic</vt:lpstr>
      <vt:lpstr>Office Theme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권순홍</cp:lastModifiedBy>
  <cp:revision>77</cp:revision>
  <dcterms:modified xsi:type="dcterms:W3CDTF">2026-08-29T15:42:58Z</dcterms:modified>
</cp:coreProperties>
</file>